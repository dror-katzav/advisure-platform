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61" r:id="rId2"/>
    <p:sldId id="262" r:id="rId3"/>
    <p:sldId id="263" r:id="rId4"/>
    <p:sldId id="264" r:id="rId5"/>
    <p:sldId id="265" r:id="rId6"/>
    <p:sldId id="266" r:id="rId7"/>
    <p:sldId id="267" r:id="rId8"/>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2933"/>
    <a:srgbClr val="C7CCD1"/>
    <a:srgbClr val="046A38"/>
    <a:srgbClr val="F5F7F8"/>
    <a:srgbClr val="C9A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D9600A-FC57-436A-815D-47DE7FEBCAF7}" v="464" dt="2026-02-19T02:01:24.6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p:scale>
          <a:sx n="100" d="100"/>
          <a:sy n="100" d="100"/>
        </p:scale>
        <p:origin x="2556" y="72"/>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clustered"/>
        <c:varyColors val="0"/>
        <c:ser>
          <c:idx val="0"/>
          <c:order val="0"/>
          <c:tx>
            <c:strRef>
              <c:f>Sheet1!$B$1</c:f>
              <c:strCache>
                <c:ptCount val="1"/>
                <c:pt idx="0">
                  <c:v>PPLI Enhanced</c:v>
                </c:pt>
              </c:strCache>
            </c:strRef>
          </c:tx>
          <c:spPr>
            <a:gradFill rotWithShape="1">
              <a:gsLst>
                <a:gs pos="0">
                  <a:schemeClr val="accent3">
                    <a:shade val="76000"/>
                    <a:satMod val="103000"/>
                    <a:lumMod val="102000"/>
                    <a:tint val="94000"/>
                  </a:schemeClr>
                </a:gs>
                <a:gs pos="50000">
                  <a:schemeClr val="accent3">
                    <a:shade val="76000"/>
                    <a:satMod val="110000"/>
                    <a:lumMod val="100000"/>
                    <a:shade val="100000"/>
                  </a:schemeClr>
                </a:gs>
                <a:gs pos="100000">
                  <a:schemeClr val="accent3">
                    <a:shade val="76000"/>
                    <a:lumMod val="99000"/>
                    <a:satMod val="120000"/>
                    <a:shade val="78000"/>
                  </a:schemeClr>
                </a:gs>
              </a:gsLst>
              <a:lin ang="5400000" scaled="0"/>
            </a:gradFill>
            <a:ln>
              <a:noFill/>
            </a:ln>
            <a:effectLst/>
          </c:spPr>
          <c:invertIfNegative val="0"/>
          <c:cat>
            <c:strRef>
              <c:f>Sheet1!$A$2</c:f>
              <c:strCache>
                <c:ptCount val="1"/>
                <c:pt idx="0">
                  <c:v>Ending Value</c:v>
                </c:pt>
              </c:strCache>
            </c:strRef>
          </c:cat>
          <c:val>
            <c:numRef>
              <c:f>Sheet1!$B$2</c:f>
              <c:numCache>
                <c:formatCode>General</c:formatCode>
                <c:ptCount val="1"/>
                <c:pt idx="0">
                  <c:v>30000000</c:v>
                </c:pt>
              </c:numCache>
            </c:numRef>
          </c:val>
          <c:extLst>
            <c:ext xmlns:c16="http://schemas.microsoft.com/office/drawing/2014/chart" uri="{C3380CC4-5D6E-409C-BE32-E72D297353CC}">
              <c16:uniqueId val="{00000000-5C09-4964-9305-B81A69931441}"/>
            </c:ext>
          </c:extLst>
        </c:ser>
        <c:ser>
          <c:idx val="1"/>
          <c:order val="1"/>
          <c:tx>
            <c:strRef>
              <c:f>Sheet1!$C$1</c:f>
              <c:strCache>
                <c:ptCount val="1"/>
                <c:pt idx="0">
                  <c:v>Traditional</c:v>
                </c:pt>
              </c:strCache>
            </c:strRef>
          </c:tx>
          <c:spPr>
            <a:gradFill rotWithShape="1">
              <a:gsLst>
                <a:gs pos="0">
                  <a:schemeClr val="accent3">
                    <a:tint val="77000"/>
                    <a:satMod val="103000"/>
                    <a:lumMod val="102000"/>
                    <a:tint val="94000"/>
                  </a:schemeClr>
                </a:gs>
                <a:gs pos="50000">
                  <a:schemeClr val="accent3">
                    <a:tint val="77000"/>
                    <a:satMod val="110000"/>
                    <a:lumMod val="100000"/>
                    <a:shade val="100000"/>
                  </a:schemeClr>
                </a:gs>
                <a:gs pos="100000">
                  <a:schemeClr val="accent3">
                    <a:tint val="77000"/>
                    <a:lumMod val="99000"/>
                    <a:satMod val="120000"/>
                    <a:shade val="78000"/>
                  </a:schemeClr>
                </a:gs>
              </a:gsLst>
              <a:lin ang="5400000" scaled="0"/>
            </a:gradFill>
            <a:ln>
              <a:noFill/>
            </a:ln>
            <a:effectLst/>
          </c:spPr>
          <c:invertIfNegative val="0"/>
          <c:cat>
            <c:strRef>
              <c:f>Sheet1!$A$2</c:f>
              <c:strCache>
                <c:ptCount val="1"/>
                <c:pt idx="0">
                  <c:v>Ending Value</c:v>
                </c:pt>
              </c:strCache>
            </c:strRef>
          </c:cat>
          <c:val>
            <c:numRef>
              <c:f>Sheet1!$C$2</c:f>
              <c:numCache>
                <c:formatCode>General</c:formatCode>
                <c:ptCount val="1"/>
                <c:pt idx="0">
                  <c:v>20000000</c:v>
                </c:pt>
              </c:numCache>
            </c:numRef>
          </c:val>
          <c:extLst>
            <c:ext xmlns:c16="http://schemas.microsoft.com/office/drawing/2014/chart" uri="{C3380CC4-5D6E-409C-BE32-E72D297353CC}">
              <c16:uniqueId val="{00000001-5C09-4964-9305-B81A69931441}"/>
            </c:ext>
          </c:extLst>
        </c:ser>
        <c:dLbls>
          <c:showLegendKey val="0"/>
          <c:showVal val="0"/>
          <c:showCatName val="0"/>
          <c:showSerName val="0"/>
          <c:showPercent val="0"/>
          <c:showBubbleSize val="0"/>
        </c:dLbls>
        <c:gapWidth val="100"/>
        <c:overlap val="-24"/>
        <c:axId val="1326555552"/>
        <c:axId val="458795919"/>
      </c:barChart>
      <c:catAx>
        <c:axId val="132655555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58795919"/>
        <c:crosses val="autoZero"/>
        <c:auto val="1"/>
        <c:lblAlgn val="ctr"/>
        <c:lblOffset val="100"/>
        <c:noMultiLvlLbl val="0"/>
      </c:catAx>
      <c:valAx>
        <c:axId val="458795919"/>
        <c:scaling>
          <c:orientation val="minMax"/>
          <c:min val="10000000"/>
        </c:scaling>
        <c:delete val="0"/>
        <c:axPos val="l"/>
        <c:majorGridlines>
          <c:spPr>
            <a:ln w="9525" cap="flat" cmpd="sng" algn="ctr">
              <a:solidFill>
                <a:schemeClr val="tx2">
                  <a:lumMod val="15000"/>
                  <a:lumOff val="85000"/>
                </a:schemeClr>
              </a:solidFill>
              <a:round/>
            </a:ln>
            <a:effectLst/>
          </c:spPr>
        </c:majorGridlines>
        <c:numFmt formatCode="_(&quot;$&quot;* #,##0_);_(&quot;$&quot;* \(#,##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3265555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_rels/data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4F65C7-E9EC-4628-AE16-8C24950C5B3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E314DBB8-F5A1-4399-9471-137467AFC712}">
      <dgm:prSet phldrT="[Text]" phldr="0" custT="1"/>
      <dgm:spPr>
        <a:solidFill>
          <a:srgbClr val="F5F7F8"/>
        </a:solidFill>
        <a:ln>
          <a:solidFill>
            <a:srgbClr val="1F2933"/>
          </a:solidFill>
        </a:ln>
      </dgm:spPr>
      <dgm:t>
        <a:bodyPr/>
        <a:lstStyle/>
        <a:p>
          <a:pPr marL="0">
            <a:lnSpc>
              <a:spcPct val="90000"/>
            </a:lnSpc>
            <a:spcAft>
              <a:spcPct val="35000"/>
            </a:spcAft>
          </a:pPr>
          <a:r>
            <a:rPr lang="en-US" sz="1600" b="1" dirty="0">
              <a:solidFill>
                <a:srgbClr val="1F2933"/>
              </a:solidFill>
              <a:latin typeface="Inter" panose="02000503000000020004" pitchFamily="2" charset="0"/>
              <a:ea typeface="Inter" panose="02000503000000020004" pitchFamily="2" charset="0"/>
              <a:cs typeface="Inter" panose="02000503000000020004" pitchFamily="2" charset="0"/>
            </a:rPr>
            <a:t>Why Advisure?</a:t>
          </a:r>
        </a:p>
        <a:p>
          <a:pPr marL="0">
            <a:lnSpc>
              <a:spcPct val="90000"/>
            </a:lnSpc>
            <a:spcAft>
              <a:spcPct val="35000"/>
            </a:spcAft>
          </a:pPr>
          <a:r>
            <a:rPr lang="en-US" sz="1200" b="0" dirty="0">
              <a:solidFill>
                <a:srgbClr val="1F2933"/>
              </a:solidFill>
              <a:latin typeface="Inter" panose="02000503000000020004" pitchFamily="2" charset="0"/>
              <a:ea typeface="Inter" panose="02000503000000020004" pitchFamily="2" charset="0"/>
              <a:cs typeface="Inter" panose="02000503000000020004" pitchFamily="2" charset="0"/>
            </a:rPr>
            <a:t>One Platform. </a:t>
          </a:r>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Start to Finish</a:t>
          </a:r>
          <a:r>
            <a:rPr lang="en-US" sz="1200" b="1" dirty="0">
              <a:solidFill>
                <a:srgbClr val="1F2933"/>
              </a:solidFill>
              <a:latin typeface="Inter" panose="02000503000000020004" pitchFamily="2" charset="0"/>
              <a:ea typeface="Inter" panose="02000503000000020004" pitchFamily="2" charset="0"/>
              <a:cs typeface="Inter" panose="02000503000000020004" pitchFamily="2" charset="0"/>
            </a:rPr>
            <a:t>.</a:t>
          </a:r>
        </a:p>
        <a:p>
          <a:pPr marL="0">
            <a:lnSpc>
              <a:spcPct val="90000"/>
            </a:lnSpc>
            <a:spcAft>
              <a:spcPct val="35000"/>
            </a:spcAft>
          </a:pPr>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dgm:t>
    </dgm:pt>
    <dgm:pt modelId="{9B65A70B-1568-4529-B561-FB0B3C13AE84}" type="parTrans" cxnId="{96C35D19-E2DA-4455-BD22-F944252E03CF}">
      <dgm:prSet/>
      <dgm:spPr/>
      <dgm:t>
        <a:bodyPr/>
        <a:lstStyle/>
        <a:p>
          <a:endParaRPr lang="en-US"/>
        </a:p>
      </dgm:t>
    </dgm:pt>
    <dgm:pt modelId="{5F82F0D5-82BB-4D6C-A0E2-D8121C938BEC}" type="sibTrans" cxnId="{96C35D19-E2DA-4455-BD22-F944252E03CF}">
      <dgm:prSet/>
      <dgm:spPr/>
      <dgm:t>
        <a:bodyPr/>
        <a:lstStyle/>
        <a:p>
          <a:endParaRPr lang="en-US"/>
        </a:p>
      </dgm:t>
    </dgm:pt>
    <dgm:pt modelId="{66A6DA7F-AB07-4149-A3A6-465E7A5A984C}">
      <dgm:prSet phldrT="[Text]" phldr="0" custT="1"/>
      <dgm:spPr>
        <a:solidFill>
          <a:srgbClr val="C7CCD1"/>
        </a:solidFill>
        <a:ln>
          <a:solidFill>
            <a:srgbClr val="1F2933"/>
          </a:solidFill>
        </a:ln>
      </dgm:spPr>
      <dgm:t>
        <a:bodyPr anchor="t"/>
        <a:lstStyle/>
        <a:p>
          <a:pPr algn="l">
            <a:lnSpc>
              <a:spcPct val="90000"/>
            </a:lnSpc>
            <a:spcAft>
              <a:spcPct val="35000"/>
            </a:spcAft>
          </a:pPr>
          <a:r>
            <a:rPr lang="en-US" sz="1600" b="1" dirty="0">
              <a:solidFill>
                <a:srgbClr val="1F2933"/>
              </a:solidFill>
              <a:latin typeface="Inter" panose="02000503000000020004" pitchFamily="2" charset="0"/>
              <a:ea typeface="Inter" panose="02000503000000020004" pitchFamily="2" charset="0"/>
              <a:cs typeface="Inter" panose="02000503000000020004" pitchFamily="2" charset="0"/>
            </a:rPr>
            <a:t>Why Private Placement?</a:t>
          </a:r>
        </a:p>
        <a:p>
          <a:pPr algn="l">
            <a:lnSpc>
              <a:spcPct val="90000"/>
            </a:lnSpc>
            <a:spcAft>
              <a:spcPct val="35000"/>
            </a:spcAft>
          </a:pPr>
          <a:r>
            <a:rPr lang="en-US" sz="1200" dirty="0">
              <a:solidFill>
                <a:srgbClr val="1F2933"/>
              </a:solidFill>
              <a:latin typeface="Inter" panose="02000503000000020004" pitchFamily="2" charset="0"/>
              <a:ea typeface="Inter" panose="02000503000000020004" pitchFamily="2" charset="0"/>
              <a:cs typeface="Inter" panose="02000503000000020004" pitchFamily="2" charset="0"/>
            </a:rPr>
            <a:t>Better Structure. </a:t>
          </a:r>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Better Outcomes.</a:t>
          </a:r>
        </a:p>
        <a:p>
          <a:pPr algn="l">
            <a:lnSpc>
              <a:spcPct val="90000"/>
            </a:lnSpc>
            <a:spcAft>
              <a:spcPct val="35000"/>
            </a:spcAft>
          </a:pPr>
          <a:endParaRPr lang="en-US" sz="1200" dirty="0">
            <a:latin typeface="Inter" panose="02000503000000020004" pitchFamily="2" charset="0"/>
            <a:ea typeface="Inter" panose="02000503000000020004" pitchFamily="2" charset="0"/>
            <a:cs typeface="Inter" panose="02000503000000020004" pitchFamily="2" charset="0"/>
          </a:endParaRPr>
        </a:p>
        <a:p>
          <a:pPr algn="l">
            <a:lnSpc>
              <a:spcPct val="100000"/>
            </a:lnSpc>
            <a:spcAft>
              <a:spcPts val="0"/>
            </a:spcAft>
          </a:pPr>
          <a:r>
            <a:rPr lang="en-US" sz="1050" dirty="0">
              <a:solidFill>
                <a:srgbClr val="1F2933"/>
              </a:solidFill>
              <a:latin typeface="Inter" panose="02000503000000020004" pitchFamily="2" charset="0"/>
              <a:ea typeface="Inter" panose="02000503000000020004" pitchFamily="2" charset="0"/>
              <a:cs typeface="Inter" panose="02000503000000020004" pitchFamily="2" charset="0"/>
            </a:rPr>
            <a:t>Traditional portfolios are built for pre-tax returns. Private placement is built for after-tax efficiency.</a:t>
          </a:r>
        </a:p>
        <a:p>
          <a:pPr algn="l">
            <a:lnSpc>
              <a:spcPct val="100000"/>
            </a:lnSpc>
            <a:spcAft>
              <a:spcPts val="0"/>
            </a:spcAft>
          </a:pPr>
          <a:endParaRPr lang="en-US" sz="1050" dirty="0">
            <a:solidFill>
              <a:srgbClr val="1F2933"/>
            </a:solidFill>
            <a:latin typeface="Inter" panose="02000503000000020004" pitchFamily="2" charset="0"/>
            <a:ea typeface="Inter" panose="02000503000000020004" pitchFamily="2" charset="0"/>
            <a:cs typeface="Inter" panose="02000503000000020004" pitchFamily="2" charset="0"/>
          </a:endParaRPr>
        </a:p>
        <a:p>
          <a:pPr algn="l">
            <a:lnSpc>
              <a:spcPct val="100000"/>
            </a:lnSpc>
            <a:spcAft>
              <a:spcPts val="0"/>
            </a:spcAft>
          </a:pPr>
          <a:r>
            <a:rPr lang="en-US" sz="1050" dirty="0">
              <a:solidFill>
                <a:srgbClr val="1F2933"/>
              </a:solidFill>
              <a:latin typeface="Inter" panose="02000503000000020004" pitchFamily="2" charset="0"/>
              <a:ea typeface="Inter" panose="02000503000000020004" pitchFamily="2" charset="0"/>
              <a:cs typeface="Inter" panose="02000503000000020004" pitchFamily="2" charset="0"/>
            </a:rPr>
            <a:t>By reducing tax drag and enabling long-term compounding inside an optimized structure, private placement helps accredited investors pursue stronger, more durable outcomes.</a:t>
          </a:r>
          <a:endParaRPr lang="en-US" sz="1050" b="1" dirty="0">
            <a:solidFill>
              <a:srgbClr val="1F2933"/>
            </a:solidFill>
            <a:latin typeface="Inter" panose="02000503000000020004" pitchFamily="2" charset="0"/>
            <a:ea typeface="Inter" panose="02000503000000020004" pitchFamily="2" charset="0"/>
            <a:cs typeface="Inter" panose="02000503000000020004" pitchFamily="2" charset="0"/>
          </a:endParaRPr>
        </a:p>
      </dgm:t>
    </dgm:pt>
    <dgm:pt modelId="{D98DF51F-8CF3-469D-9DC3-C5633A0670F5}" type="sibTrans" cxnId="{5ADAECC7-2C72-4394-925C-3231EE059466}">
      <dgm:prSet/>
      <dgm:spPr/>
      <dgm:t>
        <a:bodyPr/>
        <a:lstStyle/>
        <a:p>
          <a:endParaRPr lang="en-US"/>
        </a:p>
      </dgm:t>
    </dgm:pt>
    <dgm:pt modelId="{3B47CC11-1757-4076-811F-E74A79A786CB}" type="parTrans" cxnId="{5ADAECC7-2C72-4394-925C-3231EE059466}">
      <dgm:prSet/>
      <dgm:spPr/>
      <dgm:t>
        <a:bodyPr/>
        <a:lstStyle/>
        <a:p>
          <a:endParaRPr lang="en-US"/>
        </a:p>
      </dgm:t>
    </dgm:pt>
    <dgm:pt modelId="{517CF199-167E-44F1-8F62-6A78CCC1C6D0}">
      <dgm:prSet phldrT="[Text]" custT="1"/>
      <dgm:spPr>
        <a:solidFill>
          <a:srgbClr val="F5F7F8"/>
        </a:solidFill>
        <a:ln>
          <a:solidFill>
            <a:srgbClr val="1F2933"/>
          </a:solidFill>
        </a:ln>
      </dgm:spPr>
      <dgm:t>
        <a:bodyPr/>
        <a:lstStyle/>
        <a:p>
          <a:pPr marL="0" indent="0">
            <a:lnSpc>
              <a:spcPct val="100000"/>
            </a:lnSpc>
            <a:spcAft>
              <a:spcPts val="0"/>
            </a:spcAft>
            <a:buNone/>
          </a:pPr>
          <a:r>
            <a:rPr lang="en-US" sz="1050" dirty="0">
              <a:solidFill>
                <a:srgbClr val="1F2933"/>
              </a:solidFill>
              <a:latin typeface="Inter" panose="02000503000000020004" pitchFamily="2" charset="0"/>
              <a:ea typeface="Inter" panose="02000503000000020004" pitchFamily="2" charset="0"/>
              <a:cs typeface="Inter" panose="02000503000000020004" pitchFamily="2" charset="0"/>
            </a:rPr>
            <a:t>Advisure helps RIAs deliver private placement solutions without adding operational burden.</a:t>
          </a:r>
        </a:p>
      </dgm:t>
    </dgm:pt>
    <dgm:pt modelId="{4DE401CA-24D5-4C41-93F7-B3E07B964C35}" type="parTrans" cxnId="{AB062F51-5C4A-4939-AE65-5C585DFCCBC7}">
      <dgm:prSet/>
      <dgm:spPr/>
      <dgm:t>
        <a:bodyPr/>
        <a:lstStyle/>
        <a:p>
          <a:endParaRPr lang="en-US"/>
        </a:p>
      </dgm:t>
    </dgm:pt>
    <dgm:pt modelId="{2D1AD12D-30C3-448D-BAFF-4DE6F709AFE3}" type="sibTrans" cxnId="{AB062F51-5C4A-4939-AE65-5C585DFCCBC7}">
      <dgm:prSet/>
      <dgm:spPr/>
      <dgm:t>
        <a:bodyPr/>
        <a:lstStyle/>
        <a:p>
          <a:endParaRPr lang="en-US"/>
        </a:p>
      </dgm:t>
    </dgm:pt>
    <dgm:pt modelId="{B4627143-FF84-448B-897D-CEC9B81AF1BA}">
      <dgm:prSet custT="1"/>
      <dgm:spPr>
        <a:solidFill>
          <a:srgbClr val="F5F7F8"/>
        </a:solidFill>
      </dgm:spPr>
      <dgm:t>
        <a:bodyPr/>
        <a:lstStyle/>
        <a:p>
          <a:pPr marL="0" indent="0">
            <a:lnSpc>
              <a:spcPct val="100000"/>
            </a:lnSpc>
            <a:spcAft>
              <a:spcPts val="0"/>
            </a:spcAft>
            <a:buNone/>
          </a:pPr>
          <a:r>
            <a:rPr lang="en-US" sz="1050" dirty="0">
              <a:solidFill>
                <a:srgbClr val="1F2933"/>
              </a:solidFill>
              <a:latin typeface="Inter" panose="02000503000000020004" pitchFamily="2" charset="0"/>
              <a:ea typeface="Inter" panose="02000503000000020004" pitchFamily="2" charset="0"/>
              <a:cs typeface="Inter" panose="02000503000000020004" pitchFamily="2" charset="0"/>
            </a:rPr>
            <a:t>We simplify implementation, align all stakeholders, and provide ongoing oversight — so advisors can stay focused on client relationships and outcomes.</a:t>
          </a:r>
        </a:p>
      </dgm:t>
    </dgm:pt>
    <dgm:pt modelId="{8791347E-AEFD-419D-8CC2-D096147B5FEE}" type="parTrans" cxnId="{280C6682-98EB-47D0-9A83-CD3DC2808A1D}">
      <dgm:prSet/>
      <dgm:spPr/>
      <dgm:t>
        <a:bodyPr/>
        <a:lstStyle/>
        <a:p>
          <a:endParaRPr lang="en-US"/>
        </a:p>
      </dgm:t>
    </dgm:pt>
    <dgm:pt modelId="{F6873A33-C1BF-4822-8B7C-165CC718B387}" type="sibTrans" cxnId="{280C6682-98EB-47D0-9A83-CD3DC2808A1D}">
      <dgm:prSet/>
      <dgm:spPr/>
      <dgm:t>
        <a:bodyPr/>
        <a:lstStyle/>
        <a:p>
          <a:endParaRPr lang="en-US"/>
        </a:p>
      </dgm:t>
    </dgm:pt>
    <dgm:pt modelId="{25E9464D-4936-4DBB-97F6-52368DB0447B}">
      <dgm:prSet phldrT="[Text]" custT="1"/>
      <dgm:spPr>
        <a:solidFill>
          <a:srgbClr val="F5F7F8"/>
        </a:solidFill>
        <a:ln>
          <a:solidFill>
            <a:srgbClr val="1F2933"/>
          </a:solidFill>
        </a:ln>
      </dgm:spPr>
      <dgm:t>
        <a:bodyPr/>
        <a:lstStyle/>
        <a:p>
          <a:pPr marL="0" indent="0">
            <a:lnSpc>
              <a:spcPct val="100000"/>
            </a:lnSpc>
            <a:spcAft>
              <a:spcPts val="0"/>
            </a:spcAft>
            <a:buNone/>
          </a:pPr>
          <a:endParaRPr lang="en-US" sz="1050" dirty="0">
            <a:solidFill>
              <a:srgbClr val="1F2933"/>
            </a:solidFill>
            <a:latin typeface="Inter" panose="02000503000000020004" pitchFamily="2" charset="0"/>
            <a:ea typeface="Inter" panose="02000503000000020004" pitchFamily="2" charset="0"/>
            <a:cs typeface="Inter" panose="02000503000000020004" pitchFamily="2" charset="0"/>
          </a:endParaRPr>
        </a:p>
      </dgm:t>
    </dgm:pt>
    <dgm:pt modelId="{F5C2357E-0B53-4084-A27C-888934105793}" type="parTrans" cxnId="{2E2B7EF9-4196-4EF8-9C2D-F5DE4C259C1D}">
      <dgm:prSet/>
      <dgm:spPr/>
      <dgm:t>
        <a:bodyPr/>
        <a:lstStyle/>
        <a:p>
          <a:endParaRPr lang="en-US"/>
        </a:p>
      </dgm:t>
    </dgm:pt>
    <dgm:pt modelId="{CB769390-4F94-4977-8D90-9BB4280955F1}" type="sibTrans" cxnId="{2E2B7EF9-4196-4EF8-9C2D-F5DE4C259C1D}">
      <dgm:prSet/>
      <dgm:spPr/>
      <dgm:t>
        <a:bodyPr/>
        <a:lstStyle/>
        <a:p>
          <a:endParaRPr lang="en-US"/>
        </a:p>
      </dgm:t>
    </dgm:pt>
    <dgm:pt modelId="{EFCBC820-F06D-4BB7-8F78-B1E16109FEE3}" type="pres">
      <dgm:prSet presAssocID="{C84F65C7-E9EC-4628-AE16-8C24950C5B3A}" presName="diagram" presStyleCnt="0">
        <dgm:presLayoutVars>
          <dgm:dir/>
          <dgm:resizeHandles val="exact"/>
        </dgm:presLayoutVars>
      </dgm:prSet>
      <dgm:spPr/>
    </dgm:pt>
    <dgm:pt modelId="{0B3C6A61-FFCA-4CF8-9015-453944EE08A4}" type="pres">
      <dgm:prSet presAssocID="{66A6DA7F-AB07-4149-A3A6-465E7A5A984C}" presName="node" presStyleLbl="node1" presStyleIdx="0" presStyleCnt="2" custScaleY="190001">
        <dgm:presLayoutVars>
          <dgm:bulletEnabled val="1"/>
        </dgm:presLayoutVars>
      </dgm:prSet>
      <dgm:spPr>
        <a:prstGeom prst="flowChartAlternateProcess">
          <a:avLst/>
        </a:prstGeom>
      </dgm:spPr>
    </dgm:pt>
    <dgm:pt modelId="{481F2437-78D0-41CB-9D63-675AB25B6E7D}" type="pres">
      <dgm:prSet presAssocID="{D98DF51F-8CF3-469D-9DC3-C5633A0670F5}" presName="sibTrans" presStyleCnt="0"/>
      <dgm:spPr/>
    </dgm:pt>
    <dgm:pt modelId="{9FA1F5F4-4FB7-443D-B08E-A19154D88F8E}" type="pres">
      <dgm:prSet presAssocID="{E314DBB8-F5A1-4399-9471-137467AFC712}" presName="node" presStyleLbl="node1" presStyleIdx="1" presStyleCnt="2" custScaleY="190001" custLinFactNeighborX="621">
        <dgm:presLayoutVars>
          <dgm:bulletEnabled val="1"/>
        </dgm:presLayoutVars>
      </dgm:prSet>
      <dgm:spPr>
        <a:prstGeom prst="flowChartAlternateProcess">
          <a:avLst/>
        </a:prstGeom>
      </dgm:spPr>
    </dgm:pt>
  </dgm:ptLst>
  <dgm:cxnLst>
    <dgm:cxn modelId="{96C35D19-E2DA-4455-BD22-F944252E03CF}" srcId="{C84F65C7-E9EC-4628-AE16-8C24950C5B3A}" destId="{E314DBB8-F5A1-4399-9471-137467AFC712}" srcOrd="1" destOrd="0" parTransId="{9B65A70B-1568-4529-B561-FB0B3C13AE84}" sibTransId="{5F82F0D5-82BB-4D6C-A0E2-D8121C938BEC}"/>
    <dgm:cxn modelId="{EF645031-28E1-4EFE-88AB-BB5A60D66CDC}" type="presOf" srcId="{66A6DA7F-AB07-4149-A3A6-465E7A5A984C}" destId="{0B3C6A61-FFCA-4CF8-9015-453944EE08A4}" srcOrd="0" destOrd="0" presId="urn:microsoft.com/office/officeart/2005/8/layout/default"/>
    <dgm:cxn modelId="{AB062F51-5C4A-4939-AE65-5C585DFCCBC7}" srcId="{E314DBB8-F5A1-4399-9471-137467AFC712}" destId="{517CF199-167E-44F1-8F62-6A78CCC1C6D0}" srcOrd="0" destOrd="0" parTransId="{4DE401CA-24D5-4C41-93F7-B3E07B964C35}" sibTransId="{2D1AD12D-30C3-448D-BAFF-4DE6F709AFE3}"/>
    <dgm:cxn modelId="{24479455-76EF-40BA-B3A6-50E9AD6F6B04}" type="presOf" srcId="{25E9464D-4936-4DBB-97F6-52368DB0447B}" destId="{9FA1F5F4-4FB7-443D-B08E-A19154D88F8E}" srcOrd="0" destOrd="2" presId="urn:microsoft.com/office/officeart/2005/8/layout/default"/>
    <dgm:cxn modelId="{4A24E880-61E4-4337-8CC1-3DA5E9227348}" type="presOf" srcId="{517CF199-167E-44F1-8F62-6A78CCC1C6D0}" destId="{9FA1F5F4-4FB7-443D-B08E-A19154D88F8E}" srcOrd="0" destOrd="1" presId="urn:microsoft.com/office/officeart/2005/8/layout/default"/>
    <dgm:cxn modelId="{280C6682-98EB-47D0-9A83-CD3DC2808A1D}" srcId="{E314DBB8-F5A1-4399-9471-137467AFC712}" destId="{B4627143-FF84-448B-897D-CEC9B81AF1BA}" srcOrd="2" destOrd="0" parTransId="{8791347E-AEFD-419D-8CC2-D096147B5FEE}" sibTransId="{F6873A33-C1BF-4822-8B7C-165CC718B387}"/>
    <dgm:cxn modelId="{FD4F6B99-C37C-4F91-B7BD-F732CE8F747A}" type="presOf" srcId="{C84F65C7-E9EC-4628-AE16-8C24950C5B3A}" destId="{EFCBC820-F06D-4BB7-8F78-B1E16109FEE3}" srcOrd="0" destOrd="0" presId="urn:microsoft.com/office/officeart/2005/8/layout/default"/>
    <dgm:cxn modelId="{5ADAECC7-2C72-4394-925C-3231EE059466}" srcId="{C84F65C7-E9EC-4628-AE16-8C24950C5B3A}" destId="{66A6DA7F-AB07-4149-A3A6-465E7A5A984C}" srcOrd="0" destOrd="0" parTransId="{3B47CC11-1757-4076-811F-E74A79A786CB}" sibTransId="{D98DF51F-8CF3-469D-9DC3-C5633A0670F5}"/>
    <dgm:cxn modelId="{CE503DC9-8497-4B71-B17A-B22927D077E0}" type="presOf" srcId="{B4627143-FF84-448B-897D-CEC9B81AF1BA}" destId="{9FA1F5F4-4FB7-443D-B08E-A19154D88F8E}" srcOrd="0" destOrd="3" presId="urn:microsoft.com/office/officeart/2005/8/layout/default"/>
    <dgm:cxn modelId="{924A5AD9-4292-42EF-B61A-E24868D31551}" type="presOf" srcId="{E314DBB8-F5A1-4399-9471-137467AFC712}" destId="{9FA1F5F4-4FB7-443D-B08E-A19154D88F8E}" srcOrd="0" destOrd="0" presId="urn:microsoft.com/office/officeart/2005/8/layout/default"/>
    <dgm:cxn modelId="{2E2B7EF9-4196-4EF8-9C2D-F5DE4C259C1D}" srcId="{E314DBB8-F5A1-4399-9471-137467AFC712}" destId="{25E9464D-4936-4DBB-97F6-52368DB0447B}" srcOrd="1" destOrd="0" parTransId="{F5C2357E-0B53-4084-A27C-888934105793}" sibTransId="{CB769390-4F94-4977-8D90-9BB4280955F1}"/>
    <dgm:cxn modelId="{DEE78425-70BA-436B-B18C-7D1F728F14B8}" type="presParOf" srcId="{EFCBC820-F06D-4BB7-8F78-B1E16109FEE3}" destId="{0B3C6A61-FFCA-4CF8-9015-453944EE08A4}" srcOrd="0" destOrd="0" presId="urn:microsoft.com/office/officeart/2005/8/layout/default"/>
    <dgm:cxn modelId="{14E11B17-0A25-4FE0-9932-7357CCC04025}" type="presParOf" srcId="{EFCBC820-F06D-4BB7-8F78-B1E16109FEE3}" destId="{481F2437-78D0-41CB-9D63-675AB25B6E7D}" srcOrd="1" destOrd="0" presId="urn:microsoft.com/office/officeart/2005/8/layout/default"/>
    <dgm:cxn modelId="{66430A5B-CB31-4D1B-9FA0-C41C0D6A707B}" type="presParOf" srcId="{EFCBC820-F06D-4BB7-8F78-B1E16109FEE3}" destId="{9FA1F5F4-4FB7-443D-B08E-A19154D88F8E}"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3CFCFB-B86B-4E60-864F-542FC16FA327}" type="doc">
      <dgm:prSet loTypeId="urn:microsoft.com/office/officeart/2005/8/layout/pList1" loCatId="picture" qsTypeId="urn:microsoft.com/office/officeart/2005/8/quickstyle/simple1" qsCatId="simple" csTypeId="urn:microsoft.com/office/officeart/2005/8/colors/accent1_2" csCatId="accent1" phldr="1"/>
      <dgm:spPr/>
      <dgm:t>
        <a:bodyPr/>
        <a:lstStyle/>
        <a:p>
          <a:endParaRPr lang="en-US"/>
        </a:p>
      </dgm:t>
    </dgm:pt>
    <dgm:pt modelId="{4077417C-53B3-4EC9-961D-3FAB858442BB}">
      <dgm:prSet phldrT="[Text]" phldr="0" custT="1"/>
      <dgm:spPr/>
      <dgm:t>
        <a:bodyPr/>
        <a:lstStyle/>
        <a:p>
          <a:r>
            <a:rPr lang="en-US" sz="1100" dirty="0">
              <a:latin typeface="Inter" panose="02000503000000020004" pitchFamily="2" charset="0"/>
              <a:ea typeface="Inter" panose="02000503000000020004" pitchFamily="2" charset="0"/>
              <a:cs typeface="Inter" panose="02000503000000020004" pitchFamily="2" charset="0"/>
            </a:rPr>
            <a:t>Logo</a:t>
          </a:r>
        </a:p>
      </dgm:t>
    </dgm:pt>
    <dgm:pt modelId="{AD95D94E-A435-4A8C-9462-3F467D27151E}" type="parTrans" cxnId="{107A225F-7629-4AFE-B2CD-5127DE7E43F6}">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925A049B-5734-4FFD-BBBD-44E563FEF1A8}" type="sibTrans" cxnId="{107A225F-7629-4AFE-B2CD-5127DE7E43F6}">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2FCADB82-7B3E-4249-8B9A-303A8551009F}">
      <dgm:prSet phldrT="[Text]" custT="1"/>
      <dgm:spPr/>
      <dgm:t>
        <a:bodyPr/>
        <a:lstStyle/>
        <a:p>
          <a:r>
            <a:rPr lang="en-US" sz="1100" dirty="0">
              <a:latin typeface="Inter" panose="02000503000000020004" pitchFamily="2" charset="0"/>
              <a:ea typeface="Inter" panose="02000503000000020004" pitchFamily="2" charset="0"/>
              <a:cs typeface="Inter" panose="02000503000000020004" pitchFamily="2" charset="0"/>
            </a:rPr>
            <a:t>Logo</a:t>
          </a:r>
        </a:p>
      </dgm:t>
    </dgm:pt>
    <dgm:pt modelId="{484F99EC-968D-4228-85F6-3BCEC42A5E26}" type="parTrans" cxnId="{23BC879C-0E14-4D43-B09E-AC73253FBFA3}">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42BA47A2-6309-4657-846F-F82E108B5018}" type="sibTrans" cxnId="{23BC879C-0E14-4D43-B09E-AC73253FBFA3}">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F98F0632-5DC7-4C2E-A1DD-06FB5781427A}">
      <dgm:prSet phldrT="[Text]" custT="1"/>
      <dgm:spPr/>
      <dgm:t>
        <a:bodyPr/>
        <a:lstStyle/>
        <a:p>
          <a:r>
            <a:rPr lang="en-US" sz="1100" dirty="0">
              <a:latin typeface="Inter" panose="02000503000000020004" pitchFamily="2" charset="0"/>
              <a:ea typeface="Inter" panose="02000503000000020004" pitchFamily="2" charset="0"/>
              <a:cs typeface="Inter" panose="02000503000000020004" pitchFamily="2" charset="0"/>
            </a:rPr>
            <a:t>Logo</a:t>
          </a:r>
        </a:p>
      </dgm:t>
    </dgm:pt>
    <dgm:pt modelId="{2BA306AA-CB25-4989-BD21-4512C19855A0}" type="parTrans" cxnId="{24CA2DF6-609F-49A4-AA9B-22C923A7BEA5}">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FFB01A34-907B-4F8F-B754-80C15AE423C2}" type="sibTrans" cxnId="{24CA2DF6-609F-49A4-AA9B-22C923A7BEA5}">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68869816-D69F-479C-8862-F226B7B226C1}">
      <dgm:prSet phldrT="[Text]" custT="1"/>
      <dgm:spPr/>
      <dgm:t>
        <a:bodyPr/>
        <a:lstStyle/>
        <a:p>
          <a:r>
            <a:rPr lang="en-US" sz="1100" dirty="0">
              <a:latin typeface="Inter" panose="02000503000000020004" pitchFamily="2" charset="0"/>
              <a:ea typeface="Inter" panose="02000503000000020004" pitchFamily="2" charset="0"/>
              <a:cs typeface="Inter" panose="02000503000000020004" pitchFamily="2" charset="0"/>
            </a:rPr>
            <a:t>Logo</a:t>
          </a:r>
        </a:p>
      </dgm:t>
    </dgm:pt>
    <dgm:pt modelId="{7C4C558B-087F-4B93-BA39-66F9BC30C929}" type="parTrans" cxnId="{4787FDF2-9EBC-4372-A45F-09D8A74A31F5}">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D902070E-110A-4E0F-B3E7-2B723AD7EF9D}" type="sibTrans" cxnId="{4787FDF2-9EBC-4372-A45F-09D8A74A31F5}">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8A57DB21-EBDA-4390-83E9-0A6BFDDFD591}">
      <dgm:prSet custT="1"/>
      <dgm:spPr/>
      <dgm:t>
        <a:bodyPr/>
        <a:lstStyle/>
        <a:p>
          <a:r>
            <a:rPr lang="en-US" sz="1100">
              <a:latin typeface="Inter" panose="02000503000000020004" pitchFamily="2" charset="0"/>
              <a:ea typeface="Inter" panose="02000503000000020004" pitchFamily="2" charset="0"/>
              <a:cs typeface="Inter" panose="02000503000000020004" pitchFamily="2" charset="0"/>
            </a:rPr>
            <a:t>Logo</a:t>
          </a:r>
        </a:p>
      </dgm:t>
    </dgm:pt>
    <dgm:pt modelId="{2D28D229-0D32-48F0-81EF-7E8FCC80CEA5}" type="parTrans" cxnId="{F7DCBA00-34CB-4644-9CA6-8B218CCFE287}">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0CA04EBA-5272-471F-8E51-3B673F6989E9}" type="sibTrans" cxnId="{F7DCBA00-34CB-4644-9CA6-8B218CCFE287}">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1737F840-B9D7-417B-9DC5-A3BBFA5C6D87}">
      <dgm:prSet custT="1"/>
      <dgm:spPr/>
      <dgm:t>
        <a:bodyPr/>
        <a:lstStyle/>
        <a:p>
          <a:r>
            <a:rPr lang="en-US" sz="1100">
              <a:latin typeface="Inter" panose="02000503000000020004" pitchFamily="2" charset="0"/>
              <a:ea typeface="Inter" panose="02000503000000020004" pitchFamily="2" charset="0"/>
              <a:cs typeface="Inter" panose="02000503000000020004" pitchFamily="2" charset="0"/>
            </a:rPr>
            <a:t>Logo</a:t>
          </a:r>
        </a:p>
      </dgm:t>
    </dgm:pt>
    <dgm:pt modelId="{0CE43B22-9C39-4E80-A296-B7702D6026E2}" type="parTrans" cxnId="{E090FCF2-90AE-4B19-A20F-ABF85F014324}">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B031A17A-5FBE-4BB3-83BE-8B75B31400C1}" type="sibTrans" cxnId="{E090FCF2-90AE-4B19-A20F-ABF85F014324}">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AF893F83-C55F-47E6-B052-601CE33B2208}">
      <dgm:prSet custT="1"/>
      <dgm:spPr/>
      <dgm:t>
        <a:bodyPr/>
        <a:lstStyle/>
        <a:p>
          <a:r>
            <a:rPr lang="en-US" sz="1100">
              <a:latin typeface="Inter" panose="02000503000000020004" pitchFamily="2" charset="0"/>
              <a:ea typeface="Inter" panose="02000503000000020004" pitchFamily="2" charset="0"/>
              <a:cs typeface="Inter" panose="02000503000000020004" pitchFamily="2" charset="0"/>
            </a:rPr>
            <a:t>Logo</a:t>
          </a:r>
        </a:p>
      </dgm:t>
    </dgm:pt>
    <dgm:pt modelId="{7CC0ED9F-E20E-4D17-801C-ECD71BA430C0}" type="parTrans" cxnId="{0BE4F4C1-7E90-460E-B4B3-02E3B809685E}">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A08AA51C-09A0-44B4-84AF-39D0A6DEE806}" type="sibTrans" cxnId="{0BE4F4C1-7E90-460E-B4B3-02E3B809685E}">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EF8398FF-517F-4E65-BCE5-163BCEB3B306}">
      <dgm:prSet custT="1"/>
      <dgm:spPr/>
      <dgm:t>
        <a:bodyPr/>
        <a:lstStyle/>
        <a:p>
          <a:r>
            <a:rPr lang="en-US" sz="1100">
              <a:latin typeface="Inter" panose="02000503000000020004" pitchFamily="2" charset="0"/>
              <a:ea typeface="Inter" panose="02000503000000020004" pitchFamily="2" charset="0"/>
              <a:cs typeface="Inter" panose="02000503000000020004" pitchFamily="2" charset="0"/>
            </a:rPr>
            <a:t>Logo</a:t>
          </a:r>
        </a:p>
      </dgm:t>
    </dgm:pt>
    <dgm:pt modelId="{4E47CD9F-0FCA-493B-98C6-2CF8C4AB27F5}" type="parTrans" cxnId="{790A8932-0FEE-4B63-A297-71DBDFEC35FD}">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A46B6F6A-2AB2-4229-81EA-5EDB7664C666}" type="sibTrans" cxnId="{790A8932-0FEE-4B63-A297-71DBDFEC35FD}">
      <dgm:prSet/>
      <dgm:spPr/>
      <dgm:t>
        <a:bodyPr/>
        <a:lstStyle/>
        <a:p>
          <a:endParaRPr lang="en-US" sz="900">
            <a:latin typeface="Inter" panose="02000503000000020004" pitchFamily="2" charset="0"/>
            <a:ea typeface="Inter" panose="02000503000000020004" pitchFamily="2" charset="0"/>
            <a:cs typeface="Inter" panose="02000503000000020004" pitchFamily="2" charset="0"/>
          </a:endParaRPr>
        </a:p>
      </dgm:t>
    </dgm:pt>
    <dgm:pt modelId="{BD4AEE53-6BB6-48C4-A79F-1CAE5FBE72A0}" type="pres">
      <dgm:prSet presAssocID="{5D3CFCFB-B86B-4E60-864F-542FC16FA327}" presName="Name0" presStyleCnt="0">
        <dgm:presLayoutVars>
          <dgm:dir/>
          <dgm:resizeHandles val="exact"/>
        </dgm:presLayoutVars>
      </dgm:prSet>
      <dgm:spPr/>
    </dgm:pt>
    <dgm:pt modelId="{6E65C4C8-985E-4AFE-AEFD-390472B6EA4A}" type="pres">
      <dgm:prSet presAssocID="{4077417C-53B3-4EC9-961D-3FAB858442BB}" presName="compNode" presStyleCnt="0"/>
      <dgm:spPr/>
    </dgm:pt>
    <dgm:pt modelId="{9E677C3F-66FE-4968-BAEA-C3A552B78228}" type="pres">
      <dgm:prSet presAssocID="{4077417C-53B3-4EC9-961D-3FAB858442BB}" presName="pictRect" presStyleLbl="node1" presStyleIdx="0" presStyleCnt="8"/>
      <dgm:spPr>
        <a:solidFill>
          <a:srgbClr val="F5F7F8"/>
        </a:solidFill>
      </dgm:spPr>
    </dgm:pt>
    <dgm:pt modelId="{8185E60B-7D30-476D-A583-1037AB219990}" type="pres">
      <dgm:prSet presAssocID="{4077417C-53B3-4EC9-961D-3FAB858442BB}" presName="textRect" presStyleLbl="revTx" presStyleIdx="0" presStyleCnt="8">
        <dgm:presLayoutVars>
          <dgm:bulletEnabled val="1"/>
        </dgm:presLayoutVars>
      </dgm:prSet>
      <dgm:spPr/>
    </dgm:pt>
    <dgm:pt modelId="{F70B85E1-A8F0-4A39-BF7A-57F2987A91B6}" type="pres">
      <dgm:prSet presAssocID="{925A049B-5734-4FFD-BBBD-44E563FEF1A8}" presName="sibTrans" presStyleLbl="sibTrans2D1" presStyleIdx="0" presStyleCnt="0"/>
      <dgm:spPr/>
    </dgm:pt>
    <dgm:pt modelId="{3BCAF09D-8332-4312-9943-AD0BFA06EC70}" type="pres">
      <dgm:prSet presAssocID="{2FCADB82-7B3E-4249-8B9A-303A8551009F}" presName="compNode" presStyleCnt="0"/>
      <dgm:spPr/>
    </dgm:pt>
    <dgm:pt modelId="{2CEFF223-6AFC-49EA-B622-63339D72C3BE}" type="pres">
      <dgm:prSet presAssocID="{2FCADB82-7B3E-4249-8B9A-303A8551009F}" presName="pictRect" presStyleLbl="node1" presStyleIdx="1" presStyleCnt="8"/>
      <dgm:spPr>
        <a:solidFill>
          <a:srgbClr val="F5F7F8"/>
        </a:solidFill>
      </dgm:spPr>
    </dgm:pt>
    <dgm:pt modelId="{AB5EEA45-B1AC-40A8-A7E6-B38C73B926D8}" type="pres">
      <dgm:prSet presAssocID="{2FCADB82-7B3E-4249-8B9A-303A8551009F}" presName="textRect" presStyleLbl="revTx" presStyleIdx="1" presStyleCnt="8">
        <dgm:presLayoutVars>
          <dgm:bulletEnabled val="1"/>
        </dgm:presLayoutVars>
      </dgm:prSet>
      <dgm:spPr/>
    </dgm:pt>
    <dgm:pt modelId="{00285711-80FA-4A8B-BA3A-AFE0B8534D4C}" type="pres">
      <dgm:prSet presAssocID="{42BA47A2-6309-4657-846F-F82E108B5018}" presName="sibTrans" presStyleLbl="sibTrans2D1" presStyleIdx="0" presStyleCnt="0"/>
      <dgm:spPr/>
    </dgm:pt>
    <dgm:pt modelId="{62CEAAD0-6636-4B06-83E4-7B2334D06D2E}" type="pres">
      <dgm:prSet presAssocID="{F98F0632-5DC7-4C2E-A1DD-06FB5781427A}" presName="compNode" presStyleCnt="0"/>
      <dgm:spPr/>
    </dgm:pt>
    <dgm:pt modelId="{FC85CB63-50FA-452E-9AA0-5286E62C70FD}" type="pres">
      <dgm:prSet presAssocID="{F98F0632-5DC7-4C2E-A1DD-06FB5781427A}" presName="pictRect" presStyleLbl="node1" presStyleIdx="2" presStyleCnt="8"/>
      <dgm:spPr>
        <a:solidFill>
          <a:srgbClr val="F5F7F8"/>
        </a:solidFill>
      </dgm:spPr>
    </dgm:pt>
    <dgm:pt modelId="{5C32A99F-7806-4E52-90FD-E16A1B5121E0}" type="pres">
      <dgm:prSet presAssocID="{F98F0632-5DC7-4C2E-A1DD-06FB5781427A}" presName="textRect" presStyleLbl="revTx" presStyleIdx="2" presStyleCnt="8">
        <dgm:presLayoutVars>
          <dgm:bulletEnabled val="1"/>
        </dgm:presLayoutVars>
      </dgm:prSet>
      <dgm:spPr/>
    </dgm:pt>
    <dgm:pt modelId="{261B9977-69B2-40B9-80CD-2B62831700A4}" type="pres">
      <dgm:prSet presAssocID="{FFB01A34-907B-4F8F-B754-80C15AE423C2}" presName="sibTrans" presStyleLbl="sibTrans2D1" presStyleIdx="0" presStyleCnt="0"/>
      <dgm:spPr/>
    </dgm:pt>
    <dgm:pt modelId="{B0BD6F60-3032-4543-8059-8ECF44C50283}" type="pres">
      <dgm:prSet presAssocID="{68869816-D69F-479C-8862-F226B7B226C1}" presName="compNode" presStyleCnt="0"/>
      <dgm:spPr/>
    </dgm:pt>
    <dgm:pt modelId="{6B583F0A-F661-4541-8B12-C4675C567546}" type="pres">
      <dgm:prSet presAssocID="{68869816-D69F-479C-8862-F226B7B226C1}" presName="pictRect" presStyleLbl="node1" presStyleIdx="3" presStyleCnt="8"/>
      <dgm:spPr>
        <a:solidFill>
          <a:srgbClr val="F5F7F8"/>
        </a:solidFill>
      </dgm:spPr>
    </dgm:pt>
    <dgm:pt modelId="{6AF36B80-EE9D-48FF-BF91-FCC334C73B2F}" type="pres">
      <dgm:prSet presAssocID="{68869816-D69F-479C-8862-F226B7B226C1}" presName="textRect" presStyleLbl="revTx" presStyleIdx="3" presStyleCnt="8">
        <dgm:presLayoutVars>
          <dgm:bulletEnabled val="1"/>
        </dgm:presLayoutVars>
      </dgm:prSet>
      <dgm:spPr/>
    </dgm:pt>
    <dgm:pt modelId="{5CF7A168-0B19-4919-AE83-E691866685BB}" type="pres">
      <dgm:prSet presAssocID="{D902070E-110A-4E0F-B3E7-2B723AD7EF9D}" presName="sibTrans" presStyleLbl="sibTrans2D1" presStyleIdx="0" presStyleCnt="0"/>
      <dgm:spPr/>
    </dgm:pt>
    <dgm:pt modelId="{E0E85C43-9E43-41BD-A801-3556744321CD}" type="pres">
      <dgm:prSet presAssocID="{8A57DB21-EBDA-4390-83E9-0A6BFDDFD591}" presName="compNode" presStyleCnt="0"/>
      <dgm:spPr/>
    </dgm:pt>
    <dgm:pt modelId="{7949A4C7-0D6D-4528-B2E3-F5C205DB8DD0}" type="pres">
      <dgm:prSet presAssocID="{8A57DB21-EBDA-4390-83E9-0A6BFDDFD591}" presName="pictRect" presStyleLbl="node1" presStyleIdx="4" presStyleCnt="8"/>
      <dgm:spPr>
        <a:solidFill>
          <a:srgbClr val="F5F7F8"/>
        </a:solidFill>
      </dgm:spPr>
    </dgm:pt>
    <dgm:pt modelId="{88046932-767B-4100-9174-048A9323304B}" type="pres">
      <dgm:prSet presAssocID="{8A57DB21-EBDA-4390-83E9-0A6BFDDFD591}" presName="textRect" presStyleLbl="revTx" presStyleIdx="4" presStyleCnt="8">
        <dgm:presLayoutVars>
          <dgm:bulletEnabled val="1"/>
        </dgm:presLayoutVars>
      </dgm:prSet>
      <dgm:spPr/>
    </dgm:pt>
    <dgm:pt modelId="{AF887517-866A-449E-A2A6-64BF55130FED}" type="pres">
      <dgm:prSet presAssocID="{0CA04EBA-5272-471F-8E51-3B673F6989E9}" presName="sibTrans" presStyleLbl="sibTrans2D1" presStyleIdx="0" presStyleCnt="0"/>
      <dgm:spPr/>
    </dgm:pt>
    <dgm:pt modelId="{778ED2D5-CAF9-482C-AF53-9BC0A7B68D84}" type="pres">
      <dgm:prSet presAssocID="{1737F840-B9D7-417B-9DC5-A3BBFA5C6D87}" presName="compNode" presStyleCnt="0"/>
      <dgm:spPr/>
    </dgm:pt>
    <dgm:pt modelId="{F096254E-20FD-407E-B3BA-F87F5D5F33FE}" type="pres">
      <dgm:prSet presAssocID="{1737F840-B9D7-417B-9DC5-A3BBFA5C6D87}" presName="pictRect" presStyleLbl="node1" presStyleIdx="5" presStyleCnt="8"/>
      <dgm:spPr>
        <a:solidFill>
          <a:srgbClr val="F5F7F8"/>
        </a:solidFill>
      </dgm:spPr>
    </dgm:pt>
    <dgm:pt modelId="{3A57D4EC-2832-4C78-B827-8B9F140A9537}" type="pres">
      <dgm:prSet presAssocID="{1737F840-B9D7-417B-9DC5-A3BBFA5C6D87}" presName="textRect" presStyleLbl="revTx" presStyleIdx="5" presStyleCnt="8">
        <dgm:presLayoutVars>
          <dgm:bulletEnabled val="1"/>
        </dgm:presLayoutVars>
      </dgm:prSet>
      <dgm:spPr/>
    </dgm:pt>
    <dgm:pt modelId="{2B8BA37C-3DE5-47AA-96AC-179211299B50}" type="pres">
      <dgm:prSet presAssocID="{B031A17A-5FBE-4BB3-83BE-8B75B31400C1}" presName="sibTrans" presStyleLbl="sibTrans2D1" presStyleIdx="0" presStyleCnt="0"/>
      <dgm:spPr/>
    </dgm:pt>
    <dgm:pt modelId="{DAAC5716-0A88-47D9-B6F6-53721CD00FF6}" type="pres">
      <dgm:prSet presAssocID="{AF893F83-C55F-47E6-B052-601CE33B2208}" presName="compNode" presStyleCnt="0"/>
      <dgm:spPr/>
    </dgm:pt>
    <dgm:pt modelId="{5A8D6C06-0921-4079-9C7B-4903E623AB09}" type="pres">
      <dgm:prSet presAssocID="{AF893F83-C55F-47E6-B052-601CE33B2208}" presName="pictRect" presStyleLbl="node1" presStyleIdx="6" presStyleCnt="8"/>
      <dgm:spPr>
        <a:solidFill>
          <a:srgbClr val="F5F7F8"/>
        </a:solidFill>
      </dgm:spPr>
    </dgm:pt>
    <dgm:pt modelId="{2EFB5223-2F9A-4157-BDFA-BA34C5AB3787}" type="pres">
      <dgm:prSet presAssocID="{AF893F83-C55F-47E6-B052-601CE33B2208}" presName="textRect" presStyleLbl="revTx" presStyleIdx="6" presStyleCnt="8">
        <dgm:presLayoutVars>
          <dgm:bulletEnabled val="1"/>
        </dgm:presLayoutVars>
      </dgm:prSet>
      <dgm:spPr/>
    </dgm:pt>
    <dgm:pt modelId="{47F11D04-3E72-45A5-9F4A-8637E40730B3}" type="pres">
      <dgm:prSet presAssocID="{A08AA51C-09A0-44B4-84AF-39D0A6DEE806}" presName="sibTrans" presStyleLbl="sibTrans2D1" presStyleIdx="0" presStyleCnt="0"/>
      <dgm:spPr/>
    </dgm:pt>
    <dgm:pt modelId="{0F630870-4EC9-4AF9-B39B-C4110DE5F1D7}" type="pres">
      <dgm:prSet presAssocID="{EF8398FF-517F-4E65-BCE5-163BCEB3B306}" presName="compNode" presStyleCnt="0"/>
      <dgm:spPr/>
    </dgm:pt>
    <dgm:pt modelId="{39753656-2E94-4E78-84E9-35E4DE95C0C1}" type="pres">
      <dgm:prSet presAssocID="{EF8398FF-517F-4E65-BCE5-163BCEB3B306}" presName="pictRect" presStyleLbl="node1" presStyleIdx="7" presStyleCnt="8"/>
      <dgm:spPr>
        <a:solidFill>
          <a:srgbClr val="F5F7F8"/>
        </a:solidFill>
      </dgm:spPr>
    </dgm:pt>
    <dgm:pt modelId="{7CB8AE39-76DF-4CAD-8261-B794977B8BB0}" type="pres">
      <dgm:prSet presAssocID="{EF8398FF-517F-4E65-BCE5-163BCEB3B306}" presName="textRect" presStyleLbl="revTx" presStyleIdx="7" presStyleCnt="8">
        <dgm:presLayoutVars>
          <dgm:bulletEnabled val="1"/>
        </dgm:presLayoutVars>
      </dgm:prSet>
      <dgm:spPr/>
    </dgm:pt>
  </dgm:ptLst>
  <dgm:cxnLst>
    <dgm:cxn modelId="{F7DCBA00-34CB-4644-9CA6-8B218CCFE287}" srcId="{5D3CFCFB-B86B-4E60-864F-542FC16FA327}" destId="{8A57DB21-EBDA-4390-83E9-0A6BFDDFD591}" srcOrd="4" destOrd="0" parTransId="{2D28D229-0D32-48F0-81EF-7E8FCC80CEA5}" sibTransId="{0CA04EBA-5272-471F-8E51-3B673F6989E9}"/>
    <dgm:cxn modelId="{95F7B626-D551-4724-A885-1DD682D1B0E6}" type="presOf" srcId="{8A57DB21-EBDA-4390-83E9-0A6BFDDFD591}" destId="{88046932-767B-4100-9174-048A9323304B}" srcOrd="0" destOrd="0" presId="urn:microsoft.com/office/officeart/2005/8/layout/pList1"/>
    <dgm:cxn modelId="{790A8932-0FEE-4B63-A297-71DBDFEC35FD}" srcId="{5D3CFCFB-B86B-4E60-864F-542FC16FA327}" destId="{EF8398FF-517F-4E65-BCE5-163BCEB3B306}" srcOrd="7" destOrd="0" parTransId="{4E47CD9F-0FCA-493B-98C6-2CF8C4AB27F5}" sibTransId="{A46B6F6A-2AB2-4229-81EA-5EDB7664C666}"/>
    <dgm:cxn modelId="{13D50734-7BA9-459B-BD53-159A2DC7FA9A}" type="presOf" srcId="{B031A17A-5FBE-4BB3-83BE-8B75B31400C1}" destId="{2B8BA37C-3DE5-47AA-96AC-179211299B50}" srcOrd="0" destOrd="0" presId="urn:microsoft.com/office/officeart/2005/8/layout/pList1"/>
    <dgm:cxn modelId="{6E632A39-8397-4EBC-9DE2-07D243C5CEE4}" type="presOf" srcId="{68869816-D69F-479C-8862-F226B7B226C1}" destId="{6AF36B80-EE9D-48FF-BF91-FCC334C73B2F}" srcOrd="0" destOrd="0" presId="urn:microsoft.com/office/officeart/2005/8/layout/pList1"/>
    <dgm:cxn modelId="{107A225F-7629-4AFE-B2CD-5127DE7E43F6}" srcId="{5D3CFCFB-B86B-4E60-864F-542FC16FA327}" destId="{4077417C-53B3-4EC9-961D-3FAB858442BB}" srcOrd="0" destOrd="0" parTransId="{AD95D94E-A435-4A8C-9462-3F467D27151E}" sibTransId="{925A049B-5734-4FFD-BBBD-44E563FEF1A8}"/>
    <dgm:cxn modelId="{E7BD8365-8A12-4260-A548-F8C157F529F8}" type="presOf" srcId="{42BA47A2-6309-4657-846F-F82E108B5018}" destId="{00285711-80FA-4A8B-BA3A-AFE0B8534D4C}" srcOrd="0" destOrd="0" presId="urn:microsoft.com/office/officeart/2005/8/layout/pList1"/>
    <dgm:cxn modelId="{9E75A456-5CFD-4D50-8713-CA443F56E06E}" type="presOf" srcId="{2FCADB82-7B3E-4249-8B9A-303A8551009F}" destId="{AB5EEA45-B1AC-40A8-A7E6-B38C73B926D8}" srcOrd="0" destOrd="0" presId="urn:microsoft.com/office/officeart/2005/8/layout/pList1"/>
    <dgm:cxn modelId="{4A3C6777-9D40-413A-B2E2-47B3F37B2C65}" type="presOf" srcId="{AF893F83-C55F-47E6-B052-601CE33B2208}" destId="{2EFB5223-2F9A-4157-BDFA-BA34C5AB3787}" srcOrd="0" destOrd="0" presId="urn:microsoft.com/office/officeart/2005/8/layout/pList1"/>
    <dgm:cxn modelId="{999AC47F-89FD-401A-A215-160A6D72DD6D}" type="presOf" srcId="{F98F0632-5DC7-4C2E-A1DD-06FB5781427A}" destId="{5C32A99F-7806-4E52-90FD-E16A1B5121E0}" srcOrd="0" destOrd="0" presId="urn:microsoft.com/office/officeart/2005/8/layout/pList1"/>
    <dgm:cxn modelId="{CBEC0285-ED15-420E-9EA4-645782D83AD7}" type="presOf" srcId="{FFB01A34-907B-4F8F-B754-80C15AE423C2}" destId="{261B9977-69B2-40B9-80CD-2B62831700A4}" srcOrd="0" destOrd="0" presId="urn:microsoft.com/office/officeart/2005/8/layout/pList1"/>
    <dgm:cxn modelId="{CC6AEC89-BF93-4778-AF47-2F41712F0908}" type="presOf" srcId="{0CA04EBA-5272-471F-8E51-3B673F6989E9}" destId="{AF887517-866A-449E-A2A6-64BF55130FED}" srcOrd="0" destOrd="0" presId="urn:microsoft.com/office/officeart/2005/8/layout/pList1"/>
    <dgm:cxn modelId="{23BC879C-0E14-4D43-B09E-AC73253FBFA3}" srcId="{5D3CFCFB-B86B-4E60-864F-542FC16FA327}" destId="{2FCADB82-7B3E-4249-8B9A-303A8551009F}" srcOrd="1" destOrd="0" parTransId="{484F99EC-968D-4228-85F6-3BCEC42A5E26}" sibTransId="{42BA47A2-6309-4657-846F-F82E108B5018}"/>
    <dgm:cxn modelId="{0863479D-6BD2-430C-B412-E686348BF0B3}" type="presOf" srcId="{5D3CFCFB-B86B-4E60-864F-542FC16FA327}" destId="{BD4AEE53-6BB6-48C4-A79F-1CAE5FBE72A0}" srcOrd="0" destOrd="0" presId="urn:microsoft.com/office/officeart/2005/8/layout/pList1"/>
    <dgm:cxn modelId="{D968B0A5-B925-4F39-85ED-BDA6B584F9DD}" type="presOf" srcId="{1737F840-B9D7-417B-9DC5-A3BBFA5C6D87}" destId="{3A57D4EC-2832-4C78-B827-8B9F140A9537}" srcOrd="0" destOrd="0" presId="urn:microsoft.com/office/officeart/2005/8/layout/pList1"/>
    <dgm:cxn modelId="{D07AC3AD-B8D5-40E7-AE02-69FA94155B4B}" type="presOf" srcId="{A08AA51C-09A0-44B4-84AF-39D0A6DEE806}" destId="{47F11D04-3E72-45A5-9F4A-8637E40730B3}" srcOrd="0" destOrd="0" presId="urn:microsoft.com/office/officeart/2005/8/layout/pList1"/>
    <dgm:cxn modelId="{0BE4F4C1-7E90-460E-B4B3-02E3B809685E}" srcId="{5D3CFCFB-B86B-4E60-864F-542FC16FA327}" destId="{AF893F83-C55F-47E6-B052-601CE33B2208}" srcOrd="6" destOrd="0" parTransId="{7CC0ED9F-E20E-4D17-801C-ECD71BA430C0}" sibTransId="{A08AA51C-09A0-44B4-84AF-39D0A6DEE806}"/>
    <dgm:cxn modelId="{50D4D8C4-3CE4-417B-A8EF-764622B7C63F}" type="presOf" srcId="{4077417C-53B3-4EC9-961D-3FAB858442BB}" destId="{8185E60B-7D30-476D-A583-1037AB219990}" srcOrd="0" destOrd="0" presId="urn:microsoft.com/office/officeart/2005/8/layout/pList1"/>
    <dgm:cxn modelId="{2D93B3D3-95DE-4529-ABC9-9A94480DC53A}" type="presOf" srcId="{EF8398FF-517F-4E65-BCE5-163BCEB3B306}" destId="{7CB8AE39-76DF-4CAD-8261-B794977B8BB0}" srcOrd="0" destOrd="0" presId="urn:microsoft.com/office/officeart/2005/8/layout/pList1"/>
    <dgm:cxn modelId="{E090FCF2-90AE-4B19-A20F-ABF85F014324}" srcId="{5D3CFCFB-B86B-4E60-864F-542FC16FA327}" destId="{1737F840-B9D7-417B-9DC5-A3BBFA5C6D87}" srcOrd="5" destOrd="0" parTransId="{0CE43B22-9C39-4E80-A296-B7702D6026E2}" sibTransId="{B031A17A-5FBE-4BB3-83BE-8B75B31400C1}"/>
    <dgm:cxn modelId="{4787FDF2-9EBC-4372-A45F-09D8A74A31F5}" srcId="{5D3CFCFB-B86B-4E60-864F-542FC16FA327}" destId="{68869816-D69F-479C-8862-F226B7B226C1}" srcOrd="3" destOrd="0" parTransId="{7C4C558B-087F-4B93-BA39-66F9BC30C929}" sibTransId="{D902070E-110A-4E0F-B3E7-2B723AD7EF9D}"/>
    <dgm:cxn modelId="{24CA2DF6-609F-49A4-AA9B-22C923A7BEA5}" srcId="{5D3CFCFB-B86B-4E60-864F-542FC16FA327}" destId="{F98F0632-5DC7-4C2E-A1DD-06FB5781427A}" srcOrd="2" destOrd="0" parTransId="{2BA306AA-CB25-4989-BD21-4512C19855A0}" sibTransId="{FFB01A34-907B-4F8F-B754-80C15AE423C2}"/>
    <dgm:cxn modelId="{CAC24FF6-DB30-48D1-967E-8EDB54028C5F}" type="presOf" srcId="{925A049B-5734-4FFD-BBBD-44E563FEF1A8}" destId="{F70B85E1-A8F0-4A39-BF7A-57F2987A91B6}" srcOrd="0" destOrd="0" presId="urn:microsoft.com/office/officeart/2005/8/layout/pList1"/>
    <dgm:cxn modelId="{F89AA1F8-F38D-4D4B-89C8-D3E738298AC8}" type="presOf" srcId="{D902070E-110A-4E0F-B3E7-2B723AD7EF9D}" destId="{5CF7A168-0B19-4919-AE83-E691866685BB}" srcOrd="0" destOrd="0" presId="urn:microsoft.com/office/officeart/2005/8/layout/pList1"/>
    <dgm:cxn modelId="{CE2B0F16-6082-45D3-A2CE-C6F057F56A8B}" type="presParOf" srcId="{BD4AEE53-6BB6-48C4-A79F-1CAE5FBE72A0}" destId="{6E65C4C8-985E-4AFE-AEFD-390472B6EA4A}" srcOrd="0" destOrd="0" presId="urn:microsoft.com/office/officeart/2005/8/layout/pList1"/>
    <dgm:cxn modelId="{02ADD24D-C4EE-4F33-B1D8-CCCC96266D68}" type="presParOf" srcId="{6E65C4C8-985E-4AFE-AEFD-390472B6EA4A}" destId="{9E677C3F-66FE-4968-BAEA-C3A552B78228}" srcOrd="0" destOrd="0" presId="urn:microsoft.com/office/officeart/2005/8/layout/pList1"/>
    <dgm:cxn modelId="{08DFD2AF-1C34-42EC-B56B-F98047D2EB9E}" type="presParOf" srcId="{6E65C4C8-985E-4AFE-AEFD-390472B6EA4A}" destId="{8185E60B-7D30-476D-A583-1037AB219990}" srcOrd="1" destOrd="0" presId="urn:microsoft.com/office/officeart/2005/8/layout/pList1"/>
    <dgm:cxn modelId="{B195C6B5-3913-4310-B798-380356D19ACB}" type="presParOf" srcId="{BD4AEE53-6BB6-48C4-A79F-1CAE5FBE72A0}" destId="{F70B85E1-A8F0-4A39-BF7A-57F2987A91B6}" srcOrd="1" destOrd="0" presId="urn:microsoft.com/office/officeart/2005/8/layout/pList1"/>
    <dgm:cxn modelId="{A9916C0D-A8BD-49EB-8A3A-33A91092476C}" type="presParOf" srcId="{BD4AEE53-6BB6-48C4-A79F-1CAE5FBE72A0}" destId="{3BCAF09D-8332-4312-9943-AD0BFA06EC70}" srcOrd="2" destOrd="0" presId="urn:microsoft.com/office/officeart/2005/8/layout/pList1"/>
    <dgm:cxn modelId="{F00A27C1-97FE-474D-9B11-3C78BA99236F}" type="presParOf" srcId="{3BCAF09D-8332-4312-9943-AD0BFA06EC70}" destId="{2CEFF223-6AFC-49EA-B622-63339D72C3BE}" srcOrd="0" destOrd="0" presId="urn:microsoft.com/office/officeart/2005/8/layout/pList1"/>
    <dgm:cxn modelId="{94658534-426E-41A7-87C7-7245A014440B}" type="presParOf" srcId="{3BCAF09D-8332-4312-9943-AD0BFA06EC70}" destId="{AB5EEA45-B1AC-40A8-A7E6-B38C73B926D8}" srcOrd="1" destOrd="0" presId="urn:microsoft.com/office/officeart/2005/8/layout/pList1"/>
    <dgm:cxn modelId="{E4C9C0B7-191C-408B-ABBC-8F5FCD9FA317}" type="presParOf" srcId="{BD4AEE53-6BB6-48C4-A79F-1CAE5FBE72A0}" destId="{00285711-80FA-4A8B-BA3A-AFE0B8534D4C}" srcOrd="3" destOrd="0" presId="urn:microsoft.com/office/officeart/2005/8/layout/pList1"/>
    <dgm:cxn modelId="{BEFEF4DF-B161-4BAB-A343-77CF36009F01}" type="presParOf" srcId="{BD4AEE53-6BB6-48C4-A79F-1CAE5FBE72A0}" destId="{62CEAAD0-6636-4B06-83E4-7B2334D06D2E}" srcOrd="4" destOrd="0" presId="urn:microsoft.com/office/officeart/2005/8/layout/pList1"/>
    <dgm:cxn modelId="{DFBB3624-D82A-41BD-A498-56A30DCC7CBE}" type="presParOf" srcId="{62CEAAD0-6636-4B06-83E4-7B2334D06D2E}" destId="{FC85CB63-50FA-452E-9AA0-5286E62C70FD}" srcOrd="0" destOrd="0" presId="urn:microsoft.com/office/officeart/2005/8/layout/pList1"/>
    <dgm:cxn modelId="{610F7634-4539-489D-933F-F46DF199D706}" type="presParOf" srcId="{62CEAAD0-6636-4B06-83E4-7B2334D06D2E}" destId="{5C32A99F-7806-4E52-90FD-E16A1B5121E0}" srcOrd="1" destOrd="0" presId="urn:microsoft.com/office/officeart/2005/8/layout/pList1"/>
    <dgm:cxn modelId="{642597D5-AB18-4A1C-8921-E4FBEAF81438}" type="presParOf" srcId="{BD4AEE53-6BB6-48C4-A79F-1CAE5FBE72A0}" destId="{261B9977-69B2-40B9-80CD-2B62831700A4}" srcOrd="5" destOrd="0" presId="urn:microsoft.com/office/officeart/2005/8/layout/pList1"/>
    <dgm:cxn modelId="{95761D13-F037-4F41-81EE-F5E72A1D45CE}" type="presParOf" srcId="{BD4AEE53-6BB6-48C4-A79F-1CAE5FBE72A0}" destId="{B0BD6F60-3032-4543-8059-8ECF44C50283}" srcOrd="6" destOrd="0" presId="urn:microsoft.com/office/officeart/2005/8/layout/pList1"/>
    <dgm:cxn modelId="{9907CC7A-9F9E-450E-B475-02A66A49D39B}" type="presParOf" srcId="{B0BD6F60-3032-4543-8059-8ECF44C50283}" destId="{6B583F0A-F661-4541-8B12-C4675C567546}" srcOrd="0" destOrd="0" presId="urn:microsoft.com/office/officeart/2005/8/layout/pList1"/>
    <dgm:cxn modelId="{7189E2DD-252C-414A-B81C-2A192093A377}" type="presParOf" srcId="{B0BD6F60-3032-4543-8059-8ECF44C50283}" destId="{6AF36B80-EE9D-48FF-BF91-FCC334C73B2F}" srcOrd="1" destOrd="0" presId="urn:microsoft.com/office/officeart/2005/8/layout/pList1"/>
    <dgm:cxn modelId="{DA4EE043-A8BE-425E-A24D-AD12393D7FA9}" type="presParOf" srcId="{BD4AEE53-6BB6-48C4-A79F-1CAE5FBE72A0}" destId="{5CF7A168-0B19-4919-AE83-E691866685BB}" srcOrd="7" destOrd="0" presId="urn:microsoft.com/office/officeart/2005/8/layout/pList1"/>
    <dgm:cxn modelId="{FCC84B2A-98CA-400F-A57C-2691FE08C720}" type="presParOf" srcId="{BD4AEE53-6BB6-48C4-A79F-1CAE5FBE72A0}" destId="{E0E85C43-9E43-41BD-A801-3556744321CD}" srcOrd="8" destOrd="0" presId="urn:microsoft.com/office/officeart/2005/8/layout/pList1"/>
    <dgm:cxn modelId="{604FCB73-9970-4BF1-A3E6-916CF2C440F1}" type="presParOf" srcId="{E0E85C43-9E43-41BD-A801-3556744321CD}" destId="{7949A4C7-0D6D-4528-B2E3-F5C205DB8DD0}" srcOrd="0" destOrd="0" presId="urn:microsoft.com/office/officeart/2005/8/layout/pList1"/>
    <dgm:cxn modelId="{CB40D46A-E67D-491F-9245-25D0DDB35F38}" type="presParOf" srcId="{E0E85C43-9E43-41BD-A801-3556744321CD}" destId="{88046932-767B-4100-9174-048A9323304B}" srcOrd="1" destOrd="0" presId="urn:microsoft.com/office/officeart/2005/8/layout/pList1"/>
    <dgm:cxn modelId="{E998E22B-128B-46BC-A29D-EFFFC8E3CFBB}" type="presParOf" srcId="{BD4AEE53-6BB6-48C4-A79F-1CAE5FBE72A0}" destId="{AF887517-866A-449E-A2A6-64BF55130FED}" srcOrd="9" destOrd="0" presId="urn:microsoft.com/office/officeart/2005/8/layout/pList1"/>
    <dgm:cxn modelId="{D615C96E-9685-4969-B8E4-BB279D2A7E8C}" type="presParOf" srcId="{BD4AEE53-6BB6-48C4-A79F-1CAE5FBE72A0}" destId="{778ED2D5-CAF9-482C-AF53-9BC0A7B68D84}" srcOrd="10" destOrd="0" presId="urn:microsoft.com/office/officeart/2005/8/layout/pList1"/>
    <dgm:cxn modelId="{037A1EDB-31CA-4B67-B4BC-0601DA2B748E}" type="presParOf" srcId="{778ED2D5-CAF9-482C-AF53-9BC0A7B68D84}" destId="{F096254E-20FD-407E-B3BA-F87F5D5F33FE}" srcOrd="0" destOrd="0" presId="urn:microsoft.com/office/officeart/2005/8/layout/pList1"/>
    <dgm:cxn modelId="{71BA10B7-9D4A-4F24-ADF3-C1CAF0365C2F}" type="presParOf" srcId="{778ED2D5-CAF9-482C-AF53-9BC0A7B68D84}" destId="{3A57D4EC-2832-4C78-B827-8B9F140A9537}" srcOrd="1" destOrd="0" presId="urn:microsoft.com/office/officeart/2005/8/layout/pList1"/>
    <dgm:cxn modelId="{52AA6F43-E50C-4790-9BDC-B297724D923B}" type="presParOf" srcId="{BD4AEE53-6BB6-48C4-A79F-1CAE5FBE72A0}" destId="{2B8BA37C-3DE5-47AA-96AC-179211299B50}" srcOrd="11" destOrd="0" presId="urn:microsoft.com/office/officeart/2005/8/layout/pList1"/>
    <dgm:cxn modelId="{FA03C633-FE8C-4E06-B422-34DA92E1BEEA}" type="presParOf" srcId="{BD4AEE53-6BB6-48C4-A79F-1CAE5FBE72A0}" destId="{DAAC5716-0A88-47D9-B6F6-53721CD00FF6}" srcOrd="12" destOrd="0" presId="urn:microsoft.com/office/officeart/2005/8/layout/pList1"/>
    <dgm:cxn modelId="{ACC9C9C4-1C68-40A6-BA6B-79ED21BA34E1}" type="presParOf" srcId="{DAAC5716-0A88-47D9-B6F6-53721CD00FF6}" destId="{5A8D6C06-0921-4079-9C7B-4903E623AB09}" srcOrd="0" destOrd="0" presId="urn:microsoft.com/office/officeart/2005/8/layout/pList1"/>
    <dgm:cxn modelId="{E9FC4E46-D7E9-4680-91BE-F4EAB94D6E4D}" type="presParOf" srcId="{DAAC5716-0A88-47D9-B6F6-53721CD00FF6}" destId="{2EFB5223-2F9A-4157-BDFA-BA34C5AB3787}" srcOrd="1" destOrd="0" presId="urn:microsoft.com/office/officeart/2005/8/layout/pList1"/>
    <dgm:cxn modelId="{4C813ECD-201A-4CB1-BD41-6816C8CA7985}" type="presParOf" srcId="{BD4AEE53-6BB6-48C4-A79F-1CAE5FBE72A0}" destId="{47F11D04-3E72-45A5-9F4A-8637E40730B3}" srcOrd="13" destOrd="0" presId="urn:microsoft.com/office/officeart/2005/8/layout/pList1"/>
    <dgm:cxn modelId="{4FE806F8-116B-4568-BFC5-F15A2C03F8CB}" type="presParOf" srcId="{BD4AEE53-6BB6-48C4-A79F-1CAE5FBE72A0}" destId="{0F630870-4EC9-4AF9-B39B-C4110DE5F1D7}" srcOrd="14" destOrd="0" presId="urn:microsoft.com/office/officeart/2005/8/layout/pList1"/>
    <dgm:cxn modelId="{D975697B-5811-4F34-88B2-91BE8A5F52D5}" type="presParOf" srcId="{0F630870-4EC9-4AF9-B39B-C4110DE5F1D7}" destId="{39753656-2E94-4E78-84E9-35E4DE95C0C1}" srcOrd="0" destOrd="0" presId="urn:microsoft.com/office/officeart/2005/8/layout/pList1"/>
    <dgm:cxn modelId="{8F16B37E-91A8-46B0-9810-4779038E8877}" type="presParOf" srcId="{0F630870-4EC9-4AF9-B39B-C4110DE5F1D7}" destId="{7CB8AE39-76DF-4CAD-8261-B794977B8BB0}" srcOrd="1" destOrd="0" presId="urn:microsoft.com/office/officeart/2005/8/layout/pLis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A78B8A1-1097-4883-BE51-4369DBBEFC2C}" type="doc">
      <dgm:prSet loTypeId="urn:microsoft.com/office/officeart/2005/8/layout/hList7" loCatId="list" qsTypeId="urn:microsoft.com/office/officeart/2005/8/quickstyle/simple1" qsCatId="simple" csTypeId="urn:microsoft.com/office/officeart/2005/8/colors/accent1_2" csCatId="accent1" phldr="1"/>
      <dgm:spPr/>
      <dgm:t>
        <a:bodyPr/>
        <a:lstStyle/>
        <a:p>
          <a:endParaRPr lang="en-US"/>
        </a:p>
      </dgm:t>
    </dgm:pt>
    <dgm:pt modelId="{847CC134-A8FE-4A88-A377-08F858A3CECD}">
      <dgm:prSet phldrT="[Text]" phldr="0"/>
      <dgm:spPr>
        <a:solidFill>
          <a:srgbClr val="F5F7F8"/>
        </a:solidFill>
        <a:ln>
          <a:solidFill>
            <a:srgbClr val="1F2933"/>
          </a:solidFill>
        </a:ln>
      </dgm:spPr>
      <dgm:t>
        <a:bodyPr/>
        <a:lstStyle/>
        <a:p>
          <a:pPr algn="ctr">
            <a:buNone/>
          </a:pPr>
          <a:r>
            <a:rPr lang="en-US" b="1" dirty="0">
              <a:solidFill>
                <a:srgbClr val="1F2933"/>
              </a:solidFill>
            </a:rPr>
            <a:t>Carrier Coordination</a:t>
          </a:r>
        </a:p>
      </dgm:t>
    </dgm:pt>
    <dgm:pt modelId="{413BEB0E-655B-43BE-83FE-79B10F27E351}" type="parTrans" cxnId="{74B15F6A-770D-4162-8371-4C19D3235C2F}">
      <dgm:prSet/>
      <dgm:spPr/>
      <dgm:t>
        <a:bodyPr/>
        <a:lstStyle/>
        <a:p>
          <a:endParaRPr lang="en-US"/>
        </a:p>
      </dgm:t>
    </dgm:pt>
    <dgm:pt modelId="{2300DF3D-0D84-49DA-9DF1-9453E17014B5}" type="sibTrans" cxnId="{74B15F6A-770D-4162-8371-4C19D3235C2F}">
      <dgm:prSet/>
      <dgm:spPr/>
      <dgm:t>
        <a:bodyPr/>
        <a:lstStyle/>
        <a:p>
          <a:endParaRPr lang="en-US"/>
        </a:p>
      </dgm:t>
    </dgm:pt>
    <dgm:pt modelId="{6715F307-823B-4D0D-9DBA-47D65F083B4C}">
      <dgm:prSet phldrT="[Text]" phldr="0"/>
      <dgm:spPr>
        <a:solidFill>
          <a:srgbClr val="F5F7F8"/>
        </a:solidFill>
        <a:ln>
          <a:solidFill>
            <a:srgbClr val="1F2933"/>
          </a:solidFill>
        </a:ln>
      </dgm:spPr>
      <dgm:t>
        <a:bodyPr/>
        <a:lstStyle/>
        <a:p>
          <a:pPr>
            <a:buNone/>
          </a:pPr>
          <a:r>
            <a:rPr lang="en-US" b="1" dirty="0">
              <a:solidFill>
                <a:srgbClr val="1F2933"/>
              </a:solidFill>
            </a:rPr>
            <a:t>Institutional Asset Access</a:t>
          </a:r>
        </a:p>
      </dgm:t>
    </dgm:pt>
    <dgm:pt modelId="{ECF37742-F822-481A-9773-F3B38C0512A2}" type="parTrans" cxnId="{7ED7BC9F-62EC-4307-B1EE-AC4BBAC08840}">
      <dgm:prSet/>
      <dgm:spPr/>
      <dgm:t>
        <a:bodyPr/>
        <a:lstStyle/>
        <a:p>
          <a:endParaRPr lang="en-US"/>
        </a:p>
      </dgm:t>
    </dgm:pt>
    <dgm:pt modelId="{C1F449CE-94F6-4A68-9A97-B9A1E599CE49}" type="sibTrans" cxnId="{7ED7BC9F-62EC-4307-B1EE-AC4BBAC08840}">
      <dgm:prSet/>
      <dgm:spPr/>
      <dgm:t>
        <a:bodyPr/>
        <a:lstStyle/>
        <a:p>
          <a:endParaRPr lang="en-US"/>
        </a:p>
      </dgm:t>
    </dgm:pt>
    <dgm:pt modelId="{ED2196C6-AFF1-4558-B890-159639D168C8}">
      <dgm:prSet phldrT="[Text]" phldr="0"/>
      <dgm:spPr>
        <a:solidFill>
          <a:srgbClr val="F5F7F8"/>
        </a:solidFill>
        <a:ln>
          <a:solidFill>
            <a:srgbClr val="1F2933"/>
          </a:solidFill>
        </a:ln>
      </dgm:spPr>
      <dgm:t>
        <a:bodyPr/>
        <a:lstStyle/>
        <a:p>
          <a:pPr algn="ctr">
            <a:buNone/>
          </a:pPr>
          <a:r>
            <a:rPr lang="en-US" b="1" dirty="0">
              <a:solidFill>
                <a:srgbClr val="1F2933"/>
              </a:solidFill>
            </a:rPr>
            <a:t>Structured oversight</a:t>
          </a:r>
        </a:p>
      </dgm:t>
    </dgm:pt>
    <dgm:pt modelId="{D627EC82-1C54-4D14-BD39-BF13DD5380E7}" type="parTrans" cxnId="{6ECB19E9-BBC5-4D9B-9B89-822E83B8887B}">
      <dgm:prSet/>
      <dgm:spPr/>
      <dgm:t>
        <a:bodyPr/>
        <a:lstStyle/>
        <a:p>
          <a:endParaRPr lang="en-US"/>
        </a:p>
      </dgm:t>
    </dgm:pt>
    <dgm:pt modelId="{FDD0AA63-A5AA-4611-A065-77485ACF90A7}" type="sibTrans" cxnId="{6ECB19E9-BBC5-4D9B-9B89-822E83B8887B}">
      <dgm:prSet/>
      <dgm:spPr/>
      <dgm:t>
        <a:bodyPr/>
        <a:lstStyle/>
        <a:p>
          <a:endParaRPr lang="en-US"/>
        </a:p>
      </dgm:t>
    </dgm:pt>
    <dgm:pt modelId="{CDD6DE35-2C55-420F-8374-D2837C9CBEE9}">
      <dgm:prSet/>
      <dgm:spPr>
        <a:solidFill>
          <a:srgbClr val="F5F7F8"/>
        </a:solidFill>
        <a:ln>
          <a:solidFill>
            <a:srgbClr val="1F2933"/>
          </a:solidFill>
        </a:ln>
      </dgm:spPr>
      <dgm:t>
        <a:bodyPr/>
        <a:lstStyle/>
        <a:p>
          <a:pPr algn="ctr">
            <a:buClr>
              <a:srgbClr val="C9A24D"/>
            </a:buClr>
            <a:buFont typeface="Wingdings" panose="05000000000000000000" pitchFamily="2" charset="2"/>
            <a:buChar char="ü"/>
          </a:pPr>
          <a:r>
            <a:rPr lang="en-US" dirty="0">
              <a:solidFill>
                <a:srgbClr val="1F2933"/>
              </a:solidFill>
            </a:rPr>
            <a:t>Align insurance carriers with portfolio design</a:t>
          </a:r>
        </a:p>
      </dgm:t>
    </dgm:pt>
    <dgm:pt modelId="{F5269925-94E0-44FA-A1A3-02DB148D9671}" type="parTrans" cxnId="{E6AB004D-C13A-425A-94BD-A50DEE472687}">
      <dgm:prSet/>
      <dgm:spPr/>
      <dgm:t>
        <a:bodyPr/>
        <a:lstStyle/>
        <a:p>
          <a:endParaRPr lang="en-US"/>
        </a:p>
      </dgm:t>
    </dgm:pt>
    <dgm:pt modelId="{2808227A-328E-4512-8346-0B4292AB4016}" type="sibTrans" cxnId="{E6AB004D-C13A-425A-94BD-A50DEE472687}">
      <dgm:prSet/>
      <dgm:spPr>
        <a:ln>
          <a:solidFill>
            <a:srgbClr val="C9A24D"/>
          </a:solidFill>
        </a:ln>
      </dgm:spPr>
      <dgm:t>
        <a:bodyPr/>
        <a:lstStyle/>
        <a:p>
          <a:endParaRPr lang="en-US"/>
        </a:p>
      </dgm:t>
    </dgm:pt>
    <dgm:pt modelId="{2CE1302C-3FBD-4D0C-923C-703A3C7D0AFA}">
      <dgm:prSet/>
      <dgm:spPr>
        <a:solidFill>
          <a:srgbClr val="F5F7F8"/>
        </a:solidFill>
        <a:ln>
          <a:solidFill>
            <a:srgbClr val="1F2933"/>
          </a:solidFill>
        </a:ln>
      </dgm:spPr>
      <dgm:t>
        <a:bodyPr/>
        <a:lstStyle/>
        <a:p>
          <a:pPr>
            <a:buClr>
              <a:srgbClr val="C9A24D"/>
            </a:buClr>
            <a:buFont typeface="Wingdings" panose="05000000000000000000" pitchFamily="2" charset="2"/>
            <a:buChar char="ü"/>
          </a:pPr>
          <a:r>
            <a:rPr lang="en-US" dirty="0">
              <a:solidFill>
                <a:srgbClr val="1F2933"/>
              </a:solidFill>
            </a:rPr>
            <a:t>Enable alternative and private    	market exposure</a:t>
          </a:r>
        </a:p>
      </dgm:t>
    </dgm:pt>
    <dgm:pt modelId="{9762F980-EA26-4B49-B25B-72F0499E1B26}" type="parTrans" cxnId="{EB532C49-1008-4ABE-A486-BF28CC43ED27}">
      <dgm:prSet/>
      <dgm:spPr/>
      <dgm:t>
        <a:bodyPr/>
        <a:lstStyle/>
        <a:p>
          <a:endParaRPr lang="en-US"/>
        </a:p>
      </dgm:t>
    </dgm:pt>
    <dgm:pt modelId="{B04CBD8A-5BCB-4CEA-BFCE-18DF6E3C85E7}" type="sibTrans" cxnId="{EB532C49-1008-4ABE-A486-BF28CC43ED27}">
      <dgm:prSet/>
      <dgm:spPr/>
      <dgm:t>
        <a:bodyPr/>
        <a:lstStyle/>
        <a:p>
          <a:endParaRPr lang="en-US"/>
        </a:p>
      </dgm:t>
    </dgm:pt>
    <dgm:pt modelId="{A6ECF791-3B8C-4F63-9362-CB643FB9B6DA}">
      <dgm:prSet/>
      <dgm:spPr>
        <a:solidFill>
          <a:srgbClr val="F5F7F8"/>
        </a:solidFill>
        <a:ln>
          <a:solidFill>
            <a:srgbClr val="1F2933"/>
          </a:solidFill>
        </a:ln>
      </dgm:spPr>
      <dgm:t>
        <a:bodyPr/>
        <a:lstStyle/>
        <a:p>
          <a:pPr algn="ctr">
            <a:buClr>
              <a:srgbClr val="C9A24D"/>
            </a:buClr>
            <a:buFont typeface="Wingdings" panose="05000000000000000000" pitchFamily="2" charset="2"/>
            <a:buChar char="ü"/>
          </a:pPr>
          <a:r>
            <a:rPr lang="en-US" dirty="0">
              <a:solidFill>
                <a:srgbClr val="1F2933"/>
              </a:solidFill>
            </a:rPr>
            <a:t>Continuous monitoring and reporting</a:t>
          </a:r>
        </a:p>
      </dgm:t>
    </dgm:pt>
    <dgm:pt modelId="{294E73C5-6B6D-4E20-893C-A2D61A880901}" type="parTrans" cxnId="{FDE18F45-912D-4725-BAFA-44B55F1A3AB9}">
      <dgm:prSet/>
      <dgm:spPr/>
      <dgm:t>
        <a:bodyPr/>
        <a:lstStyle/>
        <a:p>
          <a:endParaRPr lang="en-US"/>
        </a:p>
      </dgm:t>
    </dgm:pt>
    <dgm:pt modelId="{00AE9CE2-27AF-41AC-99E3-ABE8E0709E28}" type="sibTrans" cxnId="{FDE18F45-912D-4725-BAFA-44B55F1A3AB9}">
      <dgm:prSet/>
      <dgm:spPr/>
      <dgm:t>
        <a:bodyPr/>
        <a:lstStyle/>
        <a:p>
          <a:endParaRPr lang="en-US"/>
        </a:p>
      </dgm:t>
    </dgm:pt>
    <dgm:pt modelId="{6EEFC32A-1711-4BD7-9024-8B5E22AABD1F}" type="pres">
      <dgm:prSet presAssocID="{EA78B8A1-1097-4883-BE51-4369DBBEFC2C}" presName="Name0" presStyleCnt="0">
        <dgm:presLayoutVars>
          <dgm:dir/>
          <dgm:resizeHandles val="exact"/>
        </dgm:presLayoutVars>
      </dgm:prSet>
      <dgm:spPr/>
    </dgm:pt>
    <dgm:pt modelId="{23E43AFE-DD8B-4E14-B09E-E7F6485E1735}" type="pres">
      <dgm:prSet presAssocID="{EA78B8A1-1097-4883-BE51-4369DBBEFC2C}" presName="fgShape" presStyleLbl="fgShp" presStyleIdx="0" presStyleCnt="1"/>
      <dgm:spPr>
        <a:solidFill>
          <a:srgbClr val="1F2933"/>
        </a:solidFill>
        <a:ln>
          <a:noFill/>
        </a:ln>
      </dgm:spPr>
    </dgm:pt>
    <dgm:pt modelId="{0EDBCC61-7DF8-4897-BB25-AF13CF3C9081}" type="pres">
      <dgm:prSet presAssocID="{EA78B8A1-1097-4883-BE51-4369DBBEFC2C}" presName="linComp" presStyleCnt="0"/>
      <dgm:spPr/>
    </dgm:pt>
    <dgm:pt modelId="{0EDB5BF6-A90F-48FE-9DD7-914ABAD80F7F}" type="pres">
      <dgm:prSet presAssocID="{847CC134-A8FE-4A88-A377-08F858A3CECD}" presName="compNode" presStyleCnt="0"/>
      <dgm:spPr/>
    </dgm:pt>
    <dgm:pt modelId="{A3EFEEC6-3524-4CA4-BB33-AA05F6BE46CD}" type="pres">
      <dgm:prSet presAssocID="{847CC134-A8FE-4A88-A377-08F858A3CECD}" presName="bkgdShape" presStyleLbl="node1" presStyleIdx="0" presStyleCnt="3"/>
      <dgm:spPr/>
    </dgm:pt>
    <dgm:pt modelId="{0B13486B-68C9-4BAE-AC63-ADA8350EBF24}" type="pres">
      <dgm:prSet presAssocID="{847CC134-A8FE-4A88-A377-08F858A3CECD}" presName="nodeTx" presStyleLbl="node1" presStyleIdx="0" presStyleCnt="3">
        <dgm:presLayoutVars>
          <dgm:bulletEnabled val="1"/>
        </dgm:presLayoutVars>
      </dgm:prSet>
      <dgm:spPr/>
    </dgm:pt>
    <dgm:pt modelId="{C05886F0-0A01-49AC-96EA-D73018B76F34}" type="pres">
      <dgm:prSet presAssocID="{847CC134-A8FE-4A88-A377-08F858A3CECD}" presName="invisiNode" presStyleLbl="node1" presStyleIdx="0" presStyleCnt="3"/>
      <dgm:spPr/>
    </dgm:pt>
    <dgm:pt modelId="{9F198DF6-9CA6-4E0D-B608-7F1FAD41D146}" type="pres">
      <dgm:prSet presAssocID="{847CC134-A8FE-4A88-A377-08F858A3CECD}" presName="imagNode"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irection outline"/>
        </a:ext>
      </dgm:extLst>
    </dgm:pt>
    <dgm:pt modelId="{DC8E9E86-1EDD-4C34-9744-11BB2613B556}" type="pres">
      <dgm:prSet presAssocID="{2300DF3D-0D84-49DA-9DF1-9453E17014B5}" presName="sibTrans" presStyleLbl="sibTrans2D1" presStyleIdx="0" presStyleCnt="0"/>
      <dgm:spPr/>
    </dgm:pt>
    <dgm:pt modelId="{F9CF3491-89A4-4B6E-AEB6-C2FA541BDDF7}" type="pres">
      <dgm:prSet presAssocID="{6715F307-823B-4D0D-9DBA-47D65F083B4C}" presName="compNode" presStyleCnt="0"/>
      <dgm:spPr/>
    </dgm:pt>
    <dgm:pt modelId="{9F18EEDB-AACA-4073-9DA8-BC529E8E6365}" type="pres">
      <dgm:prSet presAssocID="{6715F307-823B-4D0D-9DBA-47D65F083B4C}" presName="bkgdShape" presStyleLbl="node1" presStyleIdx="1" presStyleCnt="3"/>
      <dgm:spPr/>
    </dgm:pt>
    <dgm:pt modelId="{2758CED3-BABA-4863-8242-A2321F612811}" type="pres">
      <dgm:prSet presAssocID="{6715F307-823B-4D0D-9DBA-47D65F083B4C}" presName="nodeTx" presStyleLbl="node1" presStyleIdx="1" presStyleCnt="3">
        <dgm:presLayoutVars>
          <dgm:bulletEnabled val="1"/>
        </dgm:presLayoutVars>
      </dgm:prSet>
      <dgm:spPr/>
    </dgm:pt>
    <dgm:pt modelId="{AC064ED8-8440-4C5D-854C-4EB058EFB93D}" type="pres">
      <dgm:prSet presAssocID="{6715F307-823B-4D0D-9DBA-47D65F083B4C}" presName="invisiNode" presStyleLbl="node1" presStyleIdx="1" presStyleCnt="3"/>
      <dgm:spPr/>
    </dgm:pt>
    <dgm:pt modelId="{AB5C6345-2430-48C2-BD81-E7C35BAD4F6A}" type="pres">
      <dgm:prSet presAssocID="{6715F307-823B-4D0D-9DBA-47D65F083B4C}" presName="imagNode"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ank outline"/>
        </a:ext>
      </dgm:extLst>
    </dgm:pt>
    <dgm:pt modelId="{F3BDBEC6-643E-436C-A97E-A8BE8F9FD99C}" type="pres">
      <dgm:prSet presAssocID="{C1F449CE-94F6-4A68-9A97-B9A1E599CE49}" presName="sibTrans" presStyleLbl="sibTrans2D1" presStyleIdx="0" presStyleCnt="0"/>
      <dgm:spPr/>
    </dgm:pt>
    <dgm:pt modelId="{68B09D47-F59D-4BC2-9C6D-66D68F46DE10}" type="pres">
      <dgm:prSet presAssocID="{ED2196C6-AFF1-4558-B890-159639D168C8}" presName="compNode" presStyleCnt="0"/>
      <dgm:spPr/>
    </dgm:pt>
    <dgm:pt modelId="{994E02E0-2C89-4E23-96E7-6459FF6B2289}" type="pres">
      <dgm:prSet presAssocID="{ED2196C6-AFF1-4558-B890-159639D168C8}" presName="bkgdShape" presStyleLbl="node1" presStyleIdx="2" presStyleCnt="3"/>
      <dgm:spPr/>
    </dgm:pt>
    <dgm:pt modelId="{74302CE1-BDDE-4300-A500-E44273330106}" type="pres">
      <dgm:prSet presAssocID="{ED2196C6-AFF1-4558-B890-159639D168C8}" presName="nodeTx" presStyleLbl="node1" presStyleIdx="2" presStyleCnt="3">
        <dgm:presLayoutVars>
          <dgm:bulletEnabled val="1"/>
        </dgm:presLayoutVars>
      </dgm:prSet>
      <dgm:spPr/>
    </dgm:pt>
    <dgm:pt modelId="{B8955475-70A0-4949-B3E1-281D8AAF6756}" type="pres">
      <dgm:prSet presAssocID="{ED2196C6-AFF1-4558-B890-159639D168C8}" presName="invisiNode" presStyleLbl="node1" presStyleIdx="2" presStyleCnt="3"/>
      <dgm:spPr/>
    </dgm:pt>
    <dgm:pt modelId="{F149AAB9-CA76-4F43-BC39-4B449ACBA91F}" type="pres">
      <dgm:prSet presAssocID="{ED2196C6-AFF1-4558-B890-159639D168C8}" presName="imagNode"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Magnifying glass outline"/>
        </a:ext>
      </dgm:extLst>
    </dgm:pt>
  </dgm:ptLst>
  <dgm:cxnLst>
    <dgm:cxn modelId="{95EE8606-5BE7-44C6-B7BF-8A5EC59917C9}" type="presOf" srcId="{847CC134-A8FE-4A88-A377-08F858A3CECD}" destId="{A3EFEEC6-3524-4CA4-BB33-AA05F6BE46CD}" srcOrd="0" destOrd="0" presId="urn:microsoft.com/office/officeart/2005/8/layout/hList7"/>
    <dgm:cxn modelId="{9878EF0E-74AB-4BE2-8C4D-BC2F11357D61}" type="presOf" srcId="{2300DF3D-0D84-49DA-9DF1-9453E17014B5}" destId="{DC8E9E86-1EDD-4C34-9744-11BB2613B556}" srcOrd="0" destOrd="0" presId="urn:microsoft.com/office/officeart/2005/8/layout/hList7"/>
    <dgm:cxn modelId="{305AF13D-DED5-42C0-9665-A66D651A7DF8}" type="presOf" srcId="{A6ECF791-3B8C-4F63-9362-CB643FB9B6DA}" destId="{994E02E0-2C89-4E23-96E7-6459FF6B2289}" srcOrd="0" destOrd="1" presId="urn:microsoft.com/office/officeart/2005/8/layout/hList7"/>
    <dgm:cxn modelId="{066FA460-4750-4058-A6A6-83C44AAB933B}" type="presOf" srcId="{2CE1302C-3FBD-4D0C-923C-703A3C7D0AFA}" destId="{9F18EEDB-AACA-4073-9DA8-BC529E8E6365}" srcOrd="0" destOrd="1" presId="urn:microsoft.com/office/officeart/2005/8/layout/hList7"/>
    <dgm:cxn modelId="{FDE18F45-912D-4725-BAFA-44B55F1A3AB9}" srcId="{ED2196C6-AFF1-4558-B890-159639D168C8}" destId="{A6ECF791-3B8C-4F63-9362-CB643FB9B6DA}" srcOrd="0" destOrd="0" parTransId="{294E73C5-6B6D-4E20-893C-A2D61A880901}" sibTransId="{00AE9CE2-27AF-41AC-99E3-ABE8E0709E28}"/>
    <dgm:cxn modelId="{EB532C49-1008-4ABE-A486-BF28CC43ED27}" srcId="{6715F307-823B-4D0D-9DBA-47D65F083B4C}" destId="{2CE1302C-3FBD-4D0C-923C-703A3C7D0AFA}" srcOrd="0" destOrd="0" parTransId="{9762F980-EA26-4B49-B25B-72F0499E1B26}" sibTransId="{B04CBD8A-5BCB-4CEA-BFCE-18DF6E3C85E7}"/>
    <dgm:cxn modelId="{74B15F6A-770D-4162-8371-4C19D3235C2F}" srcId="{EA78B8A1-1097-4883-BE51-4369DBBEFC2C}" destId="{847CC134-A8FE-4A88-A377-08F858A3CECD}" srcOrd="0" destOrd="0" parTransId="{413BEB0E-655B-43BE-83FE-79B10F27E351}" sibTransId="{2300DF3D-0D84-49DA-9DF1-9453E17014B5}"/>
    <dgm:cxn modelId="{E6AB004D-C13A-425A-94BD-A50DEE472687}" srcId="{847CC134-A8FE-4A88-A377-08F858A3CECD}" destId="{CDD6DE35-2C55-420F-8374-D2837C9CBEE9}" srcOrd="0" destOrd="0" parTransId="{F5269925-94E0-44FA-A1A3-02DB148D9671}" sibTransId="{2808227A-328E-4512-8346-0B4292AB4016}"/>
    <dgm:cxn modelId="{723CB274-76F0-4215-8EF3-A629FF7187E9}" type="presOf" srcId="{847CC134-A8FE-4A88-A377-08F858A3CECD}" destId="{0B13486B-68C9-4BAE-AC63-ADA8350EBF24}" srcOrd="1" destOrd="0" presId="urn:microsoft.com/office/officeart/2005/8/layout/hList7"/>
    <dgm:cxn modelId="{94CBEE58-7A24-49A6-94B7-A8401918E182}" type="presOf" srcId="{ED2196C6-AFF1-4558-B890-159639D168C8}" destId="{74302CE1-BDDE-4300-A500-E44273330106}" srcOrd="1" destOrd="0" presId="urn:microsoft.com/office/officeart/2005/8/layout/hList7"/>
    <dgm:cxn modelId="{DEDC2E80-1FA2-4ECA-8CE0-0030EAF51943}" type="presOf" srcId="{ED2196C6-AFF1-4558-B890-159639D168C8}" destId="{994E02E0-2C89-4E23-96E7-6459FF6B2289}" srcOrd="0" destOrd="0" presId="urn:microsoft.com/office/officeart/2005/8/layout/hList7"/>
    <dgm:cxn modelId="{AAFB0583-275E-47F1-B524-780DF4827B2F}" type="presOf" srcId="{C1F449CE-94F6-4A68-9A97-B9A1E599CE49}" destId="{F3BDBEC6-643E-436C-A97E-A8BE8F9FD99C}" srcOrd="0" destOrd="0" presId="urn:microsoft.com/office/officeart/2005/8/layout/hList7"/>
    <dgm:cxn modelId="{2EDFCE86-BD2B-4D07-AACF-73C98E432267}" type="presOf" srcId="{CDD6DE35-2C55-420F-8374-D2837C9CBEE9}" destId="{0B13486B-68C9-4BAE-AC63-ADA8350EBF24}" srcOrd="1" destOrd="1" presId="urn:microsoft.com/office/officeart/2005/8/layout/hList7"/>
    <dgm:cxn modelId="{C1027589-48C5-4E92-8769-4B0A80B39547}" type="presOf" srcId="{2CE1302C-3FBD-4D0C-923C-703A3C7D0AFA}" destId="{2758CED3-BABA-4863-8242-A2321F612811}" srcOrd="1" destOrd="1" presId="urn:microsoft.com/office/officeart/2005/8/layout/hList7"/>
    <dgm:cxn modelId="{7ED7BC9F-62EC-4307-B1EE-AC4BBAC08840}" srcId="{EA78B8A1-1097-4883-BE51-4369DBBEFC2C}" destId="{6715F307-823B-4D0D-9DBA-47D65F083B4C}" srcOrd="1" destOrd="0" parTransId="{ECF37742-F822-481A-9773-F3B38C0512A2}" sibTransId="{C1F449CE-94F6-4A68-9A97-B9A1E599CE49}"/>
    <dgm:cxn modelId="{06A450BB-1664-4ACD-BC69-BD8D66DF4C6F}" type="presOf" srcId="{A6ECF791-3B8C-4F63-9362-CB643FB9B6DA}" destId="{74302CE1-BDDE-4300-A500-E44273330106}" srcOrd="1" destOrd="1" presId="urn:microsoft.com/office/officeart/2005/8/layout/hList7"/>
    <dgm:cxn modelId="{17A617C8-A725-40AF-9954-66FD9E05B139}" type="presOf" srcId="{EA78B8A1-1097-4883-BE51-4369DBBEFC2C}" destId="{6EEFC32A-1711-4BD7-9024-8B5E22AABD1F}" srcOrd="0" destOrd="0" presId="urn:microsoft.com/office/officeart/2005/8/layout/hList7"/>
    <dgm:cxn modelId="{6ECB19E9-BBC5-4D9B-9B89-822E83B8887B}" srcId="{EA78B8A1-1097-4883-BE51-4369DBBEFC2C}" destId="{ED2196C6-AFF1-4558-B890-159639D168C8}" srcOrd="2" destOrd="0" parTransId="{D627EC82-1C54-4D14-BD39-BF13DD5380E7}" sibTransId="{FDD0AA63-A5AA-4611-A065-77485ACF90A7}"/>
    <dgm:cxn modelId="{8B834EF1-A6C8-4008-8A68-81D7AFF68AFA}" type="presOf" srcId="{CDD6DE35-2C55-420F-8374-D2837C9CBEE9}" destId="{A3EFEEC6-3524-4CA4-BB33-AA05F6BE46CD}" srcOrd="0" destOrd="1" presId="urn:microsoft.com/office/officeart/2005/8/layout/hList7"/>
    <dgm:cxn modelId="{879394F3-BA53-46D5-B22D-7C9C7C90AAFF}" type="presOf" srcId="{6715F307-823B-4D0D-9DBA-47D65F083B4C}" destId="{2758CED3-BABA-4863-8242-A2321F612811}" srcOrd="1" destOrd="0" presId="urn:microsoft.com/office/officeart/2005/8/layout/hList7"/>
    <dgm:cxn modelId="{C32D46F5-D347-4089-8D7D-27D66E047B85}" type="presOf" srcId="{6715F307-823B-4D0D-9DBA-47D65F083B4C}" destId="{9F18EEDB-AACA-4073-9DA8-BC529E8E6365}" srcOrd="0" destOrd="0" presId="urn:microsoft.com/office/officeart/2005/8/layout/hList7"/>
    <dgm:cxn modelId="{6EB0F7BB-A219-4884-8E6D-DE8DFE0B54D8}" type="presParOf" srcId="{6EEFC32A-1711-4BD7-9024-8B5E22AABD1F}" destId="{23E43AFE-DD8B-4E14-B09E-E7F6485E1735}" srcOrd="0" destOrd="0" presId="urn:microsoft.com/office/officeart/2005/8/layout/hList7"/>
    <dgm:cxn modelId="{78024D60-85E5-4E66-8B80-AAA936B3481A}" type="presParOf" srcId="{6EEFC32A-1711-4BD7-9024-8B5E22AABD1F}" destId="{0EDBCC61-7DF8-4897-BB25-AF13CF3C9081}" srcOrd="1" destOrd="0" presId="urn:microsoft.com/office/officeart/2005/8/layout/hList7"/>
    <dgm:cxn modelId="{4C18009C-E5F4-46AE-BE48-063385579082}" type="presParOf" srcId="{0EDBCC61-7DF8-4897-BB25-AF13CF3C9081}" destId="{0EDB5BF6-A90F-48FE-9DD7-914ABAD80F7F}" srcOrd="0" destOrd="0" presId="urn:microsoft.com/office/officeart/2005/8/layout/hList7"/>
    <dgm:cxn modelId="{88A1AD58-E49A-45B9-B5ED-49A037BBC9F6}" type="presParOf" srcId="{0EDB5BF6-A90F-48FE-9DD7-914ABAD80F7F}" destId="{A3EFEEC6-3524-4CA4-BB33-AA05F6BE46CD}" srcOrd="0" destOrd="0" presId="urn:microsoft.com/office/officeart/2005/8/layout/hList7"/>
    <dgm:cxn modelId="{02581370-1C86-4655-81FB-6978E11DAB91}" type="presParOf" srcId="{0EDB5BF6-A90F-48FE-9DD7-914ABAD80F7F}" destId="{0B13486B-68C9-4BAE-AC63-ADA8350EBF24}" srcOrd="1" destOrd="0" presId="urn:microsoft.com/office/officeart/2005/8/layout/hList7"/>
    <dgm:cxn modelId="{F6F34080-6CF7-4C36-9F35-6D663F3F8F53}" type="presParOf" srcId="{0EDB5BF6-A90F-48FE-9DD7-914ABAD80F7F}" destId="{C05886F0-0A01-49AC-96EA-D73018B76F34}" srcOrd="2" destOrd="0" presId="urn:microsoft.com/office/officeart/2005/8/layout/hList7"/>
    <dgm:cxn modelId="{880BEB4B-4482-4EBA-824C-7FB7A802A89D}" type="presParOf" srcId="{0EDB5BF6-A90F-48FE-9DD7-914ABAD80F7F}" destId="{9F198DF6-9CA6-4E0D-B608-7F1FAD41D146}" srcOrd="3" destOrd="0" presId="urn:microsoft.com/office/officeart/2005/8/layout/hList7"/>
    <dgm:cxn modelId="{D30CEE03-A019-44C3-BE87-B2ABABF466A2}" type="presParOf" srcId="{0EDBCC61-7DF8-4897-BB25-AF13CF3C9081}" destId="{DC8E9E86-1EDD-4C34-9744-11BB2613B556}" srcOrd="1" destOrd="0" presId="urn:microsoft.com/office/officeart/2005/8/layout/hList7"/>
    <dgm:cxn modelId="{F2EF305B-623D-40D3-B640-20CD228D780D}" type="presParOf" srcId="{0EDBCC61-7DF8-4897-BB25-AF13CF3C9081}" destId="{F9CF3491-89A4-4B6E-AEB6-C2FA541BDDF7}" srcOrd="2" destOrd="0" presId="urn:microsoft.com/office/officeart/2005/8/layout/hList7"/>
    <dgm:cxn modelId="{43A04A92-DA09-428C-B516-933AB411D051}" type="presParOf" srcId="{F9CF3491-89A4-4B6E-AEB6-C2FA541BDDF7}" destId="{9F18EEDB-AACA-4073-9DA8-BC529E8E6365}" srcOrd="0" destOrd="0" presId="urn:microsoft.com/office/officeart/2005/8/layout/hList7"/>
    <dgm:cxn modelId="{3CF79134-1C8A-4CED-84D9-672DCCAE84E6}" type="presParOf" srcId="{F9CF3491-89A4-4B6E-AEB6-C2FA541BDDF7}" destId="{2758CED3-BABA-4863-8242-A2321F612811}" srcOrd="1" destOrd="0" presId="urn:microsoft.com/office/officeart/2005/8/layout/hList7"/>
    <dgm:cxn modelId="{6EFDD7B5-E39C-4A92-8AEB-20CF86640B55}" type="presParOf" srcId="{F9CF3491-89A4-4B6E-AEB6-C2FA541BDDF7}" destId="{AC064ED8-8440-4C5D-854C-4EB058EFB93D}" srcOrd="2" destOrd="0" presId="urn:microsoft.com/office/officeart/2005/8/layout/hList7"/>
    <dgm:cxn modelId="{C8DB4BE0-0976-414A-BEE7-5CAE9B34E4AB}" type="presParOf" srcId="{F9CF3491-89A4-4B6E-AEB6-C2FA541BDDF7}" destId="{AB5C6345-2430-48C2-BD81-E7C35BAD4F6A}" srcOrd="3" destOrd="0" presId="urn:microsoft.com/office/officeart/2005/8/layout/hList7"/>
    <dgm:cxn modelId="{9328A358-5DB0-489C-AE2F-9B3CA0E41C8A}" type="presParOf" srcId="{0EDBCC61-7DF8-4897-BB25-AF13CF3C9081}" destId="{F3BDBEC6-643E-436C-A97E-A8BE8F9FD99C}" srcOrd="3" destOrd="0" presId="urn:microsoft.com/office/officeart/2005/8/layout/hList7"/>
    <dgm:cxn modelId="{FBEE6D40-A971-4F2E-895E-F266E95B1EF4}" type="presParOf" srcId="{0EDBCC61-7DF8-4897-BB25-AF13CF3C9081}" destId="{68B09D47-F59D-4BC2-9C6D-66D68F46DE10}" srcOrd="4" destOrd="0" presId="urn:microsoft.com/office/officeart/2005/8/layout/hList7"/>
    <dgm:cxn modelId="{7E6A19C6-65EA-44F2-8685-92EED2752F49}" type="presParOf" srcId="{68B09D47-F59D-4BC2-9C6D-66D68F46DE10}" destId="{994E02E0-2C89-4E23-96E7-6459FF6B2289}" srcOrd="0" destOrd="0" presId="urn:microsoft.com/office/officeart/2005/8/layout/hList7"/>
    <dgm:cxn modelId="{45FA77B0-A4D2-4562-BE2E-B141A24DEDD9}" type="presParOf" srcId="{68B09D47-F59D-4BC2-9C6D-66D68F46DE10}" destId="{74302CE1-BDDE-4300-A500-E44273330106}" srcOrd="1" destOrd="0" presId="urn:microsoft.com/office/officeart/2005/8/layout/hList7"/>
    <dgm:cxn modelId="{8DE7AEA5-F7D3-4A41-BB8A-561CE065D3FD}" type="presParOf" srcId="{68B09D47-F59D-4BC2-9C6D-66D68F46DE10}" destId="{B8955475-70A0-4949-B3E1-281D8AAF6756}" srcOrd="2" destOrd="0" presId="urn:microsoft.com/office/officeart/2005/8/layout/hList7"/>
    <dgm:cxn modelId="{49CD6CF1-5439-42C8-AA5A-9E47CEE4E229}" type="presParOf" srcId="{68B09D47-F59D-4BC2-9C6D-66D68F46DE10}" destId="{F149AAB9-CA76-4F43-BC39-4B449ACBA91F}" srcOrd="3" destOrd="0" presId="urn:microsoft.com/office/officeart/2005/8/layout/hList7"/>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0EF2ECD-9E80-47DE-B94E-D3279A414154}" type="doc">
      <dgm:prSet loTypeId="urn:microsoft.com/office/officeart/2009/3/layout/StepUpProcess" loCatId="process" qsTypeId="urn:microsoft.com/office/officeart/2005/8/quickstyle/simple4" qsCatId="simple" csTypeId="urn:microsoft.com/office/officeart/2005/8/colors/accent0_3" csCatId="mainScheme" phldr="1"/>
      <dgm:spPr/>
      <dgm:t>
        <a:bodyPr/>
        <a:lstStyle/>
        <a:p>
          <a:endParaRPr lang="en-US"/>
        </a:p>
      </dgm:t>
    </dgm:pt>
    <dgm:pt modelId="{E9DB3DF7-757F-4B37-A36B-488B5B75F01B}">
      <dgm:prSet custT="1"/>
      <dgm:spPr/>
      <dgm:t>
        <a:bodyPr/>
        <a:lstStyle/>
        <a:p>
          <a:r>
            <a:rPr lang="en-US" sz="1000" b="1" dirty="0"/>
            <a:t>Structural Design</a:t>
          </a:r>
          <a:endParaRPr lang="en-US" sz="1000" dirty="0"/>
        </a:p>
      </dgm:t>
    </dgm:pt>
    <dgm:pt modelId="{0F4F3B6C-2BF6-4923-895E-2C02C98D5B1A}" type="parTrans" cxnId="{B4F7506F-7832-4B9D-AFDB-56427FB09615}">
      <dgm:prSet/>
      <dgm:spPr/>
      <dgm:t>
        <a:bodyPr/>
        <a:lstStyle/>
        <a:p>
          <a:endParaRPr lang="en-US" sz="1000">
            <a:solidFill>
              <a:srgbClr val="1F2933"/>
            </a:solidFill>
          </a:endParaRPr>
        </a:p>
      </dgm:t>
    </dgm:pt>
    <dgm:pt modelId="{5A737F50-17F7-45BF-AA72-E2C81956642F}" type="sibTrans" cxnId="{B4F7506F-7832-4B9D-AFDB-56427FB09615}">
      <dgm:prSet/>
      <dgm:spPr/>
      <dgm:t>
        <a:bodyPr/>
        <a:lstStyle/>
        <a:p>
          <a:endParaRPr lang="en-US" sz="1000">
            <a:solidFill>
              <a:srgbClr val="1F2933"/>
            </a:solidFill>
          </a:endParaRPr>
        </a:p>
      </dgm:t>
    </dgm:pt>
    <dgm:pt modelId="{4A6E4471-D367-4204-B6A3-CC90ED93D24D}">
      <dgm:prSet custT="1"/>
      <dgm:spPr/>
      <dgm:t>
        <a:bodyPr/>
        <a:lstStyle/>
        <a:p>
          <a:r>
            <a:rPr lang="en-US" sz="800" dirty="0"/>
            <a:t>Build the optimal insurance + investment architecture aligned to client objectives, portfolio strategy, and carrier requirements.</a:t>
          </a:r>
        </a:p>
      </dgm:t>
    </dgm:pt>
    <dgm:pt modelId="{C10B657F-ED67-4DCB-8F55-54C84DA3C18D}" type="parTrans" cxnId="{465D794D-CE6B-4304-8507-148EFEB4EC13}">
      <dgm:prSet/>
      <dgm:spPr/>
      <dgm:t>
        <a:bodyPr/>
        <a:lstStyle/>
        <a:p>
          <a:endParaRPr lang="en-US" sz="1000">
            <a:solidFill>
              <a:srgbClr val="1F2933"/>
            </a:solidFill>
          </a:endParaRPr>
        </a:p>
      </dgm:t>
    </dgm:pt>
    <dgm:pt modelId="{148A4823-3F02-4CD5-B66C-79106191942F}" type="sibTrans" cxnId="{465D794D-CE6B-4304-8507-148EFEB4EC13}">
      <dgm:prSet/>
      <dgm:spPr/>
      <dgm:t>
        <a:bodyPr/>
        <a:lstStyle/>
        <a:p>
          <a:endParaRPr lang="en-US" sz="1000">
            <a:solidFill>
              <a:srgbClr val="1F2933"/>
            </a:solidFill>
          </a:endParaRPr>
        </a:p>
      </dgm:t>
    </dgm:pt>
    <dgm:pt modelId="{5BBC79BF-F8B1-451D-B81F-FBBEBA7F9644}">
      <dgm:prSet custT="1"/>
      <dgm:spPr/>
      <dgm:t>
        <a:bodyPr/>
        <a:lstStyle/>
        <a:p>
          <a:r>
            <a:rPr lang="en-US" sz="1000" b="1" dirty="0"/>
            <a:t>Implement &amp; Coordinate</a:t>
          </a:r>
          <a:endParaRPr lang="en-US" sz="1000" dirty="0"/>
        </a:p>
      </dgm:t>
    </dgm:pt>
    <dgm:pt modelId="{4A8B07A3-C6F6-416D-8C59-CC0E72C86E12}" type="parTrans" cxnId="{FF74951A-64C0-4A0B-A5F0-7B8CC61015CC}">
      <dgm:prSet/>
      <dgm:spPr/>
      <dgm:t>
        <a:bodyPr/>
        <a:lstStyle/>
        <a:p>
          <a:endParaRPr lang="en-US" sz="1000">
            <a:solidFill>
              <a:srgbClr val="1F2933"/>
            </a:solidFill>
          </a:endParaRPr>
        </a:p>
      </dgm:t>
    </dgm:pt>
    <dgm:pt modelId="{FE19728C-181B-4EC0-9E37-0224649BC2E9}" type="sibTrans" cxnId="{FF74951A-64C0-4A0B-A5F0-7B8CC61015CC}">
      <dgm:prSet/>
      <dgm:spPr/>
      <dgm:t>
        <a:bodyPr/>
        <a:lstStyle/>
        <a:p>
          <a:endParaRPr lang="en-US" sz="1000">
            <a:solidFill>
              <a:srgbClr val="1F2933"/>
            </a:solidFill>
          </a:endParaRPr>
        </a:p>
      </dgm:t>
    </dgm:pt>
    <dgm:pt modelId="{EB5AB52D-3458-47B3-B5F6-3BC1EB01FFA9}">
      <dgm:prSet custT="1"/>
      <dgm:spPr/>
      <dgm:t>
        <a:bodyPr/>
        <a:lstStyle/>
        <a:p>
          <a:r>
            <a:rPr lang="en-US" sz="800" dirty="0"/>
            <a:t>Streamline carrier workflows, documentation, and execution — reducing friction and eliminating fragmented handoffs.</a:t>
          </a:r>
        </a:p>
      </dgm:t>
    </dgm:pt>
    <dgm:pt modelId="{3DA2C2CE-B964-4FE3-A8C2-B18F59816B2B}" type="parTrans" cxnId="{8C1F147C-CF2D-421A-B8F4-450B7CD10A85}">
      <dgm:prSet/>
      <dgm:spPr/>
      <dgm:t>
        <a:bodyPr/>
        <a:lstStyle/>
        <a:p>
          <a:endParaRPr lang="en-US" sz="1000">
            <a:solidFill>
              <a:srgbClr val="1F2933"/>
            </a:solidFill>
          </a:endParaRPr>
        </a:p>
      </dgm:t>
    </dgm:pt>
    <dgm:pt modelId="{8DEE4C48-331C-4C52-9C7C-51F367A2BF56}" type="sibTrans" cxnId="{8C1F147C-CF2D-421A-B8F4-450B7CD10A85}">
      <dgm:prSet/>
      <dgm:spPr/>
      <dgm:t>
        <a:bodyPr/>
        <a:lstStyle/>
        <a:p>
          <a:endParaRPr lang="en-US" sz="1000">
            <a:solidFill>
              <a:srgbClr val="1F2933"/>
            </a:solidFill>
          </a:endParaRPr>
        </a:p>
      </dgm:t>
    </dgm:pt>
    <dgm:pt modelId="{AE4C1A94-272E-4BBE-9581-3067796BFCFB}">
      <dgm:prSet custT="1"/>
      <dgm:spPr/>
      <dgm:t>
        <a:bodyPr/>
        <a:lstStyle/>
        <a:p>
          <a:r>
            <a:rPr lang="en-US" sz="1000" b="1" dirty="0"/>
            <a:t>Oversight &amp; Reporting</a:t>
          </a:r>
          <a:endParaRPr lang="en-US" sz="1000" dirty="0"/>
        </a:p>
      </dgm:t>
    </dgm:pt>
    <dgm:pt modelId="{CD211EFD-C41D-4F72-88CD-D92F31D01BEE}" type="parTrans" cxnId="{E71CAF8F-160E-45B3-87E5-7E4264D150F8}">
      <dgm:prSet/>
      <dgm:spPr/>
      <dgm:t>
        <a:bodyPr/>
        <a:lstStyle/>
        <a:p>
          <a:endParaRPr lang="en-US" sz="1000">
            <a:solidFill>
              <a:srgbClr val="1F2933"/>
            </a:solidFill>
          </a:endParaRPr>
        </a:p>
      </dgm:t>
    </dgm:pt>
    <dgm:pt modelId="{E13A0720-6022-4A38-A499-26A98442BB3A}" type="sibTrans" cxnId="{E71CAF8F-160E-45B3-87E5-7E4264D150F8}">
      <dgm:prSet/>
      <dgm:spPr/>
      <dgm:t>
        <a:bodyPr/>
        <a:lstStyle/>
        <a:p>
          <a:endParaRPr lang="en-US" sz="1000">
            <a:solidFill>
              <a:srgbClr val="1F2933"/>
            </a:solidFill>
          </a:endParaRPr>
        </a:p>
      </dgm:t>
    </dgm:pt>
    <dgm:pt modelId="{C6DF2380-7F5D-427C-BF5A-BD0E896D9650}">
      <dgm:prSet custT="1"/>
      <dgm:spPr/>
      <dgm:t>
        <a:bodyPr/>
        <a:lstStyle/>
        <a:p>
          <a:r>
            <a:rPr lang="en-US" sz="800" dirty="0"/>
            <a:t>Monitor structure, performance, and ongoing compliance — with institutional-grade reporting for advisors and clients.</a:t>
          </a:r>
        </a:p>
      </dgm:t>
    </dgm:pt>
    <dgm:pt modelId="{FF582E4D-5EC6-4E8E-8816-93B4BDF6057D}" type="parTrans" cxnId="{A30C8CD4-5D12-43C4-9459-243BAEB481CF}">
      <dgm:prSet/>
      <dgm:spPr/>
      <dgm:t>
        <a:bodyPr/>
        <a:lstStyle/>
        <a:p>
          <a:endParaRPr lang="en-US" sz="1000">
            <a:solidFill>
              <a:srgbClr val="1F2933"/>
            </a:solidFill>
          </a:endParaRPr>
        </a:p>
      </dgm:t>
    </dgm:pt>
    <dgm:pt modelId="{50D4F8DD-6835-4CD8-92D6-CE748CE3F8A4}" type="sibTrans" cxnId="{A30C8CD4-5D12-43C4-9459-243BAEB481CF}">
      <dgm:prSet/>
      <dgm:spPr/>
      <dgm:t>
        <a:bodyPr/>
        <a:lstStyle/>
        <a:p>
          <a:endParaRPr lang="en-US" sz="1000">
            <a:solidFill>
              <a:srgbClr val="1F2933"/>
            </a:solidFill>
          </a:endParaRPr>
        </a:p>
      </dgm:t>
    </dgm:pt>
    <dgm:pt modelId="{FAA815F7-98EB-4ED6-8DEC-582E67DFDE37}">
      <dgm:prSet custT="1"/>
      <dgm:spPr/>
      <dgm:t>
        <a:bodyPr/>
        <a:lstStyle/>
        <a:p>
          <a:r>
            <a:rPr lang="en-US" sz="1000" b="1" dirty="0"/>
            <a:t>Evaluate &amp; Model</a:t>
          </a:r>
          <a:endParaRPr lang="en-US" sz="1000" dirty="0"/>
        </a:p>
      </dgm:t>
    </dgm:pt>
    <dgm:pt modelId="{849658D1-054C-44C0-97FC-02EF980D7300}" type="sibTrans" cxnId="{6F9AC613-E6B3-4E37-B6FD-662E785F952F}">
      <dgm:prSet/>
      <dgm:spPr/>
      <dgm:t>
        <a:bodyPr/>
        <a:lstStyle/>
        <a:p>
          <a:endParaRPr lang="en-US" sz="1000">
            <a:solidFill>
              <a:srgbClr val="1F2933"/>
            </a:solidFill>
          </a:endParaRPr>
        </a:p>
      </dgm:t>
    </dgm:pt>
    <dgm:pt modelId="{7AA80A55-1BA8-4C90-B8A1-4B97661DBC85}" type="parTrans" cxnId="{6F9AC613-E6B3-4E37-B6FD-662E785F952F}">
      <dgm:prSet/>
      <dgm:spPr/>
      <dgm:t>
        <a:bodyPr/>
        <a:lstStyle/>
        <a:p>
          <a:endParaRPr lang="en-US" sz="1000">
            <a:solidFill>
              <a:srgbClr val="1F2933"/>
            </a:solidFill>
          </a:endParaRPr>
        </a:p>
      </dgm:t>
    </dgm:pt>
    <dgm:pt modelId="{360EF56E-B2A8-485A-9E39-F8B307563A60}">
      <dgm:prSet custT="1"/>
      <dgm:spPr/>
      <dgm:t>
        <a:bodyPr/>
        <a:lstStyle/>
        <a:p>
          <a:r>
            <a:rPr lang="en-US" sz="800" dirty="0"/>
            <a:t>Quantify the after-tax impact and determine where private placement creates meaningful structural advantage.</a:t>
          </a:r>
        </a:p>
      </dgm:t>
    </dgm:pt>
    <dgm:pt modelId="{324F591E-C617-454D-8264-4A980A6B3056}" type="sibTrans" cxnId="{4D9780CB-D778-4296-B1B5-DABFC26BEA47}">
      <dgm:prSet/>
      <dgm:spPr/>
      <dgm:t>
        <a:bodyPr/>
        <a:lstStyle/>
        <a:p>
          <a:endParaRPr lang="en-US" sz="1000">
            <a:solidFill>
              <a:srgbClr val="1F2933"/>
            </a:solidFill>
          </a:endParaRPr>
        </a:p>
      </dgm:t>
    </dgm:pt>
    <dgm:pt modelId="{9F9D7C5F-0C65-470B-9A94-08EE6BD8FC41}" type="parTrans" cxnId="{4D9780CB-D778-4296-B1B5-DABFC26BEA47}">
      <dgm:prSet/>
      <dgm:spPr/>
      <dgm:t>
        <a:bodyPr/>
        <a:lstStyle/>
        <a:p>
          <a:endParaRPr lang="en-US" sz="1000">
            <a:solidFill>
              <a:srgbClr val="1F2933"/>
            </a:solidFill>
          </a:endParaRPr>
        </a:p>
      </dgm:t>
    </dgm:pt>
    <dgm:pt modelId="{E115A161-0393-41B0-9F4A-218B28755E32}" type="pres">
      <dgm:prSet presAssocID="{00EF2ECD-9E80-47DE-B94E-D3279A414154}" presName="rootnode" presStyleCnt="0">
        <dgm:presLayoutVars>
          <dgm:chMax/>
          <dgm:chPref/>
          <dgm:dir/>
          <dgm:animLvl val="lvl"/>
        </dgm:presLayoutVars>
      </dgm:prSet>
      <dgm:spPr/>
    </dgm:pt>
    <dgm:pt modelId="{F20ACA12-C951-4231-A445-66A826937ED3}" type="pres">
      <dgm:prSet presAssocID="{FAA815F7-98EB-4ED6-8DEC-582E67DFDE37}" presName="composite" presStyleCnt="0"/>
      <dgm:spPr/>
    </dgm:pt>
    <dgm:pt modelId="{CC3ED606-F8D8-4C0B-8AE6-8DC59BEB9574}" type="pres">
      <dgm:prSet presAssocID="{FAA815F7-98EB-4ED6-8DEC-582E67DFDE37}" presName="LShape" presStyleLbl="alignNode1" presStyleIdx="0" presStyleCnt="7"/>
      <dgm:spPr>
        <a:solidFill>
          <a:srgbClr val="C7CCD1"/>
        </a:solidFill>
        <a:ln>
          <a:noFill/>
        </a:ln>
      </dgm:spPr>
    </dgm:pt>
    <dgm:pt modelId="{9A087983-8064-459A-BA4E-72DFF8150AED}" type="pres">
      <dgm:prSet presAssocID="{FAA815F7-98EB-4ED6-8DEC-582E67DFDE37}" presName="ParentText" presStyleLbl="revTx" presStyleIdx="0" presStyleCnt="4">
        <dgm:presLayoutVars>
          <dgm:chMax val="0"/>
          <dgm:chPref val="0"/>
          <dgm:bulletEnabled val="1"/>
        </dgm:presLayoutVars>
      </dgm:prSet>
      <dgm:spPr/>
    </dgm:pt>
    <dgm:pt modelId="{3EAEDB58-1749-40CC-A557-9637931816E6}" type="pres">
      <dgm:prSet presAssocID="{FAA815F7-98EB-4ED6-8DEC-582E67DFDE37}" presName="Triangle" presStyleLbl="alignNode1" presStyleIdx="1" presStyleCnt="7"/>
      <dgm:spPr>
        <a:solidFill>
          <a:srgbClr val="C7CCD1"/>
        </a:solidFill>
        <a:ln>
          <a:noFill/>
        </a:ln>
      </dgm:spPr>
    </dgm:pt>
    <dgm:pt modelId="{A8C8EABD-BF74-4B64-A73A-636D28833C15}" type="pres">
      <dgm:prSet presAssocID="{849658D1-054C-44C0-97FC-02EF980D7300}" presName="sibTrans" presStyleCnt="0"/>
      <dgm:spPr/>
    </dgm:pt>
    <dgm:pt modelId="{43B8EFC4-C4C4-4874-9637-FE96DC25EBBF}" type="pres">
      <dgm:prSet presAssocID="{849658D1-054C-44C0-97FC-02EF980D7300}" presName="space" presStyleCnt="0"/>
      <dgm:spPr/>
    </dgm:pt>
    <dgm:pt modelId="{3B514EA9-D668-48D0-87D8-B6F775CDDA73}" type="pres">
      <dgm:prSet presAssocID="{E9DB3DF7-757F-4B37-A36B-488B5B75F01B}" presName="composite" presStyleCnt="0"/>
      <dgm:spPr/>
    </dgm:pt>
    <dgm:pt modelId="{254C9897-263B-4504-8B37-111B9AE04F09}" type="pres">
      <dgm:prSet presAssocID="{E9DB3DF7-757F-4B37-A36B-488B5B75F01B}" presName="LShape" presStyleLbl="alignNode1" presStyleIdx="2" presStyleCnt="7"/>
      <dgm:spPr>
        <a:solidFill>
          <a:srgbClr val="C7CCD1"/>
        </a:solidFill>
        <a:ln>
          <a:noFill/>
        </a:ln>
      </dgm:spPr>
    </dgm:pt>
    <dgm:pt modelId="{47F46F6D-B9DE-4F39-BD78-8842B549EAC4}" type="pres">
      <dgm:prSet presAssocID="{E9DB3DF7-757F-4B37-A36B-488B5B75F01B}" presName="ParentText" presStyleLbl="revTx" presStyleIdx="1" presStyleCnt="4">
        <dgm:presLayoutVars>
          <dgm:chMax val="0"/>
          <dgm:chPref val="0"/>
          <dgm:bulletEnabled val="1"/>
        </dgm:presLayoutVars>
      </dgm:prSet>
      <dgm:spPr/>
    </dgm:pt>
    <dgm:pt modelId="{EF12756C-80C2-455B-A135-47A91D950AA5}" type="pres">
      <dgm:prSet presAssocID="{E9DB3DF7-757F-4B37-A36B-488B5B75F01B}" presName="Triangle" presStyleLbl="alignNode1" presStyleIdx="3" presStyleCnt="7"/>
      <dgm:spPr>
        <a:solidFill>
          <a:srgbClr val="C7CCD1"/>
        </a:solidFill>
        <a:ln>
          <a:noFill/>
        </a:ln>
      </dgm:spPr>
    </dgm:pt>
    <dgm:pt modelId="{72FA34D9-F6A1-4FF8-8783-18AC8BAF6A92}" type="pres">
      <dgm:prSet presAssocID="{5A737F50-17F7-45BF-AA72-E2C81956642F}" presName="sibTrans" presStyleCnt="0"/>
      <dgm:spPr/>
    </dgm:pt>
    <dgm:pt modelId="{56EE59CC-D802-4F0E-B282-B0F3B4FDDE0D}" type="pres">
      <dgm:prSet presAssocID="{5A737F50-17F7-45BF-AA72-E2C81956642F}" presName="space" presStyleCnt="0"/>
      <dgm:spPr/>
    </dgm:pt>
    <dgm:pt modelId="{218D2E26-9C7B-449C-8D39-BD27EC2550E5}" type="pres">
      <dgm:prSet presAssocID="{5BBC79BF-F8B1-451D-B81F-FBBEBA7F9644}" presName="composite" presStyleCnt="0"/>
      <dgm:spPr/>
    </dgm:pt>
    <dgm:pt modelId="{43EAC496-5ED9-426E-9DC3-8C7F70E097B8}" type="pres">
      <dgm:prSet presAssocID="{5BBC79BF-F8B1-451D-B81F-FBBEBA7F9644}" presName="LShape" presStyleLbl="alignNode1" presStyleIdx="4" presStyleCnt="7"/>
      <dgm:spPr>
        <a:solidFill>
          <a:srgbClr val="C7CCD1"/>
        </a:solidFill>
        <a:ln>
          <a:noFill/>
        </a:ln>
      </dgm:spPr>
    </dgm:pt>
    <dgm:pt modelId="{86EA4300-1CC0-4841-99F9-D63FA9DF3FFB}" type="pres">
      <dgm:prSet presAssocID="{5BBC79BF-F8B1-451D-B81F-FBBEBA7F9644}" presName="ParentText" presStyleLbl="revTx" presStyleIdx="2" presStyleCnt="4">
        <dgm:presLayoutVars>
          <dgm:chMax val="0"/>
          <dgm:chPref val="0"/>
          <dgm:bulletEnabled val="1"/>
        </dgm:presLayoutVars>
      </dgm:prSet>
      <dgm:spPr/>
    </dgm:pt>
    <dgm:pt modelId="{CAB47B41-EBC5-4FDC-BA1F-61260663864F}" type="pres">
      <dgm:prSet presAssocID="{5BBC79BF-F8B1-451D-B81F-FBBEBA7F9644}" presName="Triangle" presStyleLbl="alignNode1" presStyleIdx="5" presStyleCnt="7"/>
      <dgm:spPr>
        <a:solidFill>
          <a:srgbClr val="C7CCD1"/>
        </a:solidFill>
        <a:ln>
          <a:noFill/>
        </a:ln>
      </dgm:spPr>
    </dgm:pt>
    <dgm:pt modelId="{47D93E1C-1C15-4228-BCE1-6E6A2DDA766C}" type="pres">
      <dgm:prSet presAssocID="{FE19728C-181B-4EC0-9E37-0224649BC2E9}" presName="sibTrans" presStyleCnt="0"/>
      <dgm:spPr/>
    </dgm:pt>
    <dgm:pt modelId="{17171C5C-14E1-4EF1-9F24-086B0367B585}" type="pres">
      <dgm:prSet presAssocID="{FE19728C-181B-4EC0-9E37-0224649BC2E9}" presName="space" presStyleCnt="0"/>
      <dgm:spPr/>
    </dgm:pt>
    <dgm:pt modelId="{A68FC0F6-8B50-4A9B-BCE7-0AE7ABC91810}" type="pres">
      <dgm:prSet presAssocID="{AE4C1A94-272E-4BBE-9581-3067796BFCFB}" presName="composite" presStyleCnt="0"/>
      <dgm:spPr/>
    </dgm:pt>
    <dgm:pt modelId="{0EC41E86-7B81-448D-9901-F0A15707E226}" type="pres">
      <dgm:prSet presAssocID="{AE4C1A94-272E-4BBE-9581-3067796BFCFB}" presName="LShape" presStyleLbl="alignNode1" presStyleIdx="6" presStyleCnt="7"/>
      <dgm:spPr>
        <a:solidFill>
          <a:srgbClr val="C7CCD1"/>
        </a:solidFill>
        <a:ln>
          <a:noFill/>
        </a:ln>
      </dgm:spPr>
    </dgm:pt>
    <dgm:pt modelId="{F8854336-65E8-47EE-B71B-5EB8A27E933C}" type="pres">
      <dgm:prSet presAssocID="{AE4C1A94-272E-4BBE-9581-3067796BFCFB}" presName="ParentText" presStyleLbl="revTx" presStyleIdx="3" presStyleCnt="4">
        <dgm:presLayoutVars>
          <dgm:chMax val="0"/>
          <dgm:chPref val="0"/>
          <dgm:bulletEnabled val="1"/>
        </dgm:presLayoutVars>
      </dgm:prSet>
      <dgm:spPr/>
    </dgm:pt>
  </dgm:ptLst>
  <dgm:cxnLst>
    <dgm:cxn modelId="{6F9AC613-E6B3-4E37-B6FD-662E785F952F}" srcId="{00EF2ECD-9E80-47DE-B94E-D3279A414154}" destId="{FAA815F7-98EB-4ED6-8DEC-582E67DFDE37}" srcOrd="0" destOrd="0" parTransId="{7AA80A55-1BA8-4C90-B8A1-4B97661DBC85}" sibTransId="{849658D1-054C-44C0-97FC-02EF980D7300}"/>
    <dgm:cxn modelId="{FF74951A-64C0-4A0B-A5F0-7B8CC61015CC}" srcId="{00EF2ECD-9E80-47DE-B94E-D3279A414154}" destId="{5BBC79BF-F8B1-451D-B81F-FBBEBA7F9644}" srcOrd="2" destOrd="0" parTransId="{4A8B07A3-C6F6-416D-8C59-CC0E72C86E12}" sibTransId="{FE19728C-181B-4EC0-9E37-0224649BC2E9}"/>
    <dgm:cxn modelId="{DC6E2C67-A4A3-4F9E-B3BB-B36ED8F663A2}" type="presOf" srcId="{FAA815F7-98EB-4ED6-8DEC-582E67DFDE37}" destId="{9A087983-8064-459A-BA4E-72DFF8150AED}" srcOrd="0" destOrd="0" presId="urn:microsoft.com/office/officeart/2009/3/layout/StepUpProcess"/>
    <dgm:cxn modelId="{2787936A-D7FC-4B7E-9A3A-482AAD2C7F8D}" type="presOf" srcId="{AE4C1A94-272E-4BBE-9581-3067796BFCFB}" destId="{F8854336-65E8-47EE-B71B-5EB8A27E933C}" srcOrd="0" destOrd="0" presId="urn:microsoft.com/office/officeart/2009/3/layout/StepUpProcess"/>
    <dgm:cxn modelId="{465D794D-CE6B-4304-8507-148EFEB4EC13}" srcId="{E9DB3DF7-757F-4B37-A36B-488B5B75F01B}" destId="{4A6E4471-D367-4204-B6A3-CC90ED93D24D}" srcOrd="0" destOrd="0" parTransId="{C10B657F-ED67-4DCB-8F55-54C84DA3C18D}" sibTransId="{148A4823-3F02-4CD5-B66C-79106191942F}"/>
    <dgm:cxn modelId="{B4F7506F-7832-4B9D-AFDB-56427FB09615}" srcId="{00EF2ECD-9E80-47DE-B94E-D3279A414154}" destId="{E9DB3DF7-757F-4B37-A36B-488B5B75F01B}" srcOrd="1" destOrd="0" parTransId="{0F4F3B6C-2BF6-4923-895E-2C02C98D5B1A}" sibTransId="{5A737F50-17F7-45BF-AA72-E2C81956642F}"/>
    <dgm:cxn modelId="{8C1F147C-CF2D-421A-B8F4-450B7CD10A85}" srcId="{5BBC79BF-F8B1-451D-B81F-FBBEBA7F9644}" destId="{EB5AB52D-3458-47B3-B5F6-3BC1EB01FFA9}" srcOrd="0" destOrd="0" parTransId="{3DA2C2CE-B964-4FE3-A8C2-B18F59816B2B}" sibTransId="{8DEE4C48-331C-4C52-9C7C-51F367A2BF56}"/>
    <dgm:cxn modelId="{65687E86-AEA8-4EBB-9DF9-F7B0E31DA2C7}" type="presOf" srcId="{4A6E4471-D367-4204-B6A3-CC90ED93D24D}" destId="{47F46F6D-B9DE-4F39-BD78-8842B549EAC4}" srcOrd="0" destOrd="1" presId="urn:microsoft.com/office/officeart/2009/3/layout/StepUpProcess"/>
    <dgm:cxn modelId="{873EA486-B51E-4ACF-B638-D2213EB31072}" type="presOf" srcId="{C6DF2380-7F5D-427C-BF5A-BD0E896D9650}" destId="{F8854336-65E8-47EE-B71B-5EB8A27E933C}" srcOrd="0" destOrd="1" presId="urn:microsoft.com/office/officeart/2009/3/layout/StepUpProcess"/>
    <dgm:cxn modelId="{90A9E08C-ADA8-4C0C-A646-1EC466BCD827}" type="presOf" srcId="{5BBC79BF-F8B1-451D-B81F-FBBEBA7F9644}" destId="{86EA4300-1CC0-4841-99F9-D63FA9DF3FFB}" srcOrd="0" destOrd="0" presId="urn:microsoft.com/office/officeart/2009/3/layout/StepUpProcess"/>
    <dgm:cxn modelId="{E71CAF8F-160E-45B3-87E5-7E4264D150F8}" srcId="{00EF2ECD-9E80-47DE-B94E-D3279A414154}" destId="{AE4C1A94-272E-4BBE-9581-3067796BFCFB}" srcOrd="3" destOrd="0" parTransId="{CD211EFD-C41D-4F72-88CD-D92F31D01BEE}" sibTransId="{E13A0720-6022-4A38-A499-26A98442BB3A}"/>
    <dgm:cxn modelId="{F3780AB5-2D33-47EB-8F49-0A41AE9A44FB}" type="presOf" srcId="{EB5AB52D-3458-47B3-B5F6-3BC1EB01FFA9}" destId="{86EA4300-1CC0-4841-99F9-D63FA9DF3FFB}" srcOrd="0" destOrd="1" presId="urn:microsoft.com/office/officeart/2009/3/layout/StepUpProcess"/>
    <dgm:cxn modelId="{4D9780CB-D778-4296-B1B5-DABFC26BEA47}" srcId="{FAA815F7-98EB-4ED6-8DEC-582E67DFDE37}" destId="{360EF56E-B2A8-485A-9E39-F8B307563A60}" srcOrd="0" destOrd="0" parTransId="{9F9D7C5F-0C65-470B-9A94-08EE6BD8FC41}" sibTransId="{324F591E-C617-454D-8264-4A980A6B3056}"/>
    <dgm:cxn modelId="{A30C8CD4-5D12-43C4-9459-243BAEB481CF}" srcId="{AE4C1A94-272E-4BBE-9581-3067796BFCFB}" destId="{C6DF2380-7F5D-427C-BF5A-BD0E896D9650}" srcOrd="0" destOrd="0" parTransId="{FF582E4D-5EC6-4E8E-8816-93B4BDF6057D}" sibTransId="{50D4F8DD-6835-4CD8-92D6-CE748CE3F8A4}"/>
    <dgm:cxn modelId="{820A4AD6-B8F8-4FA6-B79A-35CEAF4A256E}" type="presOf" srcId="{360EF56E-B2A8-485A-9E39-F8B307563A60}" destId="{9A087983-8064-459A-BA4E-72DFF8150AED}" srcOrd="0" destOrd="1" presId="urn:microsoft.com/office/officeart/2009/3/layout/StepUpProcess"/>
    <dgm:cxn modelId="{D11C89E5-F2DF-45C3-A410-CE379D4F9883}" type="presOf" srcId="{00EF2ECD-9E80-47DE-B94E-D3279A414154}" destId="{E115A161-0393-41B0-9F4A-218B28755E32}" srcOrd="0" destOrd="0" presId="urn:microsoft.com/office/officeart/2009/3/layout/StepUpProcess"/>
    <dgm:cxn modelId="{3F2A24F3-648B-4CF6-AD7D-9AE26DF09613}" type="presOf" srcId="{E9DB3DF7-757F-4B37-A36B-488B5B75F01B}" destId="{47F46F6D-B9DE-4F39-BD78-8842B549EAC4}" srcOrd="0" destOrd="0" presId="urn:microsoft.com/office/officeart/2009/3/layout/StepUpProcess"/>
    <dgm:cxn modelId="{1E777F8A-72D1-4A3D-9097-960CFB313C69}" type="presParOf" srcId="{E115A161-0393-41B0-9F4A-218B28755E32}" destId="{F20ACA12-C951-4231-A445-66A826937ED3}" srcOrd="0" destOrd="0" presId="urn:microsoft.com/office/officeart/2009/3/layout/StepUpProcess"/>
    <dgm:cxn modelId="{3B925B63-F0B6-4A89-A681-A2D9F3642162}" type="presParOf" srcId="{F20ACA12-C951-4231-A445-66A826937ED3}" destId="{CC3ED606-F8D8-4C0B-8AE6-8DC59BEB9574}" srcOrd="0" destOrd="0" presId="urn:microsoft.com/office/officeart/2009/3/layout/StepUpProcess"/>
    <dgm:cxn modelId="{6C9A7247-180F-4736-B6AC-A007AF0C6949}" type="presParOf" srcId="{F20ACA12-C951-4231-A445-66A826937ED3}" destId="{9A087983-8064-459A-BA4E-72DFF8150AED}" srcOrd="1" destOrd="0" presId="urn:microsoft.com/office/officeart/2009/3/layout/StepUpProcess"/>
    <dgm:cxn modelId="{E61B6A1D-664C-4B24-82CC-9D25DABC8058}" type="presParOf" srcId="{F20ACA12-C951-4231-A445-66A826937ED3}" destId="{3EAEDB58-1749-40CC-A557-9637931816E6}" srcOrd="2" destOrd="0" presId="urn:microsoft.com/office/officeart/2009/3/layout/StepUpProcess"/>
    <dgm:cxn modelId="{3EF666F7-5448-41D4-809A-80A13DB53A6E}" type="presParOf" srcId="{E115A161-0393-41B0-9F4A-218B28755E32}" destId="{A8C8EABD-BF74-4B64-A73A-636D28833C15}" srcOrd="1" destOrd="0" presId="urn:microsoft.com/office/officeart/2009/3/layout/StepUpProcess"/>
    <dgm:cxn modelId="{61A88873-C8E4-48C8-908E-F46A67E47C9C}" type="presParOf" srcId="{A8C8EABD-BF74-4B64-A73A-636D28833C15}" destId="{43B8EFC4-C4C4-4874-9637-FE96DC25EBBF}" srcOrd="0" destOrd="0" presId="urn:microsoft.com/office/officeart/2009/3/layout/StepUpProcess"/>
    <dgm:cxn modelId="{97332046-FA73-46F6-BB7C-9D6573AA07D9}" type="presParOf" srcId="{E115A161-0393-41B0-9F4A-218B28755E32}" destId="{3B514EA9-D668-48D0-87D8-B6F775CDDA73}" srcOrd="2" destOrd="0" presId="urn:microsoft.com/office/officeart/2009/3/layout/StepUpProcess"/>
    <dgm:cxn modelId="{A3F94AF1-1576-4F0C-902D-0B1F04B97992}" type="presParOf" srcId="{3B514EA9-D668-48D0-87D8-B6F775CDDA73}" destId="{254C9897-263B-4504-8B37-111B9AE04F09}" srcOrd="0" destOrd="0" presId="urn:microsoft.com/office/officeart/2009/3/layout/StepUpProcess"/>
    <dgm:cxn modelId="{04ABE906-D0EE-435E-B926-0D5B596152B7}" type="presParOf" srcId="{3B514EA9-D668-48D0-87D8-B6F775CDDA73}" destId="{47F46F6D-B9DE-4F39-BD78-8842B549EAC4}" srcOrd="1" destOrd="0" presId="urn:microsoft.com/office/officeart/2009/3/layout/StepUpProcess"/>
    <dgm:cxn modelId="{91BE73E0-118C-4449-BE85-FA6F79A5FD4F}" type="presParOf" srcId="{3B514EA9-D668-48D0-87D8-B6F775CDDA73}" destId="{EF12756C-80C2-455B-A135-47A91D950AA5}" srcOrd="2" destOrd="0" presId="urn:microsoft.com/office/officeart/2009/3/layout/StepUpProcess"/>
    <dgm:cxn modelId="{6E31E296-1625-4320-87F3-02F62B8710D6}" type="presParOf" srcId="{E115A161-0393-41B0-9F4A-218B28755E32}" destId="{72FA34D9-F6A1-4FF8-8783-18AC8BAF6A92}" srcOrd="3" destOrd="0" presId="urn:microsoft.com/office/officeart/2009/3/layout/StepUpProcess"/>
    <dgm:cxn modelId="{F54D0531-B996-43ED-81A1-DCB3BBA19D89}" type="presParOf" srcId="{72FA34D9-F6A1-4FF8-8783-18AC8BAF6A92}" destId="{56EE59CC-D802-4F0E-B282-B0F3B4FDDE0D}" srcOrd="0" destOrd="0" presId="urn:microsoft.com/office/officeart/2009/3/layout/StepUpProcess"/>
    <dgm:cxn modelId="{DAA99A59-395E-4FF2-A1E6-6E97D719C2BB}" type="presParOf" srcId="{E115A161-0393-41B0-9F4A-218B28755E32}" destId="{218D2E26-9C7B-449C-8D39-BD27EC2550E5}" srcOrd="4" destOrd="0" presId="urn:microsoft.com/office/officeart/2009/3/layout/StepUpProcess"/>
    <dgm:cxn modelId="{8B5674B0-EF95-4055-8892-F52B5E38563E}" type="presParOf" srcId="{218D2E26-9C7B-449C-8D39-BD27EC2550E5}" destId="{43EAC496-5ED9-426E-9DC3-8C7F70E097B8}" srcOrd="0" destOrd="0" presId="urn:microsoft.com/office/officeart/2009/3/layout/StepUpProcess"/>
    <dgm:cxn modelId="{18B7475D-7F47-434E-B9EE-4964A745CF31}" type="presParOf" srcId="{218D2E26-9C7B-449C-8D39-BD27EC2550E5}" destId="{86EA4300-1CC0-4841-99F9-D63FA9DF3FFB}" srcOrd="1" destOrd="0" presId="urn:microsoft.com/office/officeart/2009/3/layout/StepUpProcess"/>
    <dgm:cxn modelId="{1EB137B6-D783-4511-96D8-85A20DAC684A}" type="presParOf" srcId="{218D2E26-9C7B-449C-8D39-BD27EC2550E5}" destId="{CAB47B41-EBC5-4FDC-BA1F-61260663864F}" srcOrd="2" destOrd="0" presId="urn:microsoft.com/office/officeart/2009/3/layout/StepUpProcess"/>
    <dgm:cxn modelId="{2F95B07A-8DCE-4D28-87B6-5A3395AC046B}" type="presParOf" srcId="{E115A161-0393-41B0-9F4A-218B28755E32}" destId="{47D93E1C-1C15-4228-BCE1-6E6A2DDA766C}" srcOrd="5" destOrd="0" presId="urn:microsoft.com/office/officeart/2009/3/layout/StepUpProcess"/>
    <dgm:cxn modelId="{BE1267E8-7678-4CD6-8963-FE15B4A75C74}" type="presParOf" srcId="{47D93E1C-1C15-4228-BCE1-6E6A2DDA766C}" destId="{17171C5C-14E1-4EF1-9F24-086B0367B585}" srcOrd="0" destOrd="0" presId="urn:microsoft.com/office/officeart/2009/3/layout/StepUpProcess"/>
    <dgm:cxn modelId="{1CE67779-00E7-48A5-9775-66E39814106D}" type="presParOf" srcId="{E115A161-0393-41B0-9F4A-218B28755E32}" destId="{A68FC0F6-8B50-4A9B-BCE7-0AE7ABC91810}" srcOrd="6" destOrd="0" presId="urn:microsoft.com/office/officeart/2009/3/layout/StepUpProcess"/>
    <dgm:cxn modelId="{45DFF2D1-549B-4AF5-BA2E-17A6F0588BC9}" type="presParOf" srcId="{A68FC0F6-8B50-4A9B-BCE7-0AE7ABC91810}" destId="{0EC41E86-7B81-448D-9901-F0A15707E226}" srcOrd="0" destOrd="0" presId="urn:microsoft.com/office/officeart/2009/3/layout/StepUpProcess"/>
    <dgm:cxn modelId="{4A5023FB-D588-4F0E-8440-5E966F686C37}" type="presParOf" srcId="{A68FC0F6-8B50-4A9B-BCE7-0AE7ABC91810}" destId="{F8854336-65E8-47EE-B71B-5EB8A27E933C}"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E305BF8-29B1-4D80-A525-73737B619798}"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US"/>
        </a:p>
      </dgm:t>
    </dgm:pt>
    <dgm:pt modelId="{61C4F329-D23B-4F12-9295-AA57A4C47974}">
      <dgm:prSet phldrT="[Text]" phldr="0" custT="1"/>
      <dgm:spPr>
        <a:solidFill>
          <a:srgbClr val="C7CCD1"/>
        </a:solidFill>
        <a:ln>
          <a:solidFill>
            <a:srgbClr val="1F2933"/>
          </a:solidFill>
        </a:ln>
      </dgm:spPr>
      <dgm:t>
        <a:bodyPr/>
        <a:lstStyle/>
        <a:p>
          <a:r>
            <a:rPr lang="en-US" sz="1100" dirty="0">
              <a:solidFill>
                <a:srgbClr val="1F2933"/>
              </a:solidFill>
            </a:rPr>
            <a:t>Advisure Tools</a:t>
          </a:r>
        </a:p>
      </dgm:t>
    </dgm:pt>
    <dgm:pt modelId="{09EAB944-293E-47F0-ABB1-A265F7BDB253}" type="parTrans" cxnId="{21E208BC-97B4-480D-8D68-560FC77EE81A}">
      <dgm:prSet/>
      <dgm:spPr/>
      <dgm:t>
        <a:bodyPr/>
        <a:lstStyle/>
        <a:p>
          <a:endParaRPr lang="en-US" sz="2400"/>
        </a:p>
      </dgm:t>
    </dgm:pt>
    <dgm:pt modelId="{85C76121-D171-4A9A-B6D7-E4789370B937}" type="sibTrans" cxnId="{21E208BC-97B4-480D-8D68-560FC77EE81A}">
      <dgm:prSet/>
      <dgm:spPr/>
      <dgm:t>
        <a:bodyPr/>
        <a:lstStyle/>
        <a:p>
          <a:endParaRPr lang="en-US" sz="2400"/>
        </a:p>
      </dgm:t>
    </dgm:pt>
    <dgm:pt modelId="{3E4EEDA0-0652-4980-9C37-23008567BF02}">
      <dgm:prSet phldrT="[Text]" phldr="0" custT="1"/>
      <dgm:spPr>
        <a:solidFill>
          <a:srgbClr val="C7CCD1"/>
        </a:solidFill>
        <a:ln>
          <a:solidFill>
            <a:srgbClr val="1F2933"/>
          </a:solidFill>
        </a:ln>
      </dgm:spPr>
      <dgm:t>
        <a:bodyPr/>
        <a:lstStyle/>
        <a:p>
          <a:r>
            <a:rPr lang="en-US" sz="900" dirty="0">
              <a:solidFill>
                <a:srgbClr val="1F2933"/>
              </a:solidFill>
            </a:rPr>
            <a:t>E-Application</a:t>
          </a:r>
        </a:p>
      </dgm:t>
    </dgm:pt>
    <dgm:pt modelId="{37805D64-2A28-4FC2-90E3-913E31E0B57D}" type="parTrans" cxnId="{1F4C9F19-92DD-461F-BC90-B49401FA1984}">
      <dgm:prSet custT="1"/>
      <dgm:spPr>
        <a:solidFill>
          <a:srgbClr val="C7CCD1"/>
        </a:solidFill>
        <a:ln>
          <a:solidFill>
            <a:srgbClr val="1F2933"/>
          </a:solidFill>
        </a:ln>
      </dgm:spPr>
      <dgm:t>
        <a:bodyPr/>
        <a:lstStyle/>
        <a:p>
          <a:endParaRPr lang="en-US" sz="700">
            <a:solidFill>
              <a:srgbClr val="1F2933"/>
            </a:solidFill>
          </a:endParaRPr>
        </a:p>
      </dgm:t>
    </dgm:pt>
    <dgm:pt modelId="{250C18FC-3091-4997-9B56-706D1779468D}" type="sibTrans" cxnId="{1F4C9F19-92DD-461F-BC90-B49401FA1984}">
      <dgm:prSet/>
      <dgm:spPr/>
      <dgm:t>
        <a:bodyPr/>
        <a:lstStyle/>
        <a:p>
          <a:endParaRPr lang="en-US" sz="2400"/>
        </a:p>
      </dgm:t>
    </dgm:pt>
    <dgm:pt modelId="{41A7BB34-203F-4EC8-8C82-3F8CE06266D1}">
      <dgm:prSet phldrT="[Text]" phldr="0" custT="1"/>
      <dgm:spPr>
        <a:solidFill>
          <a:srgbClr val="C7CCD1"/>
        </a:solidFill>
        <a:ln>
          <a:solidFill>
            <a:srgbClr val="1F2933"/>
          </a:solidFill>
        </a:ln>
      </dgm:spPr>
      <dgm:t>
        <a:bodyPr/>
        <a:lstStyle/>
        <a:p>
          <a:r>
            <a:rPr lang="en-US" sz="900" dirty="0">
              <a:solidFill>
                <a:srgbClr val="1F2933"/>
              </a:solidFill>
            </a:rPr>
            <a:t>Modeling</a:t>
          </a:r>
        </a:p>
      </dgm:t>
    </dgm:pt>
    <dgm:pt modelId="{D6852088-A3EE-4E19-952C-14215C0AE8E1}" type="parTrans" cxnId="{85960193-4C74-4C63-A913-F573567AB5A8}">
      <dgm:prSet custT="1"/>
      <dgm:spPr>
        <a:solidFill>
          <a:srgbClr val="C7CCD1"/>
        </a:solidFill>
        <a:ln>
          <a:solidFill>
            <a:srgbClr val="1F2933"/>
          </a:solidFill>
        </a:ln>
      </dgm:spPr>
      <dgm:t>
        <a:bodyPr/>
        <a:lstStyle/>
        <a:p>
          <a:endParaRPr lang="en-US" sz="700">
            <a:solidFill>
              <a:srgbClr val="1F2933"/>
            </a:solidFill>
          </a:endParaRPr>
        </a:p>
      </dgm:t>
    </dgm:pt>
    <dgm:pt modelId="{1E1386BE-4017-4AAF-B70E-C87F940379E1}" type="sibTrans" cxnId="{85960193-4C74-4C63-A913-F573567AB5A8}">
      <dgm:prSet/>
      <dgm:spPr/>
      <dgm:t>
        <a:bodyPr/>
        <a:lstStyle/>
        <a:p>
          <a:endParaRPr lang="en-US" sz="2400"/>
        </a:p>
      </dgm:t>
    </dgm:pt>
    <dgm:pt modelId="{AFBDCE5B-2BF0-4EEA-B4F2-63DF25EF4F46}">
      <dgm:prSet phldrT="[Text]" phldr="0" custT="1"/>
      <dgm:spPr>
        <a:solidFill>
          <a:srgbClr val="C7CCD1"/>
        </a:solidFill>
        <a:ln>
          <a:solidFill>
            <a:srgbClr val="1F2933"/>
          </a:solidFill>
        </a:ln>
      </dgm:spPr>
      <dgm:t>
        <a:bodyPr/>
        <a:lstStyle/>
        <a:p>
          <a:r>
            <a:rPr lang="en-US" sz="900" dirty="0">
              <a:solidFill>
                <a:srgbClr val="1F2933"/>
              </a:solidFill>
            </a:rPr>
            <a:t>Illustration</a:t>
          </a:r>
        </a:p>
      </dgm:t>
    </dgm:pt>
    <dgm:pt modelId="{B88781BE-DF98-4A00-A2A9-F220CD7FFA47}" type="parTrans" cxnId="{60CDE633-490E-4480-ACE1-6E516E495020}">
      <dgm:prSet custT="1"/>
      <dgm:spPr>
        <a:solidFill>
          <a:srgbClr val="C7CCD1"/>
        </a:solidFill>
        <a:ln>
          <a:solidFill>
            <a:srgbClr val="1F2933"/>
          </a:solidFill>
        </a:ln>
      </dgm:spPr>
      <dgm:t>
        <a:bodyPr/>
        <a:lstStyle/>
        <a:p>
          <a:endParaRPr lang="en-US" sz="700">
            <a:solidFill>
              <a:srgbClr val="1F2933"/>
            </a:solidFill>
          </a:endParaRPr>
        </a:p>
      </dgm:t>
    </dgm:pt>
    <dgm:pt modelId="{D830FC9B-9A51-46D6-8CC1-017B8BC3A7FE}" type="sibTrans" cxnId="{60CDE633-490E-4480-ACE1-6E516E495020}">
      <dgm:prSet/>
      <dgm:spPr/>
      <dgm:t>
        <a:bodyPr/>
        <a:lstStyle/>
        <a:p>
          <a:endParaRPr lang="en-US" sz="2400"/>
        </a:p>
      </dgm:t>
    </dgm:pt>
    <dgm:pt modelId="{E3579B46-6DE9-441D-A609-BE970CD3A6C7}">
      <dgm:prSet phldrT="[Text]" phldr="0" custT="1"/>
      <dgm:spPr>
        <a:solidFill>
          <a:srgbClr val="C7CCD1"/>
        </a:solidFill>
        <a:ln>
          <a:solidFill>
            <a:srgbClr val="1F2933"/>
          </a:solidFill>
        </a:ln>
      </dgm:spPr>
      <dgm:t>
        <a:bodyPr/>
        <a:lstStyle/>
        <a:p>
          <a:r>
            <a:rPr lang="en-US" sz="900" dirty="0">
              <a:solidFill>
                <a:srgbClr val="1F2933"/>
              </a:solidFill>
            </a:rPr>
            <a:t>Workflow Management</a:t>
          </a:r>
        </a:p>
      </dgm:t>
    </dgm:pt>
    <dgm:pt modelId="{EBCC430B-CF1A-4D97-9A1D-E65180B4BC34}" type="parTrans" cxnId="{77999130-26D4-43CF-B1E8-091CA64C5ADA}">
      <dgm:prSet custT="1"/>
      <dgm:spPr>
        <a:solidFill>
          <a:srgbClr val="C7CCD1"/>
        </a:solidFill>
        <a:ln>
          <a:solidFill>
            <a:srgbClr val="1F2933"/>
          </a:solidFill>
        </a:ln>
      </dgm:spPr>
      <dgm:t>
        <a:bodyPr/>
        <a:lstStyle/>
        <a:p>
          <a:endParaRPr lang="en-US" sz="700">
            <a:solidFill>
              <a:srgbClr val="1F2933"/>
            </a:solidFill>
          </a:endParaRPr>
        </a:p>
      </dgm:t>
    </dgm:pt>
    <dgm:pt modelId="{BC6C2B05-E59D-4DE4-B920-CC6B67772F6E}" type="sibTrans" cxnId="{77999130-26D4-43CF-B1E8-091CA64C5ADA}">
      <dgm:prSet/>
      <dgm:spPr/>
      <dgm:t>
        <a:bodyPr/>
        <a:lstStyle/>
        <a:p>
          <a:endParaRPr lang="en-US" sz="2400"/>
        </a:p>
      </dgm:t>
    </dgm:pt>
    <dgm:pt modelId="{04FE414D-D22F-471D-8E8D-1AD17D2E2BC0}">
      <dgm:prSet phldrT="[Text]" phldr="0" custT="1"/>
      <dgm:spPr>
        <a:solidFill>
          <a:srgbClr val="C7CCD1"/>
        </a:solidFill>
        <a:ln>
          <a:solidFill>
            <a:srgbClr val="1F2933"/>
          </a:solidFill>
        </a:ln>
      </dgm:spPr>
      <dgm:t>
        <a:bodyPr/>
        <a:lstStyle/>
        <a:p>
          <a:r>
            <a:rPr lang="en-US" sz="900" dirty="0">
              <a:solidFill>
                <a:srgbClr val="1F2933"/>
              </a:solidFill>
            </a:rPr>
            <a:t>Policy Management</a:t>
          </a:r>
        </a:p>
      </dgm:t>
    </dgm:pt>
    <dgm:pt modelId="{28329F15-975A-4C8C-8213-BD7780931416}" type="parTrans" cxnId="{907B76E2-D986-4F7A-8E8B-02635CE1305F}">
      <dgm:prSet custT="1"/>
      <dgm:spPr>
        <a:solidFill>
          <a:srgbClr val="C7CCD1"/>
        </a:solidFill>
        <a:ln>
          <a:solidFill>
            <a:srgbClr val="1F2933"/>
          </a:solidFill>
        </a:ln>
      </dgm:spPr>
      <dgm:t>
        <a:bodyPr/>
        <a:lstStyle/>
        <a:p>
          <a:endParaRPr lang="en-US" sz="700">
            <a:solidFill>
              <a:srgbClr val="1F2933"/>
            </a:solidFill>
          </a:endParaRPr>
        </a:p>
      </dgm:t>
    </dgm:pt>
    <dgm:pt modelId="{21A56EB9-34DC-44F8-8115-FC64C1ECD473}" type="sibTrans" cxnId="{907B76E2-D986-4F7A-8E8B-02635CE1305F}">
      <dgm:prSet/>
      <dgm:spPr/>
      <dgm:t>
        <a:bodyPr/>
        <a:lstStyle/>
        <a:p>
          <a:endParaRPr lang="en-US" sz="2400"/>
        </a:p>
      </dgm:t>
    </dgm:pt>
    <dgm:pt modelId="{30487731-E66C-45FC-9530-E42B0D801523}" type="pres">
      <dgm:prSet presAssocID="{6E305BF8-29B1-4D80-A525-73737B619798}" presName="cycle" presStyleCnt="0">
        <dgm:presLayoutVars>
          <dgm:chMax val="1"/>
          <dgm:dir/>
          <dgm:animLvl val="ctr"/>
          <dgm:resizeHandles val="exact"/>
        </dgm:presLayoutVars>
      </dgm:prSet>
      <dgm:spPr/>
    </dgm:pt>
    <dgm:pt modelId="{ED54A640-94D8-46BD-9D87-C09BA70835CB}" type="pres">
      <dgm:prSet presAssocID="{61C4F329-D23B-4F12-9295-AA57A4C47974}" presName="centerShape" presStyleLbl="node0" presStyleIdx="0" presStyleCnt="1"/>
      <dgm:spPr/>
    </dgm:pt>
    <dgm:pt modelId="{1735A726-A9EF-440C-9BC8-21AE568FC901}" type="pres">
      <dgm:prSet presAssocID="{37805D64-2A28-4FC2-90E3-913E31E0B57D}" presName="Name9" presStyleLbl="parChTrans1D2" presStyleIdx="0" presStyleCnt="5"/>
      <dgm:spPr/>
    </dgm:pt>
    <dgm:pt modelId="{40ED6615-1764-46E2-B0C1-792ECD96EF85}" type="pres">
      <dgm:prSet presAssocID="{37805D64-2A28-4FC2-90E3-913E31E0B57D}" presName="connTx" presStyleLbl="parChTrans1D2" presStyleIdx="0" presStyleCnt="5"/>
      <dgm:spPr/>
    </dgm:pt>
    <dgm:pt modelId="{02499BC1-AC70-43A3-A907-A1300B05F154}" type="pres">
      <dgm:prSet presAssocID="{3E4EEDA0-0652-4980-9C37-23008567BF02}" presName="node" presStyleLbl="node1" presStyleIdx="0" presStyleCnt="5">
        <dgm:presLayoutVars>
          <dgm:bulletEnabled val="1"/>
        </dgm:presLayoutVars>
      </dgm:prSet>
      <dgm:spPr/>
    </dgm:pt>
    <dgm:pt modelId="{2AFFC936-3ED1-429E-91DC-B160B8A25ADE}" type="pres">
      <dgm:prSet presAssocID="{D6852088-A3EE-4E19-952C-14215C0AE8E1}" presName="Name9" presStyleLbl="parChTrans1D2" presStyleIdx="1" presStyleCnt="5"/>
      <dgm:spPr/>
    </dgm:pt>
    <dgm:pt modelId="{480DCFD9-55BC-43F5-9306-F844C11AE6F7}" type="pres">
      <dgm:prSet presAssocID="{D6852088-A3EE-4E19-952C-14215C0AE8E1}" presName="connTx" presStyleLbl="parChTrans1D2" presStyleIdx="1" presStyleCnt="5"/>
      <dgm:spPr/>
    </dgm:pt>
    <dgm:pt modelId="{1654C781-B585-414A-A75D-49BE7724F2CD}" type="pres">
      <dgm:prSet presAssocID="{41A7BB34-203F-4EC8-8C82-3F8CE06266D1}" presName="node" presStyleLbl="node1" presStyleIdx="1" presStyleCnt="5">
        <dgm:presLayoutVars>
          <dgm:bulletEnabled val="1"/>
        </dgm:presLayoutVars>
      </dgm:prSet>
      <dgm:spPr/>
    </dgm:pt>
    <dgm:pt modelId="{4D785D52-7294-4685-A3E1-43C0C189A1D6}" type="pres">
      <dgm:prSet presAssocID="{B88781BE-DF98-4A00-A2A9-F220CD7FFA47}" presName="Name9" presStyleLbl="parChTrans1D2" presStyleIdx="2" presStyleCnt="5"/>
      <dgm:spPr/>
    </dgm:pt>
    <dgm:pt modelId="{FC0B4F2B-A5F8-4393-A7C3-AD638903BD7A}" type="pres">
      <dgm:prSet presAssocID="{B88781BE-DF98-4A00-A2A9-F220CD7FFA47}" presName="connTx" presStyleLbl="parChTrans1D2" presStyleIdx="2" presStyleCnt="5"/>
      <dgm:spPr/>
    </dgm:pt>
    <dgm:pt modelId="{F2B965D3-ED66-425A-B8E8-ED7A3CEA7802}" type="pres">
      <dgm:prSet presAssocID="{AFBDCE5B-2BF0-4EEA-B4F2-63DF25EF4F46}" presName="node" presStyleLbl="node1" presStyleIdx="2" presStyleCnt="5">
        <dgm:presLayoutVars>
          <dgm:bulletEnabled val="1"/>
        </dgm:presLayoutVars>
      </dgm:prSet>
      <dgm:spPr/>
    </dgm:pt>
    <dgm:pt modelId="{973D49D2-4EB0-4475-91A2-92143782D030}" type="pres">
      <dgm:prSet presAssocID="{EBCC430B-CF1A-4D97-9A1D-E65180B4BC34}" presName="Name9" presStyleLbl="parChTrans1D2" presStyleIdx="3" presStyleCnt="5"/>
      <dgm:spPr/>
    </dgm:pt>
    <dgm:pt modelId="{F7E53CA5-EC18-4B6F-B73E-77AB1708E680}" type="pres">
      <dgm:prSet presAssocID="{EBCC430B-CF1A-4D97-9A1D-E65180B4BC34}" presName="connTx" presStyleLbl="parChTrans1D2" presStyleIdx="3" presStyleCnt="5"/>
      <dgm:spPr/>
    </dgm:pt>
    <dgm:pt modelId="{02577891-59ED-48ED-911F-DB27B1FCEBFE}" type="pres">
      <dgm:prSet presAssocID="{E3579B46-6DE9-441D-A609-BE970CD3A6C7}" presName="node" presStyleLbl="node1" presStyleIdx="3" presStyleCnt="5">
        <dgm:presLayoutVars>
          <dgm:bulletEnabled val="1"/>
        </dgm:presLayoutVars>
      </dgm:prSet>
      <dgm:spPr/>
    </dgm:pt>
    <dgm:pt modelId="{FB711037-9886-4BB6-AD17-5274F91132DF}" type="pres">
      <dgm:prSet presAssocID="{28329F15-975A-4C8C-8213-BD7780931416}" presName="Name9" presStyleLbl="parChTrans1D2" presStyleIdx="4" presStyleCnt="5"/>
      <dgm:spPr/>
    </dgm:pt>
    <dgm:pt modelId="{F2055434-5299-4D4A-96B2-72B97BE04433}" type="pres">
      <dgm:prSet presAssocID="{28329F15-975A-4C8C-8213-BD7780931416}" presName="connTx" presStyleLbl="parChTrans1D2" presStyleIdx="4" presStyleCnt="5"/>
      <dgm:spPr/>
    </dgm:pt>
    <dgm:pt modelId="{6B24029E-9C38-49B7-819C-0B99C0F67226}" type="pres">
      <dgm:prSet presAssocID="{04FE414D-D22F-471D-8E8D-1AD17D2E2BC0}" presName="node" presStyleLbl="node1" presStyleIdx="4" presStyleCnt="5">
        <dgm:presLayoutVars>
          <dgm:bulletEnabled val="1"/>
        </dgm:presLayoutVars>
      </dgm:prSet>
      <dgm:spPr/>
    </dgm:pt>
  </dgm:ptLst>
  <dgm:cxnLst>
    <dgm:cxn modelId="{F9EF6C0A-1D69-456C-996D-19A1BB6BD4EB}" type="presOf" srcId="{04FE414D-D22F-471D-8E8D-1AD17D2E2BC0}" destId="{6B24029E-9C38-49B7-819C-0B99C0F67226}" srcOrd="0" destOrd="0" presId="urn:microsoft.com/office/officeart/2005/8/layout/radial1"/>
    <dgm:cxn modelId="{9239D20B-EB1A-41DA-8863-5B1C68F3E2DC}" type="presOf" srcId="{41A7BB34-203F-4EC8-8C82-3F8CE06266D1}" destId="{1654C781-B585-414A-A75D-49BE7724F2CD}" srcOrd="0" destOrd="0" presId="urn:microsoft.com/office/officeart/2005/8/layout/radial1"/>
    <dgm:cxn modelId="{11309419-1204-4631-A700-AC88C2F095D8}" type="presOf" srcId="{D6852088-A3EE-4E19-952C-14215C0AE8E1}" destId="{2AFFC936-3ED1-429E-91DC-B160B8A25ADE}" srcOrd="0" destOrd="0" presId="urn:microsoft.com/office/officeart/2005/8/layout/radial1"/>
    <dgm:cxn modelId="{1F4C9F19-92DD-461F-BC90-B49401FA1984}" srcId="{61C4F329-D23B-4F12-9295-AA57A4C47974}" destId="{3E4EEDA0-0652-4980-9C37-23008567BF02}" srcOrd="0" destOrd="0" parTransId="{37805D64-2A28-4FC2-90E3-913E31E0B57D}" sibTransId="{250C18FC-3091-4997-9B56-706D1779468D}"/>
    <dgm:cxn modelId="{77999130-26D4-43CF-B1E8-091CA64C5ADA}" srcId="{61C4F329-D23B-4F12-9295-AA57A4C47974}" destId="{E3579B46-6DE9-441D-A609-BE970CD3A6C7}" srcOrd="3" destOrd="0" parTransId="{EBCC430B-CF1A-4D97-9A1D-E65180B4BC34}" sibTransId="{BC6C2B05-E59D-4DE4-B920-CC6B67772F6E}"/>
    <dgm:cxn modelId="{60CDE633-490E-4480-ACE1-6E516E495020}" srcId="{61C4F329-D23B-4F12-9295-AA57A4C47974}" destId="{AFBDCE5B-2BF0-4EEA-B4F2-63DF25EF4F46}" srcOrd="2" destOrd="0" parTransId="{B88781BE-DF98-4A00-A2A9-F220CD7FFA47}" sibTransId="{D830FC9B-9A51-46D6-8CC1-017B8BC3A7FE}"/>
    <dgm:cxn modelId="{2A9F1C38-61FC-4C83-9F9F-95015E02804A}" type="presOf" srcId="{28329F15-975A-4C8C-8213-BD7780931416}" destId="{FB711037-9886-4BB6-AD17-5274F91132DF}" srcOrd="0" destOrd="0" presId="urn:microsoft.com/office/officeart/2005/8/layout/radial1"/>
    <dgm:cxn modelId="{CD8FFD3F-92A6-460A-94E2-E04D0ABCF8C3}" type="presOf" srcId="{EBCC430B-CF1A-4D97-9A1D-E65180B4BC34}" destId="{F7E53CA5-EC18-4B6F-B73E-77AB1708E680}" srcOrd="1" destOrd="0" presId="urn:microsoft.com/office/officeart/2005/8/layout/radial1"/>
    <dgm:cxn modelId="{4A730451-34CE-451B-A3E5-9C8E0798311E}" type="presOf" srcId="{E3579B46-6DE9-441D-A609-BE970CD3A6C7}" destId="{02577891-59ED-48ED-911F-DB27B1FCEBFE}" srcOrd="0" destOrd="0" presId="urn:microsoft.com/office/officeart/2005/8/layout/radial1"/>
    <dgm:cxn modelId="{ACCFD578-3A23-44DB-9BFF-35C6125D6C25}" type="presOf" srcId="{EBCC430B-CF1A-4D97-9A1D-E65180B4BC34}" destId="{973D49D2-4EB0-4475-91A2-92143782D030}" srcOrd="0" destOrd="0" presId="urn:microsoft.com/office/officeart/2005/8/layout/radial1"/>
    <dgm:cxn modelId="{7625A386-6468-4818-95ED-438AA261557E}" type="presOf" srcId="{3E4EEDA0-0652-4980-9C37-23008567BF02}" destId="{02499BC1-AC70-43A3-A907-A1300B05F154}" srcOrd="0" destOrd="0" presId="urn:microsoft.com/office/officeart/2005/8/layout/radial1"/>
    <dgm:cxn modelId="{39340690-CA89-4FCC-BA7D-7C337BB11219}" type="presOf" srcId="{D6852088-A3EE-4E19-952C-14215C0AE8E1}" destId="{480DCFD9-55BC-43F5-9306-F844C11AE6F7}" srcOrd="1" destOrd="0" presId="urn:microsoft.com/office/officeart/2005/8/layout/radial1"/>
    <dgm:cxn modelId="{85960193-4C74-4C63-A913-F573567AB5A8}" srcId="{61C4F329-D23B-4F12-9295-AA57A4C47974}" destId="{41A7BB34-203F-4EC8-8C82-3F8CE06266D1}" srcOrd="1" destOrd="0" parTransId="{D6852088-A3EE-4E19-952C-14215C0AE8E1}" sibTransId="{1E1386BE-4017-4AAF-B70E-C87F940379E1}"/>
    <dgm:cxn modelId="{18CACDA3-0EA8-46BD-BA3B-06305200C371}" type="presOf" srcId="{B88781BE-DF98-4A00-A2A9-F220CD7FFA47}" destId="{4D785D52-7294-4685-A3E1-43C0C189A1D6}" srcOrd="0" destOrd="0" presId="urn:microsoft.com/office/officeart/2005/8/layout/radial1"/>
    <dgm:cxn modelId="{1604DBA4-2F45-4FE3-B6BB-7594B8F4ECED}" type="presOf" srcId="{B88781BE-DF98-4A00-A2A9-F220CD7FFA47}" destId="{FC0B4F2B-A5F8-4393-A7C3-AD638903BD7A}" srcOrd="1" destOrd="0" presId="urn:microsoft.com/office/officeart/2005/8/layout/radial1"/>
    <dgm:cxn modelId="{C1EB0FAC-C741-438B-8823-C7C3671FCC9B}" type="presOf" srcId="{37805D64-2A28-4FC2-90E3-913E31E0B57D}" destId="{40ED6615-1764-46E2-B0C1-792ECD96EF85}" srcOrd="1" destOrd="0" presId="urn:microsoft.com/office/officeart/2005/8/layout/radial1"/>
    <dgm:cxn modelId="{21E208BC-97B4-480D-8D68-560FC77EE81A}" srcId="{6E305BF8-29B1-4D80-A525-73737B619798}" destId="{61C4F329-D23B-4F12-9295-AA57A4C47974}" srcOrd="0" destOrd="0" parTransId="{09EAB944-293E-47F0-ABB1-A265F7BDB253}" sibTransId="{85C76121-D171-4A9A-B6D7-E4789370B937}"/>
    <dgm:cxn modelId="{3F555BBC-738F-4D0B-8E1D-C3C681FEC67D}" type="presOf" srcId="{61C4F329-D23B-4F12-9295-AA57A4C47974}" destId="{ED54A640-94D8-46BD-9D87-C09BA70835CB}" srcOrd="0" destOrd="0" presId="urn:microsoft.com/office/officeart/2005/8/layout/radial1"/>
    <dgm:cxn modelId="{0EAC01C4-9AB7-4906-8456-A927DDC7310B}" type="presOf" srcId="{28329F15-975A-4C8C-8213-BD7780931416}" destId="{F2055434-5299-4D4A-96B2-72B97BE04433}" srcOrd="1" destOrd="0" presId="urn:microsoft.com/office/officeart/2005/8/layout/radial1"/>
    <dgm:cxn modelId="{907B76E2-D986-4F7A-8E8B-02635CE1305F}" srcId="{61C4F329-D23B-4F12-9295-AA57A4C47974}" destId="{04FE414D-D22F-471D-8E8D-1AD17D2E2BC0}" srcOrd="4" destOrd="0" parTransId="{28329F15-975A-4C8C-8213-BD7780931416}" sibTransId="{21A56EB9-34DC-44F8-8115-FC64C1ECD473}"/>
    <dgm:cxn modelId="{2B65ACEC-03BC-4C57-8FB5-50D7A6393489}" type="presOf" srcId="{AFBDCE5B-2BF0-4EEA-B4F2-63DF25EF4F46}" destId="{F2B965D3-ED66-425A-B8E8-ED7A3CEA7802}" srcOrd="0" destOrd="0" presId="urn:microsoft.com/office/officeart/2005/8/layout/radial1"/>
    <dgm:cxn modelId="{5766DBED-B1E2-455A-9722-38510527DD88}" type="presOf" srcId="{6E305BF8-29B1-4D80-A525-73737B619798}" destId="{30487731-E66C-45FC-9530-E42B0D801523}" srcOrd="0" destOrd="0" presId="urn:microsoft.com/office/officeart/2005/8/layout/radial1"/>
    <dgm:cxn modelId="{EB6246FD-0475-439C-A18C-23DC9A1D0CE7}" type="presOf" srcId="{37805D64-2A28-4FC2-90E3-913E31E0B57D}" destId="{1735A726-A9EF-440C-9BC8-21AE568FC901}" srcOrd="0" destOrd="0" presId="urn:microsoft.com/office/officeart/2005/8/layout/radial1"/>
    <dgm:cxn modelId="{A9E15AC9-0398-4B37-A590-3FE025C56600}" type="presParOf" srcId="{30487731-E66C-45FC-9530-E42B0D801523}" destId="{ED54A640-94D8-46BD-9D87-C09BA70835CB}" srcOrd="0" destOrd="0" presId="urn:microsoft.com/office/officeart/2005/8/layout/radial1"/>
    <dgm:cxn modelId="{4EF8CBD7-A956-4424-AC99-669F2ADE8F73}" type="presParOf" srcId="{30487731-E66C-45FC-9530-E42B0D801523}" destId="{1735A726-A9EF-440C-9BC8-21AE568FC901}" srcOrd="1" destOrd="0" presId="urn:microsoft.com/office/officeart/2005/8/layout/radial1"/>
    <dgm:cxn modelId="{301B980E-02F7-425D-800F-B8C319B000AD}" type="presParOf" srcId="{1735A726-A9EF-440C-9BC8-21AE568FC901}" destId="{40ED6615-1764-46E2-B0C1-792ECD96EF85}" srcOrd="0" destOrd="0" presId="urn:microsoft.com/office/officeart/2005/8/layout/radial1"/>
    <dgm:cxn modelId="{7A0ABB0B-52C0-4966-87A8-67252811F2E9}" type="presParOf" srcId="{30487731-E66C-45FC-9530-E42B0D801523}" destId="{02499BC1-AC70-43A3-A907-A1300B05F154}" srcOrd="2" destOrd="0" presId="urn:microsoft.com/office/officeart/2005/8/layout/radial1"/>
    <dgm:cxn modelId="{A28E9688-0AF9-4FC0-8D1D-C391E503028B}" type="presParOf" srcId="{30487731-E66C-45FC-9530-E42B0D801523}" destId="{2AFFC936-3ED1-429E-91DC-B160B8A25ADE}" srcOrd="3" destOrd="0" presId="urn:microsoft.com/office/officeart/2005/8/layout/radial1"/>
    <dgm:cxn modelId="{2B6E2531-82C7-4313-8AB3-B57E90D79B3F}" type="presParOf" srcId="{2AFFC936-3ED1-429E-91DC-B160B8A25ADE}" destId="{480DCFD9-55BC-43F5-9306-F844C11AE6F7}" srcOrd="0" destOrd="0" presId="urn:microsoft.com/office/officeart/2005/8/layout/radial1"/>
    <dgm:cxn modelId="{51F37AC6-9128-40D3-A47D-03CB60DB6DC2}" type="presParOf" srcId="{30487731-E66C-45FC-9530-E42B0D801523}" destId="{1654C781-B585-414A-A75D-49BE7724F2CD}" srcOrd="4" destOrd="0" presId="urn:microsoft.com/office/officeart/2005/8/layout/radial1"/>
    <dgm:cxn modelId="{F9ED19DD-EC7E-42A9-AC77-895445A67E9E}" type="presParOf" srcId="{30487731-E66C-45FC-9530-E42B0D801523}" destId="{4D785D52-7294-4685-A3E1-43C0C189A1D6}" srcOrd="5" destOrd="0" presId="urn:microsoft.com/office/officeart/2005/8/layout/radial1"/>
    <dgm:cxn modelId="{628A0FB4-F72B-470D-BAB6-E5DE23718928}" type="presParOf" srcId="{4D785D52-7294-4685-A3E1-43C0C189A1D6}" destId="{FC0B4F2B-A5F8-4393-A7C3-AD638903BD7A}" srcOrd="0" destOrd="0" presId="urn:microsoft.com/office/officeart/2005/8/layout/radial1"/>
    <dgm:cxn modelId="{3C7B24A8-C7EB-40CF-BF34-3200FF5909E2}" type="presParOf" srcId="{30487731-E66C-45FC-9530-E42B0D801523}" destId="{F2B965D3-ED66-425A-B8E8-ED7A3CEA7802}" srcOrd="6" destOrd="0" presId="urn:microsoft.com/office/officeart/2005/8/layout/radial1"/>
    <dgm:cxn modelId="{DF03AAFB-B08E-42A7-AD50-E5AD2BD3A7A4}" type="presParOf" srcId="{30487731-E66C-45FC-9530-E42B0D801523}" destId="{973D49D2-4EB0-4475-91A2-92143782D030}" srcOrd="7" destOrd="0" presId="urn:microsoft.com/office/officeart/2005/8/layout/radial1"/>
    <dgm:cxn modelId="{B984F874-369F-4C1E-9840-32AD323B2DCB}" type="presParOf" srcId="{973D49D2-4EB0-4475-91A2-92143782D030}" destId="{F7E53CA5-EC18-4B6F-B73E-77AB1708E680}" srcOrd="0" destOrd="0" presId="urn:microsoft.com/office/officeart/2005/8/layout/radial1"/>
    <dgm:cxn modelId="{D0EC4DB1-6091-4D66-A780-1079189DC7A2}" type="presParOf" srcId="{30487731-E66C-45FC-9530-E42B0D801523}" destId="{02577891-59ED-48ED-911F-DB27B1FCEBFE}" srcOrd="8" destOrd="0" presId="urn:microsoft.com/office/officeart/2005/8/layout/radial1"/>
    <dgm:cxn modelId="{78820A94-6628-4915-9DAC-0E342BB48A8F}" type="presParOf" srcId="{30487731-E66C-45FC-9530-E42B0D801523}" destId="{FB711037-9886-4BB6-AD17-5274F91132DF}" srcOrd="9" destOrd="0" presId="urn:microsoft.com/office/officeart/2005/8/layout/radial1"/>
    <dgm:cxn modelId="{62C0D819-F17C-4B84-98EC-5FF62531B41A}" type="presParOf" srcId="{FB711037-9886-4BB6-AD17-5274F91132DF}" destId="{F2055434-5299-4D4A-96B2-72B97BE04433}" srcOrd="0" destOrd="0" presId="urn:microsoft.com/office/officeart/2005/8/layout/radial1"/>
    <dgm:cxn modelId="{F6C12612-BB62-424C-8F7B-22B71A674AE9}" type="presParOf" srcId="{30487731-E66C-45FC-9530-E42B0D801523}" destId="{6B24029E-9C38-49B7-819C-0B99C0F67226}" srcOrd="10" destOrd="0" presId="urn:microsoft.com/office/officeart/2005/8/layout/radial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D37BFD-E6DF-4AD8-85EC-07EA1A769107}" type="doc">
      <dgm:prSet loTypeId="urn:microsoft.com/office/officeart/2005/8/layout/default" loCatId="list" qsTypeId="urn:microsoft.com/office/officeart/2005/8/quickstyle/simple1" qsCatId="simple" csTypeId="urn:microsoft.com/office/officeart/2005/8/colors/accent3_3" csCatId="accent3" phldr="1"/>
      <dgm:spPr/>
      <dgm:t>
        <a:bodyPr/>
        <a:lstStyle/>
        <a:p>
          <a:endParaRPr lang="en-US"/>
        </a:p>
      </dgm:t>
    </dgm:pt>
    <dgm:pt modelId="{8D5504D5-9CEC-4031-A64D-B9809E0B3F6C}">
      <dgm:prSet custT="1"/>
      <dgm:spPr>
        <a:solidFill>
          <a:srgbClr val="C7CCD1"/>
        </a:solidFill>
        <a:ln>
          <a:noFill/>
        </a:ln>
      </dgm:spPr>
      <dgm:t>
        <a:bodyPr/>
        <a:lstStyle/>
        <a:p>
          <a:pPr algn="ctr"/>
          <a:r>
            <a:rPr lang="en-US" sz="1050" b="1" dirty="0">
              <a:solidFill>
                <a:srgbClr val="1F2933"/>
              </a:solidFill>
            </a:rPr>
            <a:t>Sophisticated Design</a:t>
          </a:r>
        </a:p>
        <a:p>
          <a:pPr algn="ctr"/>
          <a:r>
            <a:rPr lang="en-US" sz="900" dirty="0">
              <a:solidFill>
                <a:srgbClr val="1F2933"/>
              </a:solidFill>
            </a:rPr>
            <a:t>Customized structural planning that aligns insurance architecture with institutional investment strategies. </a:t>
          </a:r>
          <a:endParaRPr lang="en-US" sz="1050" dirty="0">
            <a:solidFill>
              <a:srgbClr val="1F2933"/>
            </a:solidFill>
          </a:endParaRPr>
        </a:p>
      </dgm:t>
    </dgm:pt>
    <dgm:pt modelId="{AD8B36C5-3071-43AD-954C-8D998EBDED0D}" type="parTrans" cxnId="{17AB3493-F42A-45A2-835F-2CF11ACEDE35}">
      <dgm:prSet/>
      <dgm:spPr/>
      <dgm:t>
        <a:bodyPr/>
        <a:lstStyle/>
        <a:p>
          <a:endParaRPr lang="en-US"/>
        </a:p>
      </dgm:t>
    </dgm:pt>
    <dgm:pt modelId="{36FC05DE-EF05-4200-B950-3167CA63E41D}" type="sibTrans" cxnId="{17AB3493-F42A-45A2-835F-2CF11ACEDE35}">
      <dgm:prSet/>
      <dgm:spPr/>
      <dgm:t>
        <a:bodyPr/>
        <a:lstStyle/>
        <a:p>
          <a:endParaRPr lang="en-US"/>
        </a:p>
      </dgm:t>
    </dgm:pt>
    <dgm:pt modelId="{686670F1-5533-4414-B151-93A0C5A41E5E}">
      <dgm:prSet custT="1"/>
      <dgm:spPr>
        <a:solidFill>
          <a:srgbClr val="C7CCD1"/>
        </a:solidFill>
        <a:ln>
          <a:noFill/>
        </a:ln>
      </dgm:spPr>
      <dgm:t>
        <a:bodyPr/>
        <a:lstStyle/>
        <a:p>
          <a:pPr algn="ctr"/>
          <a:r>
            <a:rPr lang="en-US" sz="1050" b="1" dirty="0">
              <a:solidFill>
                <a:srgbClr val="1F2933"/>
              </a:solidFill>
            </a:rPr>
            <a:t>Streamlined Implementation</a:t>
          </a:r>
        </a:p>
        <a:p>
          <a:pPr algn="ctr"/>
          <a:r>
            <a:rPr lang="en-US" sz="900" dirty="0">
              <a:solidFill>
                <a:srgbClr val="1F2933"/>
              </a:solidFill>
            </a:rPr>
            <a:t>Centralized workflows for carrier coordination, underwriting, and documentation — reducing friction and operational burden. </a:t>
          </a:r>
          <a:endParaRPr lang="en-US" sz="1050" dirty="0">
            <a:solidFill>
              <a:srgbClr val="1F2933"/>
            </a:solidFill>
          </a:endParaRPr>
        </a:p>
      </dgm:t>
    </dgm:pt>
    <dgm:pt modelId="{5F81E3A6-0AD9-49DE-9C0A-40353E5A2D7F}" type="parTrans" cxnId="{90CBCD1B-9FC7-46BA-BA2B-B554EE2F0282}">
      <dgm:prSet/>
      <dgm:spPr/>
      <dgm:t>
        <a:bodyPr/>
        <a:lstStyle/>
        <a:p>
          <a:endParaRPr lang="en-US"/>
        </a:p>
      </dgm:t>
    </dgm:pt>
    <dgm:pt modelId="{E35EBCBC-7ED3-4F86-9A25-23DE83C83E16}" type="sibTrans" cxnId="{90CBCD1B-9FC7-46BA-BA2B-B554EE2F0282}">
      <dgm:prSet/>
      <dgm:spPr/>
      <dgm:t>
        <a:bodyPr/>
        <a:lstStyle/>
        <a:p>
          <a:endParaRPr lang="en-US"/>
        </a:p>
      </dgm:t>
    </dgm:pt>
    <dgm:pt modelId="{2134F5E2-6E19-462B-B0B8-8F456E554072}">
      <dgm:prSet custT="1"/>
      <dgm:spPr>
        <a:solidFill>
          <a:srgbClr val="C7CCD1"/>
        </a:solidFill>
        <a:ln>
          <a:noFill/>
        </a:ln>
      </dgm:spPr>
      <dgm:t>
        <a:bodyPr/>
        <a:lstStyle/>
        <a:p>
          <a:pPr algn="ctr"/>
          <a:r>
            <a:rPr lang="en-US" sz="1050" b="1" dirty="0">
              <a:solidFill>
                <a:srgbClr val="1F2933"/>
              </a:solidFill>
            </a:rPr>
            <a:t>Ongoing Oversight</a:t>
          </a:r>
        </a:p>
        <a:p>
          <a:pPr algn="ctr"/>
          <a:r>
            <a:rPr lang="en-US" sz="900" dirty="0">
              <a:solidFill>
                <a:srgbClr val="1F2933"/>
              </a:solidFill>
            </a:rPr>
            <a:t>Active monitoring and reporting to ensure the structure continues to achieve client objectives and stays compliant over time. </a:t>
          </a:r>
          <a:endParaRPr lang="en-US" sz="1050" dirty="0">
            <a:solidFill>
              <a:srgbClr val="1F2933"/>
            </a:solidFill>
          </a:endParaRPr>
        </a:p>
      </dgm:t>
    </dgm:pt>
    <dgm:pt modelId="{33DEBAED-C5B2-4A5C-B3E4-C71A5C078838}" type="parTrans" cxnId="{0B18E9CE-39AC-4996-BE28-3A03C20D81E3}">
      <dgm:prSet/>
      <dgm:spPr/>
      <dgm:t>
        <a:bodyPr/>
        <a:lstStyle/>
        <a:p>
          <a:endParaRPr lang="en-US"/>
        </a:p>
      </dgm:t>
    </dgm:pt>
    <dgm:pt modelId="{FB116612-094F-47B6-A732-91AFFEE03C70}" type="sibTrans" cxnId="{0B18E9CE-39AC-4996-BE28-3A03C20D81E3}">
      <dgm:prSet/>
      <dgm:spPr/>
      <dgm:t>
        <a:bodyPr/>
        <a:lstStyle/>
        <a:p>
          <a:endParaRPr lang="en-US"/>
        </a:p>
      </dgm:t>
    </dgm:pt>
    <dgm:pt modelId="{7EBF7D7B-FE42-4D7D-A007-37FBD0663DC2}" type="pres">
      <dgm:prSet presAssocID="{F6D37BFD-E6DF-4AD8-85EC-07EA1A769107}" presName="diagram" presStyleCnt="0">
        <dgm:presLayoutVars>
          <dgm:dir/>
          <dgm:resizeHandles val="exact"/>
        </dgm:presLayoutVars>
      </dgm:prSet>
      <dgm:spPr/>
    </dgm:pt>
    <dgm:pt modelId="{B3437663-7A46-46A0-B22E-3A7FA4771BBB}" type="pres">
      <dgm:prSet presAssocID="{8D5504D5-9CEC-4031-A64D-B9809E0B3F6C}" presName="node" presStyleLbl="node1" presStyleIdx="0" presStyleCnt="3">
        <dgm:presLayoutVars>
          <dgm:bulletEnabled val="1"/>
        </dgm:presLayoutVars>
      </dgm:prSet>
      <dgm:spPr/>
    </dgm:pt>
    <dgm:pt modelId="{4490ABC9-4270-41A8-B1DA-25B9FB2031AB}" type="pres">
      <dgm:prSet presAssocID="{36FC05DE-EF05-4200-B950-3167CA63E41D}" presName="sibTrans" presStyleCnt="0"/>
      <dgm:spPr/>
    </dgm:pt>
    <dgm:pt modelId="{B0F54276-CA5D-4963-9E0B-AC6DF0AE8A8D}" type="pres">
      <dgm:prSet presAssocID="{686670F1-5533-4414-B151-93A0C5A41E5E}" presName="node" presStyleLbl="node1" presStyleIdx="1" presStyleCnt="3">
        <dgm:presLayoutVars>
          <dgm:bulletEnabled val="1"/>
        </dgm:presLayoutVars>
      </dgm:prSet>
      <dgm:spPr/>
    </dgm:pt>
    <dgm:pt modelId="{AF2C6A80-EB2A-40C1-AB56-1AB275FF7E54}" type="pres">
      <dgm:prSet presAssocID="{E35EBCBC-7ED3-4F86-9A25-23DE83C83E16}" presName="sibTrans" presStyleCnt="0"/>
      <dgm:spPr/>
    </dgm:pt>
    <dgm:pt modelId="{F22C3553-CC46-44F1-B384-DB026F4EBB02}" type="pres">
      <dgm:prSet presAssocID="{2134F5E2-6E19-462B-B0B8-8F456E554072}" presName="node" presStyleLbl="node1" presStyleIdx="2" presStyleCnt="3">
        <dgm:presLayoutVars>
          <dgm:bulletEnabled val="1"/>
        </dgm:presLayoutVars>
      </dgm:prSet>
      <dgm:spPr/>
    </dgm:pt>
  </dgm:ptLst>
  <dgm:cxnLst>
    <dgm:cxn modelId="{90CBCD1B-9FC7-46BA-BA2B-B554EE2F0282}" srcId="{F6D37BFD-E6DF-4AD8-85EC-07EA1A769107}" destId="{686670F1-5533-4414-B151-93A0C5A41E5E}" srcOrd="1" destOrd="0" parTransId="{5F81E3A6-0AD9-49DE-9C0A-40353E5A2D7F}" sibTransId="{E35EBCBC-7ED3-4F86-9A25-23DE83C83E16}"/>
    <dgm:cxn modelId="{17AB3493-F42A-45A2-835F-2CF11ACEDE35}" srcId="{F6D37BFD-E6DF-4AD8-85EC-07EA1A769107}" destId="{8D5504D5-9CEC-4031-A64D-B9809E0B3F6C}" srcOrd="0" destOrd="0" parTransId="{AD8B36C5-3071-43AD-954C-8D998EBDED0D}" sibTransId="{36FC05DE-EF05-4200-B950-3167CA63E41D}"/>
    <dgm:cxn modelId="{9B5795A2-6A31-4590-B829-5FC261665557}" type="presOf" srcId="{686670F1-5533-4414-B151-93A0C5A41E5E}" destId="{B0F54276-CA5D-4963-9E0B-AC6DF0AE8A8D}" srcOrd="0" destOrd="0" presId="urn:microsoft.com/office/officeart/2005/8/layout/default"/>
    <dgm:cxn modelId="{DB9588BE-14F9-4FB7-9807-729FB93D124A}" type="presOf" srcId="{2134F5E2-6E19-462B-B0B8-8F456E554072}" destId="{F22C3553-CC46-44F1-B384-DB026F4EBB02}" srcOrd="0" destOrd="0" presId="urn:microsoft.com/office/officeart/2005/8/layout/default"/>
    <dgm:cxn modelId="{0B18E9CE-39AC-4996-BE28-3A03C20D81E3}" srcId="{F6D37BFD-E6DF-4AD8-85EC-07EA1A769107}" destId="{2134F5E2-6E19-462B-B0B8-8F456E554072}" srcOrd="2" destOrd="0" parTransId="{33DEBAED-C5B2-4A5C-B3E4-C71A5C078838}" sibTransId="{FB116612-094F-47B6-A732-91AFFEE03C70}"/>
    <dgm:cxn modelId="{ECF286F3-81DC-435E-A42F-794B95DBCC7F}" type="presOf" srcId="{F6D37BFD-E6DF-4AD8-85EC-07EA1A769107}" destId="{7EBF7D7B-FE42-4D7D-A007-37FBD0663DC2}" srcOrd="0" destOrd="0" presId="urn:microsoft.com/office/officeart/2005/8/layout/default"/>
    <dgm:cxn modelId="{130781FF-7769-4C71-9910-B8484B961AFD}" type="presOf" srcId="{8D5504D5-9CEC-4031-A64D-B9809E0B3F6C}" destId="{B3437663-7A46-46A0-B22E-3A7FA4771BBB}" srcOrd="0" destOrd="0" presId="urn:microsoft.com/office/officeart/2005/8/layout/default"/>
    <dgm:cxn modelId="{B5803556-EBF5-454C-BB5C-45390C1A9B72}" type="presParOf" srcId="{7EBF7D7B-FE42-4D7D-A007-37FBD0663DC2}" destId="{B3437663-7A46-46A0-B22E-3A7FA4771BBB}" srcOrd="0" destOrd="0" presId="urn:microsoft.com/office/officeart/2005/8/layout/default"/>
    <dgm:cxn modelId="{1854E4C3-9F92-40F6-B545-E1FAFFF8F6DD}" type="presParOf" srcId="{7EBF7D7B-FE42-4D7D-A007-37FBD0663DC2}" destId="{4490ABC9-4270-41A8-B1DA-25B9FB2031AB}" srcOrd="1" destOrd="0" presId="urn:microsoft.com/office/officeart/2005/8/layout/default"/>
    <dgm:cxn modelId="{1F097670-488D-4F05-99DC-B25D3A0CCC19}" type="presParOf" srcId="{7EBF7D7B-FE42-4D7D-A007-37FBD0663DC2}" destId="{B0F54276-CA5D-4963-9E0B-AC6DF0AE8A8D}" srcOrd="2" destOrd="0" presId="urn:microsoft.com/office/officeart/2005/8/layout/default"/>
    <dgm:cxn modelId="{EF46BFA6-5765-4E45-9A27-89E646CA5F94}" type="presParOf" srcId="{7EBF7D7B-FE42-4D7D-A007-37FBD0663DC2}" destId="{AF2C6A80-EB2A-40C1-AB56-1AB275FF7E54}" srcOrd="3" destOrd="0" presId="urn:microsoft.com/office/officeart/2005/8/layout/default"/>
    <dgm:cxn modelId="{00A5202A-E88B-4F96-9EAE-B097C5330EE4}" type="presParOf" srcId="{7EBF7D7B-FE42-4D7D-A007-37FBD0663DC2}" destId="{F22C3553-CC46-44F1-B384-DB026F4EBB02}" srcOrd="4" destOrd="0" presId="urn:microsoft.com/office/officeart/2005/8/layout/default"/>
  </dgm:cxnLst>
  <dgm:bg/>
  <dgm:whole>
    <a:ln>
      <a:noFill/>
    </a:ln>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5D3C03D-414B-4C86-84DE-2EF414B89C9A}" type="doc">
      <dgm:prSet loTypeId="urn:microsoft.com/office/officeart/2005/8/layout/process3" loCatId="process" qsTypeId="urn:microsoft.com/office/officeart/2005/8/quickstyle/simple1" qsCatId="simple" csTypeId="urn:microsoft.com/office/officeart/2005/8/colors/accent3_2" csCatId="accent3" phldr="1"/>
      <dgm:spPr/>
      <dgm:t>
        <a:bodyPr/>
        <a:lstStyle/>
        <a:p>
          <a:endParaRPr lang="en-US"/>
        </a:p>
      </dgm:t>
    </dgm:pt>
    <dgm:pt modelId="{9BA030E3-6071-4305-BEE6-8921EEAF03C6}">
      <dgm:prSet/>
      <dgm:spPr/>
      <dgm:t>
        <a:bodyPr/>
        <a:lstStyle/>
        <a:p>
          <a:r>
            <a:rPr lang="en-US" b="1"/>
            <a:t>Case Intake</a:t>
          </a:r>
          <a:endParaRPr lang="en-US"/>
        </a:p>
      </dgm:t>
    </dgm:pt>
    <dgm:pt modelId="{580A1152-298E-40B0-8F37-CDDFA4F8F6C4}" type="parTrans" cxnId="{7226C411-1B59-44E1-B9C0-724F3798347E}">
      <dgm:prSet/>
      <dgm:spPr/>
      <dgm:t>
        <a:bodyPr/>
        <a:lstStyle/>
        <a:p>
          <a:endParaRPr lang="en-US"/>
        </a:p>
      </dgm:t>
    </dgm:pt>
    <dgm:pt modelId="{C5E83D3F-7614-45F9-9C45-4FAAEB650682}" type="sibTrans" cxnId="{7226C411-1B59-44E1-B9C0-724F3798347E}">
      <dgm:prSet/>
      <dgm:spPr/>
      <dgm:t>
        <a:bodyPr/>
        <a:lstStyle/>
        <a:p>
          <a:endParaRPr lang="en-US"/>
        </a:p>
      </dgm:t>
    </dgm:pt>
    <dgm:pt modelId="{F3B6220B-F701-4CA3-9F99-60E8A4E61C0E}">
      <dgm:prSet/>
      <dgm:spPr/>
      <dgm:t>
        <a:bodyPr/>
        <a:lstStyle/>
        <a:p>
          <a:r>
            <a:rPr lang="en-US"/>
            <a:t>Advisors begin by creating or importing a case. A pipeline summary shows pods of </a:t>
          </a:r>
          <a:r>
            <a:rPr lang="en-US" i="1"/>
            <a:t>pending cases</a:t>
          </a:r>
          <a:r>
            <a:rPr lang="en-US"/>
            <a:t> with clear action items. </a:t>
          </a:r>
        </a:p>
      </dgm:t>
    </dgm:pt>
    <dgm:pt modelId="{143AD161-408E-4B20-AC0A-DE464538BCCB}" type="parTrans" cxnId="{0FA5C13D-CC2E-463F-AC67-E7540C292231}">
      <dgm:prSet/>
      <dgm:spPr/>
      <dgm:t>
        <a:bodyPr/>
        <a:lstStyle/>
        <a:p>
          <a:endParaRPr lang="en-US"/>
        </a:p>
      </dgm:t>
    </dgm:pt>
    <dgm:pt modelId="{F1F64C71-AE1E-4D52-956B-6169AF425E23}" type="sibTrans" cxnId="{0FA5C13D-CC2E-463F-AC67-E7540C292231}">
      <dgm:prSet/>
      <dgm:spPr/>
      <dgm:t>
        <a:bodyPr/>
        <a:lstStyle/>
        <a:p>
          <a:endParaRPr lang="en-US"/>
        </a:p>
      </dgm:t>
    </dgm:pt>
    <dgm:pt modelId="{221DE805-ACBD-4A61-AB15-E59CF1EAB66F}">
      <dgm:prSet/>
      <dgm:spPr/>
      <dgm:t>
        <a:bodyPr/>
        <a:lstStyle/>
        <a:p>
          <a:r>
            <a:rPr lang="en-US" b="1"/>
            <a:t>Structural Illustration</a:t>
          </a:r>
          <a:endParaRPr lang="en-US"/>
        </a:p>
      </dgm:t>
    </dgm:pt>
    <dgm:pt modelId="{783ADA42-1FBE-4169-95DA-6EA3D220F68B}" type="parTrans" cxnId="{925C645F-273E-48D2-915E-551789551DFA}">
      <dgm:prSet/>
      <dgm:spPr/>
      <dgm:t>
        <a:bodyPr/>
        <a:lstStyle/>
        <a:p>
          <a:endParaRPr lang="en-US"/>
        </a:p>
      </dgm:t>
    </dgm:pt>
    <dgm:pt modelId="{7D30A6BC-4A9C-4528-9B54-1EC42E5385DE}" type="sibTrans" cxnId="{925C645F-273E-48D2-915E-551789551DFA}">
      <dgm:prSet/>
      <dgm:spPr/>
      <dgm:t>
        <a:bodyPr/>
        <a:lstStyle/>
        <a:p>
          <a:endParaRPr lang="en-US"/>
        </a:p>
      </dgm:t>
    </dgm:pt>
    <dgm:pt modelId="{848DE176-F9B2-40C6-B686-FFBAC426AFA5}">
      <dgm:prSet/>
      <dgm:spPr/>
      <dgm:t>
        <a:bodyPr/>
        <a:lstStyle/>
        <a:p>
          <a:r>
            <a:rPr lang="en-US" dirty="0"/>
            <a:t>Using the illustration tool, advisors define design parameters and produce illustrations that help explain structural outcomes to clients. </a:t>
          </a:r>
        </a:p>
      </dgm:t>
    </dgm:pt>
    <dgm:pt modelId="{2CAD1B8B-494A-44DB-8137-FBFF04F9BE87}" type="parTrans" cxnId="{8CA1B660-4584-4B23-8BA2-7392305F412E}">
      <dgm:prSet/>
      <dgm:spPr/>
      <dgm:t>
        <a:bodyPr/>
        <a:lstStyle/>
        <a:p>
          <a:endParaRPr lang="en-US"/>
        </a:p>
      </dgm:t>
    </dgm:pt>
    <dgm:pt modelId="{39DF2DEC-1102-4B55-858A-0AFF3C5EE409}" type="sibTrans" cxnId="{8CA1B660-4584-4B23-8BA2-7392305F412E}">
      <dgm:prSet/>
      <dgm:spPr/>
      <dgm:t>
        <a:bodyPr/>
        <a:lstStyle/>
        <a:p>
          <a:endParaRPr lang="en-US"/>
        </a:p>
      </dgm:t>
    </dgm:pt>
    <dgm:pt modelId="{B235D91F-0814-4587-905D-26C1D01FFB33}">
      <dgm:prSet/>
      <dgm:spPr/>
      <dgm:t>
        <a:bodyPr/>
        <a:lstStyle/>
        <a:p>
          <a:r>
            <a:rPr lang="en-US" b="1"/>
            <a:t>Application Submission</a:t>
          </a:r>
          <a:endParaRPr lang="en-US"/>
        </a:p>
      </dgm:t>
    </dgm:pt>
    <dgm:pt modelId="{B16BB235-8736-48AF-AD0D-7BA3F81E8936}" type="parTrans" cxnId="{565A85DF-09E1-451A-83DF-F24010D381DA}">
      <dgm:prSet/>
      <dgm:spPr/>
      <dgm:t>
        <a:bodyPr/>
        <a:lstStyle/>
        <a:p>
          <a:endParaRPr lang="en-US"/>
        </a:p>
      </dgm:t>
    </dgm:pt>
    <dgm:pt modelId="{2B8C0AF2-141F-4485-8C4B-19CF6065C875}" type="sibTrans" cxnId="{565A85DF-09E1-451A-83DF-F24010D381DA}">
      <dgm:prSet/>
      <dgm:spPr/>
      <dgm:t>
        <a:bodyPr/>
        <a:lstStyle/>
        <a:p>
          <a:endParaRPr lang="en-US"/>
        </a:p>
      </dgm:t>
    </dgm:pt>
    <dgm:pt modelId="{B51D861B-4246-44B8-927C-B7EAB1A3CF21}">
      <dgm:prSet/>
      <dgm:spPr/>
      <dgm:t>
        <a:bodyPr/>
        <a:lstStyle/>
        <a:p>
          <a:r>
            <a:rPr lang="en-US"/>
            <a:t>Once a design is finalized, advisors proceed to the digital e-app to start electronic policy submission. </a:t>
          </a:r>
        </a:p>
      </dgm:t>
    </dgm:pt>
    <dgm:pt modelId="{D18573FA-8BB1-44CB-B085-AEEC22129E04}" type="parTrans" cxnId="{364A3C13-088C-4423-8D34-3FBDFD7A0DFF}">
      <dgm:prSet/>
      <dgm:spPr/>
      <dgm:t>
        <a:bodyPr/>
        <a:lstStyle/>
        <a:p>
          <a:endParaRPr lang="en-US"/>
        </a:p>
      </dgm:t>
    </dgm:pt>
    <dgm:pt modelId="{DBE4118D-5A1A-4F48-B03E-2E606CC88CF4}" type="sibTrans" cxnId="{364A3C13-088C-4423-8D34-3FBDFD7A0DFF}">
      <dgm:prSet/>
      <dgm:spPr/>
      <dgm:t>
        <a:bodyPr/>
        <a:lstStyle/>
        <a:p>
          <a:endParaRPr lang="en-US"/>
        </a:p>
      </dgm:t>
    </dgm:pt>
    <dgm:pt modelId="{7FB7FCB0-2B7C-4450-8EDE-9CFBA6D11C37}">
      <dgm:prSet/>
      <dgm:spPr/>
      <dgm:t>
        <a:bodyPr/>
        <a:lstStyle/>
        <a:p>
          <a:r>
            <a:rPr lang="en-US" b="1"/>
            <a:t>Policy Tracking &amp; Management</a:t>
          </a:r>
          <a:endParaRPr lang="en-US"/>
        </a:p>
      </dgm:t>
    </dgm:pt>
    <dgm:pt modelId="{5AE207EF-E232-4910-A258-D397C0D4A421}" type="parTrans" cxnId="{9D5C81B9-441B-4A18-8DB2-02BD0DFCE1DB}">
      <dgm:prSet/>
      <dgm:spPr/>
      <dgm:t>
        <a:bodyPr/>
        <a:lstStyle/>
        <a:p>
          <a:endParaRPr lang="en-US"/>
        </a:p>
      </dgm:t>
    </dgm:pt>
    <dgm:pt modelId="{56D01A3E-4077-46AB-A86F-895FA09ED49F}" type="sibTrans" cxnId="{9D5C81B9-441B-4A18-8DB2-02BD0DFCE1DB}">
      <dgm:prSet/>
      <dgm:spPr/>
      <dgm:t>
        <a:bodyPr/>
        <a:lstStyle/>
        <a:p>
          <a:endParaRPr lang="en-US"/>
        </a:p>
      </dgm:t>
    </dgm:pt>
    <dgm:pt modelId="{23E71D04-FE33-4FD3-9A4F-3E30677E19FD}">
      <dgm:prSet/>
      <dgm:spPr/>
      <dgm:t>
        <a:bodyPr/>
        <a:lstStyle/>
        <a:p>
          <a:r>
            <a:rPr lang="en-US"/>
            <a:t>Issued policies and their documentation are accessible in Policy Management, helping advisors monitor performance and compliance. </a:t>
          </a:r>
        </a:p>
      </dgm:t>
    </dgm:pt>
    <dgm:pt modelId="{EADD5BA6-6DCD-4390-8098-618E2C57D0FE}" type="parTrans" cxnId="{41E11D35-26DB-4223-9118-EFFE751BDDEC}">
      <dgm:prSet/>
      <dgm:spPr/>
      <dgm:t>
        <a:bodyPr/>
        <a:lstStyle/>
        <a:p>
          <a:endParaRPr lang="en-US"/>
        </a:p>
      </dgm:t>
    </dgm:pt>
    <dgm:pt modelId="{F08D76B8-02FE-46AF-9CFD-640E516E213A}" type="sibTrans" cxnId="{41E11D35-26DB-4223-9118-EFFE751BDDEC}">
      <dgm:prSet/>
      <dgm:spPr/>
      <dgm:t>
        <a:bodyPr/>
        <a:lstStyle/>
        <a:p>
          <a:endParaRPr lang="en-US"/>
        </a:p>
      </dgm:t>
    </dgm:pt>
    <dgm:pt modelId="{ADF7B33F-AC42-4D89-AFDD-2DCFDE447E8B}" type="pres">
      <dgm:prSet presAssocID="{15D3C03D-414B-4C86-84DE-2EF414B89C9A}" presName="linearFlow" presStyleCnt="0">
        <dgm:presLayoutVars>
          <dgm:dir/>
          <dgm:animLvl val="lvl"/>
          <dgm:resizeHandles val="exact"/>
        </dgm:presLayoutVars>
      </dgm:prSet>
      <dgm:spPr/>
    </dgm:pt>
    <dgm:pt modelId="{8A7C6181-386A-4BF1-B66E-1BCC5ADBCF83}" type="pres">
      <dgm:prSet presAssocID="{9BA030E3-6071-4305-BEE6-8921EEAF03C6}" presName="composite" presStyleCnt="0"/>
      <dgm:spPr/>
    </dgm:pt>
    <dgm:pt modelId="{972F373E-6EEF-47A8-883D-20BAD41944B5}" type="pres">
      <dgm:prSet presAssocID="{9BA030E3-6071-4305-BEE6-8921EEAF03C6}" presName="parTx" presStyleLbl="node1" presStyleIdx="0" presStyleCnt="4">
        <dgm:presLayoutVars>
          <dgm:chMax val="0"/>
          <dgm:chPref val="0"/>
          <dgm:bulletEnabled val="1"/>
        </dgm:presLayoutVars>
      </dgm:prSet>
      <dgm:spPr/>
    </dgm:pt>
    <dgm:pt modelId="{B995909F-576B-4908-89DD-BC181A203639}" type="pres">
      <dgm:prSet presAssocID="{9BA030E3-6071-4305-BEE6-8921EEAF03C6}" presName="parSh" presStyleLbl="node1" presStyleIdx="0" presStyleCnt="4"/>
      <dgm:spPr/>
    </dgm:pt>
    <dgm:pt modelId="{1AD6D014-D7BD-4BD8-8767-E4020A2E771D}" type="pres">
      <dgm:prSet presAssocID="{9BA030E3-6071-4305-BEE6-8921EEAF03C6}" presName="desTx" presStyleLbl="fgAcc1" presStyleIdx="0" presStyleCnt="4">
        <dgm:presLayoutVars>
          <dgm:bulletEnabled val="1"/>
        </dgm:presLayoutVars>
      </dgm:prSet>
      <dgm:spPr/>
    </dgm:pt>
    <dgm:pt modelId="{AE740ED4-08F0-4CC3-B828-CDADB775CABB}" type="pres">
      <dgm:prSet presAssocID="{C5E83D3F-7614-45F9-9C45-4FAAEB650682}" presName="sibTrans" presStyleLbl="sibTrans2D1" presStyleIdx="0" presStyleCnt="3"/>
      <dgm:spPr/>
    </dgm:pt>
    <dgm:pt modelId="{ECD0B6EA-8DCE-4588-9B2B-79171FE4372B}" type="pres">
      <dgm:prSet presAssocID="{C5E83D3F-7614-45F9-9C45-4FAAEB650682}" presName="connTx" presStyleLbl="sibTrans2D1" presStyleIdx="0" presStyleCnt="3"/>
      <dgm:spPr/>
    </dgm:pt>
    <dgm:pt modelId="{952A7607-1EFE-4016-9D61-BF72C09C962B}" type="pres">
      <dgm:prSet presAssocID="{221DE805-ACBD-4A61-AB15-E59CF1EAB66F}" presName="composite" presStyleCnt="0"/>
      <dgm:spPr/>
    </dgm:pt>
    <dgm:pt modelId="{47A9CE7F-D47C-4E39-BE60-1D5B140620CD}" type="pres">
      <dgm:prSet presAssocID="{221DE805-ACBD-4A61-AB15-E59CF1EAB66F}" presName="parTx" presStyleLbl="node1" presStyleIdx="0" presStyleCnt="4">
        <dgm:presLayoutVars>
          <dgm:chMax val="0"/>
          <dgm:chPref val="0"/>
          <dgm:bulletEnabled val="1"/>
        </dgm:presLayoutVars>
      </dgm:prSet>
      <dgm:spPr/>
    </dgm:pt>
    <dgm:pt modelId="{49C92D6E-B22F-4905-9EF9-C219B7DBF350}" type="pres">
      <dgm:prSet presAssocID="{221DE805-ACBD-4A61-AB15-E59CF1EAB66F}" presName="parSh" presStyleLbl="node1" presStyleIdx="1" presStyleCnt="4"/>
      <dgm:spPr/>
    </dgm:pt>
    <dgm:pt modelId="{A029675B-30EB-4A53-B9EC-577D2DAB34C0}" type="pres">
      <dgm:prSet presAssocID="{221DE805-ACBD-4A61-AB15-E59CF1EAB66F}" presName="desTx" presStyleLbl="fgAcc1" presStyleIdx="1" presStyleCnt="4">
        <dgm:presLayoutVars>
          <dgm:bulletEnabled val="1"/>
        </dgm:presLayoutVars>
      </dgm:prSet>
      <dgm:spPr/>
    </dgm:pt>
    <dgm:pt modelId="{285AFE1E-E5F3-4DC1-9DD3-A2AB595BE302}" type="pres">
      <dgm:prSet presAssocID="{7D30A6BC-4A9C-4528-9B54-1EC42E5385DE}" presName="sibTrans" presStyleLbl="sibTrans2D1" presStyleIdx="1" presStyleCnt="3"/>
      <dgm:spPr/>
    </dgm:pt>
    <dgm:pt modelId="{2BF6B4E1-99C0-414E-B87D-6D586C548B86}" type="pres">
      <dgm:prSet presAssocID="{7D30A6BC-4A9C-4528-9B54-1EC42E5385DE}" presName="connTx" presStyleLbl="sibTrans2D1" presStyleIdx="1" presStyleCnt="3"/>
      <dgm:spPr/>
    </dgm:pt>
    <dgm:pt modelId="{0DF04A30-CDF7-4FE9-9B38-3784B86EB26C}" type="pres">
      <dgm:prSet presAssocID="{B235D91F-0814-4587-905D-26C1D01FFB33}" presName="composite" presStyleCnt="0"/>
      <dgm:spPr/>
    </dgm:pt>
    <dgm:pt modelId="{8D388FF9-9B96-4655-88F2-BAC36327C6AF}" type="pres">
      <dgm:prSet presAssocID="{B235D91F-0814-4587-905D-26C1D01FFB33}" presName="parTx" presStyleLbl="node1" presStyleIdx="1" presStyleCnt="4">
        <dgm:presLayoutVars>
          <dgm:chMax val="0"/>
          <dgm:chPref val="0"/>
          <dgm:bulletEnabled val="1"/>
        </dgm:presLayoutVars>
      </dgm:prSet>
      <dgm:spPr/>
    </dgm:pt>
    <dgm:pt modelId="{2E9E725E-8E70-4206-93C3-F18B300CA783}" type="pres">
      <dgm:prSet presAssocID="{B235D91F-0814-4587-905D-26C1D01FFB33}" presName="parSh" presStyleLbl="node1" presStyleIdx="2" presStyleCnt="4"/>
      <dgm:spPr/>
    </dgm:pt>
    <dgm:pt modelId="{9AAFB5FC-E16F-4F57-A080-EA76E918C82B}" type="pres">
      <dgm:prSet presAssocID="{B235D91F-0814-4587-905D-26C1D01FFB33}" presName="desTx" presStyleLbl="fgAcc1" presStyleIdx="2" presStyleCnt="4">
        <dgm:presLayoutVars>
          <dgm:bulletEnabled val="1"/>
        </dgm:presLayoutVars>
      </dgm:prSet>
      <dgm:spPr/>
    </dgm:pt>
    <dgm:pt modelId="{70FED4FC-4797-40AE-AAEF-2DF85FAA49B5}" type="pres">
      <dgm:prSet presAssocID="{2B8C0AF2-141F-4485-8C4B-19CF6065C875}" presName="sibTrans" presStyleLbl="sibTrans2D1" presStyleIdx="2" presStyleCnt="3"/>
      <dgm:spPr/>
    </dgm:pt>
    <dgm:pt modelId="{FEEA945B-AFE2-4498-80C5-D74EF7E0B5F2}" type="pres">
      <dgm:prSet presAssocID="{2B8C0AF2-141F-4485-8C4B-19CF6065C875}" presName="connTx" presStyleLbl="sibTrans2D1" presStyleIdx="2" presStyleCnt="3"/>
      <dgm:spPr/>
    </dgm:pt>
    <dgm:pt modelId="{4327BE4B-8587-440E-A1C8-33C3EDB733D3}" type="pres">
      <dgm:prSet presAssocID="{7FB7FCB0-2B7C-4450-8EDE-9CFBA6D11C37}" presName="composite" presStyleCnt="0"/>
      <dgm:spPr/>
    </dgm:pt>
    <dgm:pt modelId="{EC9AB1F5-5F68-4FC5-9A25-213F053CD712}" type="pres">
      <dgm:prSet presAssocID="{7FB7FCB0-2B7C-4450-8EDE-9CFBA6D11C37}" presName="parTx" presStyleLbl="node1" presStyleIdx="2" presStyleCnt="4">
        <dgm:presLayoutVars>
          <dgm:chMax val="0"/>
          <dgm:chPref val="0"/>
          <dgm:bulletEnabled val="1"/>
        </dgm:presLayoutVars>
      </dgm:prSet>
      <dgm:spPr/>
    </dgm:pt>
    <dgm:pt modelId="{4380F73C-15FA-4F42-8D73-2595734F08C7}" type="pres">
      <dgm:prSet presAssocID="{7FB7FCB0-2B7C-4450-8EDE-9CFBA6D11C37}" presName="parSh" presStyleLbl="node1" presStyleIdx="3" presStyleCnt="4"/>
      <dgm:spPr/>
    </dgm:pt>
    <dgm:pt modelId="{74E2EF89-721F-4030-82D0-260AB11C28F4}" type="pres">
      <dgm:prSet presAssocID="{7FB7FCB0-2B7C-4450-8EDE-9CFBA6D11C37}" presName="desTx" presStyleLbl="fgAcc1" presStyleIdx="3" presStyleCnt="4">
        <dgm:presLayoutVars>
          <dgm:bulletEnabled val="1"/>
        </dgm:presLayoutVars>
      </dgm:prSet>
      <dgm:spPr/>
    </dgm:pt>
  </dgm:ptLst>
  <dgm:cxnLst>
    <dgm:cxn modelId="{8EB6170F-5B8A-4F30-9DAB-0C31CEEB2351}" type="presOf" srcId="{B235D91F-0814-4587-905D-26C1D01FFB33}" destId="{8D388FF9-9B96-4655-88F2-BAC36327C6AF}" srcOrd="0" destOrd="0" presId="urn:microsoft.com/office/officeart/2005/8/layout/process3"/>
    <dgm:cxn modelId="{7226C411-1B59-44E1-B9C0-724F3798347E}" srcId="{15D3C03D-414B-4C86-84DE-2EF414B89C9A}" destId="{9BA030E3-6071-4305-BEE6-8921EEAF03C6}" srcOrd="0" destOrd="0" parTransId="{580A1152-298E-40B0-8F37-CDDFA4F8F6C4}" sibTransId="{C5E83D3F-7614-45F9-9C45-4FAAEB650682}"/>
    <dgm:cxn modelId="{364A3C13-088C-4423-8D34-3FBDFD7A0DFF}" srcId="{B235D91F-0814-4587-905D-26C1D01FFB33}" destId="{B51D861B-4246-44B8-927C-B7EAB1A3CF21}" srcOrd="0" destOrd="0" parTransId="{D18573FA-8BB1-44CB-B085-AEEC22129E04}" sibTransId="{DBE4118D-5A1A-4F48-B03E-2E606CC88CF4}"/>
    <dgm:cxn modelId="{9A43F81A-C670-4936-A6B1-D62226A27F2B}" type="presOf" srcId="{9BA030E3-6071-4305-BEE6-8921EEAF03C6}" destId="{B995909F-576B-4908-89DD-BC181A203639}" srcOrd="1" destOrd="0" presId="urn:microsoft.com/office/officeart/2005/8/layout/process3"/>
    <dgm:cxn modelId="{CB3B8A21-81C8-4EF0-B912-CDFFC384E837}" type="presOf" srcId="{F3B6220B-F701-4CA3-9F99-60E8A4E61C0E}" destId="{1AD6D014-D7BD-4BD8-8767-E4020A2E771D}" srcOrd="0" destOrd="0" presId="urn:microsoft.com/office/officeart/2005/8/layout/process3"/>
    <dgm:cxn modelId="{3E8E7C24-4A41-42CE-8E7A-9EA0BD87637A}" type="presOf" srcId="{C5E83D3F-7614-45F9-9C45-4FAAEB650682}" destId="{ECD0B6EA-8DCE-4588-9B2B-79171FE4372B}" srcOrd="1" destOrd="0" presId="urn:microsoft.com/office/officeart/2005/8/layout/process3"/>
    <dgm:cxn modelId="{05E7A126-D221-4969-826B-A61DE19427B9}" type="presOf" srcId="{221DE805-ACBD-4A61-AB15-E59CF1EAB66F}" destId="{47A9CE7F-D47C-4E39-BE60-1D5B140620CD}" srcOrd="0" destOrd="0" presId="urn:microsoft.com/office/officeart/2005/8/layout/process3"/>
    <dgm:cxn modelId="{A47CB22C-563B-49A2-A2F9-4EE8F647A738}" type="presOf" srcId="{B235D91F-0814-4587-905D-26C1D01FFB33}" destId="{2E9E725E-8E70-4206-93C3-F18B300CA783}" srcOrd="1" destOrd="0" presId="urn:microsoft.com/office/officeart/2005/8/layout/process3"/>
    <dgm:cxn modelId="{41E11D35-26DB-4223-9118-EFFE751BDDEC}" srcId="{7FB7FCB0-2B7C-4450-8EDE-9CFBA6D11C37}" destId="{23E71D04-FE33-4FD3-9A4F-3E30677E19FD}" srcOrd="0" destOrd="0" parTransId="{EADD5BA6-6DCD-4390-8098-618E2C57D0FE}" sibTransId="{F08D76B8-02FE-46AF-9CFD-640E516E213A}"/>
    <dgm:cxn modelId="{0FA5C13D-CC2E-463F-AC67-E7540C292231}" srcId="{9BA030E3-6071-4305-BEE6-8921EEAF03C6}" destId="{F3B6220B-F701-4CA3-9F99-60E8A4E61C0E}" srcOrd="0" destOrd="0" parTransId="{143AD161-408E-4B20-AC0A-DE464538BCCB}" sibTransId="{F1F64C71-AE1E-4D52-956B-6169AF425E23}"/>
    <dgm:cxn modelId="{CEA0E05C-A3C1-4875-ACD3-732EDBF6EB1D}" type="presOf" srcId="{2B8C0AF2-141F-4485-8C4B-19CF6065C875}" destId="{FEEA945B-AFE2-4498-80C5-D74EF7E0B5F2}" srcOrd="1" destOrd="0" presId="urn:microsoft.com/office/officeart/2005/8/layout/process3"/>
    <dgm:cxn modelId="{925C645F-273E-48D2-915E-551789551DFA}" srcId="{15D3C03D-414B-4C86-84DE-2EF414B89C9A}" destId="{221DE805-ACBD-4A61-AB15-E59CF1EAB66F}" srcOrd="1" destOrd="0" parTransId="{783ADA42-1FBE-4169-95DA-6EA3D220F68B}" sibTransId="{7D30A6BC-4A9C-4528-9B54-1EC42E5385DE}"/>
    <dgm:cxn modelId="{F53B545F-5A3D-4977-A2B2-8EB0E482B4B6}" type="presOf" srcId="{7FB7FCB0-2B7C-4450-8EDE-9CFBA6D11C37}" destId="{4380F73C-15FA-4F42-8D73-2595734F08C7}" srcOrd="1" destOrd="0" presId="urn:microsoft.com/office/officeart/2005/8/layout/process3"/>
    <dgm:cxn modelId="{8CA1B660-4584-4B23-8BA2-7392305F412E}" srcId="{221DE805-ACBD-4A61-AB15-E59CF1EAB66F}" destId="{848DE176-F9B2-40C6-B686-FFBAC426AFA5}" srcOrd="0" destOrd="0" parTransId="{2CAD1B8B-494A-44DB-8137-FBFF04F9BE87}" sibTransId="{39DF2DEC-1102-4B55-858A-0AFF3C5EE409}"/>
    <dgm:cxn modelId="{3B0ADE46-79DD-45E9-86BB-28BBA90B05C7}" type="presOf" srcId="{7D30A6BC-4A9C-4528-9B54-1EC42E5385DE}" destId="{2BF6B4E1-99C0-414E-B87D-6D586C548B86}" srcOrd="1" destOrd="0" presId="urn:microsoft.com/office/officeart/2005/8/layout/process3"/>
    <dgm:cxn modelId="{94FF4949-B4C6-416A-89C5-2A5655709466}" type="presOf" srcId="{B51D861B-4246-44B8-927C-B7EAB1A3CF21}" destId="{9AAFB5FC-E16F-4F57-A080-EA76E918C82B}" srcOrd="0" destOrd="0" presId="urn:microsoft.com/office/officeart/2005/8/layout/process3"/>
    <dgm:cxn modelId="{C0FFD979-B5E7-4DE1-A96B-ECECD183DA0A}" type="presOf" srcId="{23E71D04-FE33-4FD3-9A4F-3E30677E19FD}" destId="{74E2EF89-721F-4030-82D0-260AB11C28F4}" srcOrd="0" destOrd="0" presId="urn:microsoft.com/office/officeart/2005/8/layout/process3"/>
    <dgm:cxn modelId="{20F39D7B-47D0-41A8-B62F-06E349A78F5B}" type="presOf" srcId="{7D30A6BC-4A9C-4528-9B54-1EC42E5385DE}" destId="{285AFE1E-E5F3-4DC1-9DD3-A2AB595BE302}" srcOrd="0" destOrd="0" presId="urn:microsoft.com/office/officeart/2005/8/layout/process3"/>
    <dgm:cxn modelId="{94C24291-2918-43F4-A085-6B95855677C7}" type="presOf" srcId="{15D3C03D-414B-4C86-84DE-2EF414B89C9A}" destId="{ADF7B33F-AC42-4D89-AFDD-2DCFDE447E8B}" srcOrd="0" destOrd="0" presId="urn:microsoft.com/office/officeart/2005/8/layout/process3"/>
    <dgm:cxn modelId="{0A1BF09E-1A35-49DF-8821-9C279F4F220F}" type="presOf" srcId="{221DE805-ACBD-4A61-AB15-E59CF1EAB66F}" destId="{49C92D6E-B22F-4905-9EF9-C219B7DBF350}" srcOrd="1" destOrd="0" presId="urn:microsoft.com/office/officeart/2005/8/layout/process3"/>
    <dgm:cxn modelId="{4A85C6B5-42EE-4579-BD43-39E5DC019021}" type="presOf" srcId="{2B8C0AF2-141F-4485-8C4B-19CF6065C875}" destId="{70FED4FC-4797-40AE-AAEF-2DF85FAA49B5}" srcOrd="0" destOrd="0" presId="urn:microsoft.com/office/officeart/2005/8/layout/process3"/>
    <dgm:cxn modelId="{9D5C81B9-441B-4A18-8DB2-02BD0DFCE1DB}" srcId="{15D3C03D-414B-4C86-84DE-2EF414B89C9A}" destId="{7FB7FCB0-2B7C-4450-8EDE-9CFBA6D11C37}" srcOrd="3" destOrd="0" parTransId="{5AE207EF-E232-4910-A258-D397C0D4A421}" sibTransId="{56D01A3E-4077-46AB-A86F-895FA09ED49F}"/>
    <dgm:cxn modelId="{7EDF48BC-5EA2-44F5-ACDC-5E812D21B975}" type="presOf" srcId="{848DE176-F9B2-40C6-B686-FFBAC426AFA5}" destId="{A029675B-30EB-4A53-B9EC-577D2DAB34C0}" srcOrd="0" destOrd="0" presId="urn:microsoft.com/office/officeart/2005/8/layout/process3"/>
    <dgm:cxn modelId="{D20F80DC-A02A-4A85-B9C2-56A4A444B46C}" type="presOf" srcId="{9BA030E3-6071-4305-BEE6-8921EEAF03C6}" destId="{972F373E-6EEF-47A8-883D-20BAD41944B5}" srcOrd="0" destOrd="0" presId="urn:microsoft.com/office/officeart/2005/8/layout/process3"/>
    <dgm:cxn modelId="{565A85DF-09E1-451A-83DF-F24010D381DA}" srcId="{15D3C03D-414B-4C86-84DE-2EF414B89C9A}" destId="{B235D91F-0814-4587-905D-26C1D01FFB33}" srcOrd="2" destOrd="0" parTransId="{B16BB235-8736-48AF-AD0D-7BA3F81E8936}" sibTransId="{2B8C0AF2-141F-4485-8C4B-19CF6065C875}"/>
    <dgm:cxn modelId="{D667D7F8-2324-483E-8873-1239D2EEC55B}" type="presOf" srcId="{7FB7FCB0-2B7C-4450-8EDE-9CFBA6D11C37}" destId="{EC9AB1F5-5F68-4FC5-9A25-213F053CD712}" srcOrd="0" destOrd="0" presId="urn:microsoft.com/office/officeart/2005/8/layout/process3"/>
    <dgm:cxn modelId="{CADA24FB-26DE-49D9-91E6-2B7BFEF6EC08}" type="presOf" srcId="{C5E83D3F-7614-45F9-9C45-4FAAEB650682}" destId="{AE740ED4-08F0-4CC3-B828-CDADB775CABB}" srcOrd="0" destOrd="0" presId="urn:microsoft.com/office/officeart/2005/8/layout/process3"/>
    <dgm:cxn modelId="{D18CE0F7-12BD-46C7-A819-4669B65308C0}" type="presParOf" srcId="{ADF7B33F-AC42-4D89-AFDD-2DCFDE447E8B}" destId="{8A7C6181-386A-4BF1-B66E-1BCC5ADBCF83}" srcOrd="0" destOrd="0" presId="urn:microsoft.com/office/officeart/2005/8/layout/process3"/>
    <dgm:cxn modelId="{60C19178-DCDF-48FF-814A-297672D9D5F7}" type="presParOf" srcId="{8A7C6181-386A-4BF1-B66E-1BCC5ADBCF83}" destId="{972F373E-6EEF-47A8-883D-20BAD41944B5}" srcOrd="0" destOrd="0" presId="urn:microsoft.com/office/officeart/2005/8/layout/process3"/>
    <dgm:cxn modelId="{1583B678-F6F7-461B-8DAD-E9E4DFC4252D}" type="presParOf" srcId="{8A7C6181-386A-4BF1-B66E-1BCC5ADBCF83}" destId="{B995909F-576B-4908-89DD-BC181A203639}" srcOrd="1" destOrd="0" presId="urn:microsoft.com/office/officeart/2005/8/layout/process3"/>
    <dgm:cxn modelId="{69342B8F-B312-44BD-A3F5-B7DCA858F866}" type="presParOf" srcId="{8A7C6181-386A-4BF1-B66E-1BCC5ADBCF83}" destId="{1AD6D014-D7BD-4BD8-8767-E4020A2E771D}" srcOrd="2" destOrd="0" presId="urn:microsoft.com/office/officeart/2005/8/layout/process3"/>
    <dgm:cxn modelId="{F54C3EC9-180B-406D-948F-881982302472}" type="presParOf" srcId="{ADF7B33F-AC42-4D89-AFDD-2DCFDE447E8B}" destId="{AE740ED4-08F0-4CC3-B828-CDADB775CABB}" srcOrd="1" destOrd="0" presId="urn:microsoft.com/office/officeart/2005/8/layout/process3"/>
    <dgm:cxn modelId="{D1BDBC84-4C75-4035-B121-123A16D12AC6}" type="presParOf" srcId="{AE740ED4-08F0-4CC3-B828-CDADB775CABB}" destId="{ECD0B6EA-8DCE-4588-9B2B-79171FE4372B}" srcOrd="0" destOrd="0" presId="urn:microsoft.com/office/officeart/2005/8/layout/process3"/>
    <dgm:cxn modelId="{B2D97FA9-FD63-4D56-8CC7-925115F0E712}" type="presParOf" srcId="{ADF7B33F-AC42-4D89-AFDD-2DCFDE447E8B}" destId="{952A7607-1EFE-4016-9D61-BF72C09C962B}" srcOrd="2" destOrd="0" presId="urn:microsoft.com/office/officeart/2005/8/layout/process3"/>
    <dgm:cxn modelId="{3FB4BE18-2583-4F76-9040-77E2ACFC10FD}" type="presParOf" srcId="{952A7607-1EFE-4016-9D61-BF72C09C962B}" destId="{47A9CE7F-D47C-4E39-BE60-1D5B140620CD}" srcOrd="0" destOrd="0" presId="urn:microsoft.com/office/officeart/2005/8/layout/process3"/>
    <dgm:cxn modelId="{8359F990-71AB-4189-86A6-44162A73ADBD}" type="presParOf" srcId="{952A7607-1EFE-4016-9D61-BF72C09C962B}" destId="{49C92D6E-B22F-4905-9EF9-C219B7DBF350}" srcOrd="1" destOrd="0" presId="urn:microsoft.com/office/officeart/2005/8/layout/process3"/>
    <dgm:cxn modelId="{2CD31BF5-8125-43D0-98CF-ED5DF3E9161F}" type="presParOf" srcId="{952A7607-1EFE-4016-9D61-BF72C09C962B}" destId="{A029675B-30EB-4A53-B9EC-577D2DAB34C0}" srcOrd="2" destOrd="0" presId="urn:microsoft.com/office/officeart/2005/8/layout/process3"/>
    <dgm:cxn modelId="{7305618B-7FCE-4270-93F8-3D8EFFE7A72F}" type="presParOf" srcId="{ADF7B33F-AC42-4D89-AFDD-2DCFDE447E8B}" destId="{285AFE1E-E5F3-4DC1-9DD3-A2AB595BE302}" srcOrd="3" destOrd="0" presId="urn:microsoft.com/office/officeart/2005/8/layout/process3"/>
    <dgm:cxn modelId="{2AF77CE8-97E1-4ECB-84B4-1EFD6DE95E66}" type="presParOf" srcId="{285AFE1E-E5F3-4DC1-9DD3-A2AB595BE302}" destId="{2BF6B4E1-99C0-414E-B87D-6D586C548B86}" srcOrd="0" destOrd="0" presId="urn:microsoft.com/office/officeart/2005/8/layout/process3"/>
    <dgm:cxn modelId="{07622464-DF31-4C9A-8CAA-411E16A68DDA}" type="presParOf" srcId="{ADF7B33F-AC42-4D89-AFDD-2DCFDE447E8B}" destId="{0DF04A30-CDF7-4FE9-9B38-3784B86EB26C}" srcOrd="4" destOrd="0" presId="urn:microsoft.com/office/officeart/2005/8/layout/process3"/>
    <dgm:cxn modelId="{B9E8A912-8F17-48AD-B7F3-9A4A342A77C0}" type="presParOf" srcId="{0DF04A30-CDF7-4FE9-9B38-3784B86EB26C}" destId="{8D388FF9-9B96-4655-88F2-BAC36327C6AF}" srcOrd="0" destOrd="0" presId="urn:microsoft.com/office/officeart/2005/8/layout/process3"/>
    <dgm:cxn modelId="{BACFEBEC-55EE-45CA-9780-DE2FA765EB51}" type="presParOf" srcId="{0DF04A30-CDF7-4FE9-9B38-3784B86EB26C}" destId="{2E9E725E-8E70-4206-93C3-F18B300CA783}" srcOrd="1" destOrd="0" presId="urn:microsoft.com/office/officeart/2005/8/layout/process3"/>
    <dgm:cxn modelId="{9435BA41-50B2-41FB-824E-B2D0A008A7B3}" type="presParOf" srcId="{0DF04A30-CDF7-4FE9-9B38-3784B86EB26C}" destId="{9AAFB5FC-E16F-4F57-A080-EA76E918C82B}" srcOrd="2" destOrd="0" presId="urn:microsoft.com/office/officeart/2005/8/layout/process3"/>
    <dgm:cxn modelId="{70FC9843-676A-4073-92B7-AEF717BF762F}" type="presParOf" srcId="{ADF7B33F-AC42-4D89-AFDD-2DCFDE447E8B}" destId="{70FED4FC-4797-40AE-AAEF-2DF85FAA49B5}" srcOrd="5" destOrd="0" presId="urn:microsoft.com/office/officeart/2005/8/layout/process3"/>
    <dgm:cxn modelId="{99593602-D2EE-4961-BDF7-A0367044F7F4}" type="presParOf" srcId="{70FED4FC-4797-40AE-AAEF-2DF85FAA49B5}" destId="{FEEA945B-AFE2-4498-80C5-D74EF7E0B5F2}" srcOrd="0" destOrd="0" presId="urn:microsoft.com/office/officeart/2005/8/layout/process3"/>
    <dgm:cxn modelId="{443A011F-E0EB-4286-BDB2-F534BA276A11}" type="presParOf" srcId="{ADF7B33F-AC42-4D89-AFDD-2DCFDE447E8B}" destId="{4327BE4B-8587-440E-A1C8-33C3EDB733D3}" srcOrd="6" destOrd="0" presId="urn:microsoft.com/office/officeart/2005/8/layout/process3"/>
    <dgm:cxn modelId="{BF50D775-690A-430C-B6AB-F9F7DE54DF12}" type="presParOf" srcId="{4327BE4B-8587-440E-A1C8-33C3EDB733D3}" destId="{EC9AB1F5-5F68-4FC5-9A25-213F053CD712}" srcOrd="0" destOrd="0" presId="urn:microsoft.com/office/officeart/2005/8/layout/process3"/>
    <dgm:cxn modelId="{B4EA89AB-5490-42CB-890B-5D0B9B345D56}" type="presParOf" srcId="{4327BE4B-8587-440E-A1C8-33C3EDB733D3}" destId="{4380F73C-15FA-4F42-8D73-2595734F08C7}" srcOrd="1" destOrd="0" presId="urn:microsoft.com/office/officeart/2005/8/layout/process3"/>
    <dgm:cxn modelId="{68CDF79A-F7AB-47E8-9388-D77EDB201A00}" type="presParOf" srcId="{4327BE4B-8587-440E-A1C8-33C3EDB733D3}" destId="{74E2EF89-721F-4030-82D0-260AB11C28F4}" srcOrd="2" destOrd="0" presId="urn:microsoft.com/office/officeart/2005/8/layout/process3"/>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3C6A61-FFCA-4CF8-9015-453944EE08A4}">
      <dsp:nvSpPr>
        <dsp:cNvPr id="0" name=""/>
        <dsp:cNvSpPr/>
      </dsp:nvSpPr>
      <dsp:spPr>
        <a:xfrm>
          <a:off x="245987" y="782"/>
          <a:ext cx="3065539" cy="3494733"/>
        </a:xfrm>
        <a:prstGeom prst="flowChartAlternateProcess">
          <a:avLst/>
        </a:prstGeom>
        <a:solidFill>
          <a:srgbClr val="C7CCD1"/>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solidFill>
                <a:srgbClr val="1F2933"/>
              </a:solidFill>
              <a:latin typeface="Inter" panose="02000503000000020004" pitchFamily="2" charset="0"/>
              <a:ea typeface="Inter" panose="02000503000000020004" pitchFamily="2" charset="0"/>
              <a:cs typeface="Inter" panose="02000503000000020004" pitchFamily="2" charset="0"/>
            </a:rPr>
            <a:t>Why Private Placement?</a:t>
          </a:r>
        </a:p>
        <a:p>
          <a:pPr marL="0" lvl="0" indent="0" algn="l" defTabSz="711200">
            <a:lnSpc>
              <a:spcPct val="90000"/>
            </a:lnSpc>
            <a:spcBef>
              <a:spcPct val="0"/>
            </a:spcBef>
            <a:spcAft>
              <a:spcPct val="35000"/>
            </a:spcAft>
            <a:buNone/>
          </a:pPr>
          <a:r>
            <a:rPr lang="en-US" sz="1200" kern="1200" dirty="0">
              <a:solidFill>
                <a:srgbClr val="1F2933"/>
              </a:solidFill>
              <a:latin typeface="Inter" panose="02000503000000020004" pitchFamily="2" charset="0"/>
              <a:ea typeface="Inter" panose="02000503000000020004" pitchFamily="2" charset="0"/>
              <a:cs typeface="Inter" panose="02000503000000020004" pitchFamily="2" charset="0"/>
            </a:rPr>
            <a:t>Better Structure. </a:t>
          </a:r>
          <a:r>
            <a:rPr lang="en-US" sz="1200" b="1" kern="1200" dirty="0">
              <a:solidFill>
                <a:srgbClr val="046A38"/>
              </a:solidFill>
              <a:latin typeface="Inter" panose="02000503000000020004" pitchFamily="2" charset="0"/>
              <a:ea typeface="Inter" panose="02000503000000020004" pitchFamily="2" charset="0"/>
              <a:cs typeface="Inter" panose="02000503000000020004" pitchFamily="2" charset="0"/>
            </a:rPr>
            <a:t>Better Outcomes.</a:t>
          </a:r>
        </a:p>
        <a:p>
          <a:pPr marL="0" lvl="0" indent="0" algn="l" defTabSz="711200">
            <a:lnSpc>
              <a:spcPct val="90000"/>
            </a:lnSpc>
            <a:spcBef>
              <a:spcPct val="0"/>
            </a:spcBef>
            <a:spcAft>
              <a:spcPct val="35000"/>
            </a:spcAft>
            <a:buNone/>
          </a:pPr>
          <a:endParaRPr lang="en-US" sz="1200" kern="1200" dirty="0">
            <a:latin typeface="Inter" panose="02000503000000020004" pitchFamily="2" charset="0"/>
            <a:ea typeface="Inter" panose="02000503000000020004" pitchFamily="2" charset="0"/>
            <a:cs typeface="Inter" panose="02000503000000020004" pitchFamily="2" charset="0"/>
          </a:endParaRPr>
        </a:p>
        <a:p>
          <a:pPr marL="0" lvl="0" indent="0" algn="l" defTabSz="711200">
            <a:lnSpc>
              <a:spcPct val="100000"/>
            </a:lnSpc>
            <a:spcBef>
              <a:spcPct val="0"/>
            </a:spcBef>
            <a:spcAft>
              <a:spcPts val="0"/>
            </a:spcAft>
            <a:buNone/>
          </a:pPr>
          <a:r>
            <a:rPr lang="en-US" sz="1050" kern="1200" dirty="0">
              <a:solidFill>
                <a:srgbClr val="1F2933"/>
              </a:solidFill>
              <a:latin typeface="Inter" panose="02000503000000020004" pitchFamily="2" charset="0"/>
              <a:ea typeface="Inter" panose="02000503000000020004" pitchFamily="2" charset="0"/>
              <a:cs typeface="Inter" panose="02000503000000020004" pitchFamily="2" charset="0"/>
            </a:rPr>
            <a:t>Traditional portfolios are built for pre-tax returns. Private placement is built for after-tax efficiency.</a:t>
          </a:r>
        </a:p>
        <a:p>
          <a:pPr marL="0" lvl="0" indent="0" algn="l" defTabSz="711200">
            <a:lnSpc>
              <a:spcPct val="100000"/>
            </a:lnSpc>
            <a:spcBef>
              <a:spcPct val="0"/>
            </a:spcBef>
            <a:spcAft>
              <a:spcPts val="0"/>
            </a:spcAft>
            <a:buNone/>
          </a:pPr>
          <a:endParaRPr lang="en-US" sz="1050" kern="12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0" lvl="0" indent="0" algn="l" defTabSz="711200">
            <a:lnSpc>
              <a:spcPct val="100000"/>
            </a:lnSpc>
            <a:spcBef>
              <a:spcPct val="0"/>
            </a:spcBef>
            <a:spcAft>
              <a:spcPts val="0"/>
            </a:spcAft>
            <a:buNone/>
          </a:pPr>
          <a:r>
            <a:rPr lang="en-US" sz="1050" kern="1200" dirty="0">
              <a:solidFill>
                <a:srgbClr val="1F2933"/>
              </a:solidFill>
              <a:latin typeface="Inter" panose="02000503000000020004" pitchFamily="2" charset="0"/>
              <a:ea typeface="Inter" panose="02000503000000020004" pitchFamily="2" charset="0"/>
              <a:cs typeface="Inter" panose="02000503000000020004" pitchFamily="2" charset="0"/>
            </a:rPr>
            <a:t>By reducing tax drag and enabling long-term compounding inside an optimized structure, private placement helps accredited investors pursue stronger, more durable outcomes.</a:t>
          </a:r>
          <a:endParaRPr lang="en-US" sz="1050" b="1" kern="1200" dirty="0">
            <a:solidFill>
              <a:srgbClr val="1F2933"/>
            </a:solidFill>
            <a:latin typeface="Inter" panose="02000503000000020004" pitchFamily="2" charset="0"/>
            <a:ea typeface="Inter" panose="02000503000000020004" pitchFamily="2" charset="0"/>
            <a:cs typeface="Inter" panose="02000503000000020004" pitchFamily="2" charset="0"/>
          </a:endParaRPr>
        </a:p>
      </dsp:txBody>
      <dsp:txXfrm>
        <a:off x="395631" y="150426"/>
        <a:ext cx="2766251" cy="3195445"/>
      </dsp:txXfrm>
    </dsp:sp>
    <dsp:sp modelId="{9FA1F5F4-4FB7-443D-B08E-A19154D88F8E}">
      <dsp:nvSpPr>
        <dsp:cNvPr id="0" name=""/>
        <dsp:cNvSpPr/>
      </dsp:nvSpPr>
      <dsp:spPr>
        <a:xfrm>
          <a:off x="3637117" y="782"/>
          <a:ext cx="3065539" cy="3494733"/>
        </a:xfrm>
        <a:prstGeom prst="flowChartAlternateProcess">
          <a:avLst/>
        </a:prstGeom>
        <a:solidFill>
          <a:srgbClr val="F5F7F8"/>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solidFill>
                <a:srgbClr val="1F2933"/>
              </a:solidFill>
              <a:latin typeface="Inter" panose="02000503000000020004" pitchFamily="2" charset="0"/>
              <a:ea typeface="Inter" panose="02000503000000020004" pitchFamily="2" charset="0"/>
              <a:cs typeface="Inter" panose="02000503000000020004" pitchFamily="2" charset="0"/>
            </a:rPr>
            <a:t>Why Advisure?</a:t>
          </a:r>
        </a:p>
        <a:p>
          <a:pPr marL="0" lvl="0" indent="0" algn="l" defTabSz="711200">
            <a:lnSpc>
              <a:spcPct val="90000"/>
            </a:lnSpc>
            <a:spcBef>
              <a:spcPct val="0"/>
            </a:spcBef>
            <a:spcAft>
              <a:spcPct val="35000"/>
            </a:spcAft>
            <a:buNone/>
          </a:pPr>
          <a:r>
            <a:rPr lang="en-US" sz="1200" b="0" kern="1200" dirty="0">
              <a:solidFill>
                <a:srgbClr val="1F2933"/>
              </a:solidFill>
              <a:latin typeface="Inter" panose="02000503000000020004" pitchFamily="2" charset="0"/>
              <a:ea typeface="Inter" panose="02000503000000020004" pitchFamily="2" charset="0"/>
              <a:cs typeface="Inter" panose="02000503000000020004" pitchFamily="2" charset="0"/>
            </a:rPr>
            <a:t>One Platform. </a:t>
          </a:r>
          <a:r>
            <a:rPr lang="en-US" sz="1200" b="1" kern="1200" dirty="0">
              <a:solidFill>
                <a:srgbClr val="046A38"/>
              </a:solidFill>
              <a:latin typeface="Inter" panose="02000503000000020004" pitchFamily="2" charset="0"/>
              <a:ea typeface="Inter" panose="02000503000000020004" pitchFamily="2" charset="0"/>
              <a:cs typeface="Inter" panose="02000503000000020004" pitchFamily="2" charset="0"/>
            </a:rPr>
            <a:t>Start to Finish</a:t>
          </a:r>
          <a:r>
            <a:rPr lang="en-US" sz="1200" b="1" kern="1200" dirty="0">
              <a:solidFill>
                <a:srgbClr val="1F2933"/>
              </a:solidFill>
              <a:latin typeface="Inter" panose="02000503000000020004" pitchFamily="2" charset="0"/>
              <a:ea typeface="Inter" panose="02000503000000020004" pitchFamily="2" charset="0"/>
              <a:cs typeface="Inter" panose="02000503000000020004" pitchFamily="2" charset="0"/>
            </a:rPr>
            <a:t>.</a:t>
          </a:r>
        </a:p>
        <a:p>
          <a:pPr marL="0" lvl="0" indent="0" algn="l" defTabSz="711200">
            <a:lnSpc>
              <a:spcPct val="90000"/>
            </a:lnSpc>
            <a:spcBef>
              <a:spcPct val="0"/>
            </a:spcBef>
            <a:spcAft>
              <a:spcPct val="35000"/>
            </a:spcAft>
            <a:buNone/>
          </a:pPr>
          <a:endParaRPr lang="en-US" sz="1200" b="1" kern="12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0" lvl="1" indent="0" algn="l" defTabSz="466725">
            <a:lnSpc>
              <a:spcPct val="100000"/>
            </a:lnSpc>
            <a:spcBef>
              <a:spcPct val="0"/>
            </a:spcBef>
            <a:spcAft>
              <a:spcPts val="0"/>
            </a:spcAft>
            <a:buNone/>
          </a:pPr>
          <a:r>
            <a:rPr lang="en-US" sz="1050" kern="1200" dirty="0">
              <a:solidFill>
                <a:srgbClr val="1F2933"/>
              </a:solidFill>
              <a:latin typeface="Inter" panose="02000503000000020004" pitchFamily="2" charset="0"/>
              <a:ea typeface="Inter" panose="02000503000000020004" pitchFamily="2" charset="0"/>
              <a:cs typeface="Inter" panose="02000503000000020004" pitchFamily="2" charset="0"/>
            </a:rPr>
            <a:t>Advisure helps RIAs deliver private placement solutions without adding operational burden.</a:t>
          </a:r>
        </a:p>
        <a:p>
          <a:pPr marL="0" lvl="1" indent="0" algn="l" defTabSz="466725">
            <a:lnSpc>
              <a:spcPct val="100000"/>
            </a:lnSpc>
            <a:spcBef>
              <a:spcPct val="0"/>
            </a:spcBef>
            <a:spcAft>
              <a:spcPts val="0"/>
            </a:spcAft>
            <a:buNone/>
          </a:pPr>
          <a:endParaRPr lang="en-US" sz="1050" kern="12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0" lvl="1" indent="0" algn="l" defTabSz="466725">
            <a:lnSpc>
              <a:spcPct val="100000"/>
            </a:lnSpc>
            <a:spcBef>
              <a:spcPct val="0"/>
            </a:spcBef>
            <a:spcAft>
              <a:spcPts val="0"/>
            </a:spcAft>
            <a:buNone/>
          </a:pPr>
          <a:r>
            <a:rPr lang="en-US" sz="1050" kern="1200" dirty="0">
              <a:solidFill>
                <a:srgbClr val="1F2933"/>
              </a:solidFill>
              <a:latin typeface="Inter" panose="02000503000000020004" pitchFamily="2" charset="0"/>
              <a:ea typeface="Inter" panose="02000503000000020004" pitchFamily="2" charset="0"/>
              <a:cs typeface="Inter" panose="02000503000000020004" pitchFamily="2" charset="0"/>
            </a:rPr>
            <a:t>We simplify implementation, align all stakeholders, and provide ongoing oversight — so advisors can stay focused on client relationships and outcomes.</a:t>
          </a:r>
        </a:p>
      </dsp:txBody>
      <dsp:txXfrm>
        <a:off x="3786761" y="150426"/>
        <a:ext cx="2766251" cy="31954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677C3F-66FE-4968-BAEA-C3A552B78228}">
      <dsp:nvSpPr>
        <dsp:cNvPr id="0" name=""/>
        <dsp:cNvSpPr/>
      </dsp:nvSpPr>
      <dsp:spPr>
        <a:xfrm>
          <a:off x="34304" y="1319"/>
          <a:ext cx="1515088" cy="1043896"/>
        </a:xfrm>
        <a:prstGeom prst="roundRect">
          <a:avLst/>
        </a:prstGeom>
        <a:solidFill>
          <a:srgbClr val="F5F7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85E60B-7D30-476D-A583-1037AB219990}">
      <dsp:nvSpPr>
        <dsp:cNvPr id="0" name=""/>
        <dsp:cNvSpPr/>
      </dsp:nvSpPr>
      <dsp:spPr>
        <a:xfrm>
          <a:off x="34304" y="1045215"/>
          <a:ext cx="1515088" cy="562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Inter" panose="02000503000000020004" pitchFamily="2" charset="0"/>
              <a:ea typeface="Inter" panose="02000503000000020004" pitchFamily="2" charset="0"/>
              <a:cs typeface="Inter" panose="02000503000000020004" pitchFamily="2" charset="0"/>
            </a:rPr>
            <a:t>Logo</a:t>
          </a:r>
        </a:p>
      </dsp:txBody>
      <dsp:txXfrm>
        <a:off x="34304" y="1045215"/>
        <a:ext cx="1515088" cy="562097"/>
      </dsp:txXfrm>
    </dsp:sp>
    <dsp:sp modelId="{2CEFF223-6AFC-49EA-B622-63339D72C3BE}">
      <dsp:nvSpPr>
        <dsp:cNvPr id="0" name=""/>
        <dsp:cNvSpPr/>
      </dsp:nvSpPr>
      <dsp:spPr>
        <a:xfrm>
          <a:off x="1700965" y="1319"/>
          <a:ext cx="1515088" cy="1043896"/>
        </a:xfrm>
        <a:prstGeom prst="roundRect">
          <a:avLst/>
        </a:prstGeom>
        <a:solidFill>
          <a:srgbClr val="F5F7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5EEA45-B1AC-40A8-A7E6-B38C73B926D8}">
      <dsp:nvSpPr>
        <dsp:cNvPr id="0" name=""/>
        <dsp:cNvSpPr/>
      </dsp:nvSpPr>
      <dsp:spPr>
        <a:xfrm>
          <a:off x="1700965" y="1045215"/>
          <a:ext cx="1515088" cy="562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Inter" panose="02000503000000020004" pitchFamily="2" charset="0"/>
              <a:ea typeface="Inter" panose="02000503000000020004" pitchFamily="2" charset="0"/>
              <a:cs typeface="Inter" panose="02000503000000020004" pitchFamily="2" charset="0"/>
            </a:rPr>
            <a:t>Logo</a:t>
          </a:r>
        </a:p>
      </dsp:txBody>
      <dsp:txXfrm>
        <a:off x="1700965" y="1045215"/>
        <a:ext cx="1515088" cy="562097"/>
      </dsp:txXfrm>
    </dsp:sp>
    <dsp:sp modelId="{FC85CB63-50FA-452E-9AA0-5286E62C70FD}">
      <dsp:nvSpPr>
        <dsp:cNvPr id="0" name=""/>
        <dsp:cNvSpPr/>
      </dsp:nvSpPr>
      <dsp:spPr>
        <a:xfrm>
          <a:off x="3367626" y="1319"/>
          <a:ext cx="1515088" cy="1043896"/>
        </a:xfrm>
        <a:prstGeom prst="roundRect">
          <a:avLst/>
        </a:prstGeom>
        <a:solidFill>
          <a:srgbClr val="F5F7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32A99F-7806-4E52-90FD-E16A1B5121E0}">
      <dsp:nvSpPr>
        <dsp:cNvPr id="0" name=""/>
        <dsp:cNvSpPr/>
      </dsp:nvSpPr>
      <dsp:spPr>
        <a:xfrm>
          <a:off x="3367626" y="1045215"/>
          <a:ext cx="1515088" cy="562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Inter" panose="02000503000000020004" pitchFamily="2" charset="0"/>
              <a:ea typeface="Inter" panose="02000503000000020004" pitchFamily="2" charset="0"/>
              <a:cs typeface="Inter" panose="02000503000000020004" pitchFamily="2" charset="0"/>
            </a:rPr>
            <a:t>Logo</a:t>
          </a:r>
        </a:p>
      </dsp:txBody>
      <dsp:txXfrm>
        <a:off x="3367626" y="1045215"/>
        <a:ext cx="1515088" cy="562097"/>
      </dsp:txXfrm>
    </dsp:sp>
    <dsp:sp modelId="{6B583F0A-F661-4541-8B12-C4675C567546}">
      <dsp:nvSpPr>
        <dsp:cNvPr id="0" name=""/>
        <dsp:cNvSpPr/>
      </dsp:nvSpPr>
      <dsp:spPr>
        <a:xfrm>
          <a:off x="5034287" y="1319"/>
          <a:ext cx="1515088" cy="1043896"/>
        </a:xfrm>
        <a:prstGeom prst="roundRect">
          <a:avLst/>
        </a:prstGeom>
        <a:solidFill>
          <a:srgbClr val="F5F7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F36B80-EE9D-48FF-BF91-FCC334C73B2F}">
      <dsp:nvSpPr>
        <dsp:cNvPr id="0" name=""/>
        <dsp:cNvSpPr/>
      </dsp:nvSpPr>
      <dsp:spPr>
        <a:xfrm>
          <a:off x="5034287" y="1045215"/>
          <a:ext cx="1515088" cy="562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Inter" panose="02000503000000020004" pitchFamily="2" charset="0"/>
              <a:ea typeface="Inter" panose="02000503000000020004" pitchFamily="2" charset="0"/>
              <a:cs typeface="Inter" panose="02000503000000020004" pitchFamily="2" charset="0"/>
            </a:rPr>
            <a:t>Logo</a:t>
          </a:r>
        </a:p>
      </dsp:txBody>
      <dsp:txXfrm>
        <a:off x="5034287" y="1045215"/>
        <a:ext cx="1515088" cy="562097"/>
      </dsp:txXfrm>
    </dsp:sp>
    <dsp:sp modelId="{7949A4C7-0D6D-4528-B2E3-F5C205DB8DD0}">
      <dsp:nvSpPr>
        <dsp:cNvPr id="0" name=""/>
        <dsp:cNvSpPr/>
      </dsp:nvSpPr>
      <dsp:spPr>
        <a:xfrm>
          <a:off x="34304" y="1758821"/>
          <a:ext cx="1515088" cy="1043896"/>
        </a:xfrm>
        <a:prstGeom prst="roundRect">
          <a:avLst/>
        </a:prstGeom>
        <a:solidFill>
          <a:srgbClr val="F5F7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046932-767B-4100-9174-048A9323304B}">
      <dsp:nvSpPr>
        <dsp:cNvPr id="0" name=""/>
        <dsp:cNvSpPr/>
      </dsp:nvSpPr>
      <dsp:spPr>
        <a:xfrm>
          <a:off x="34304" y="2802717"/>
          <a:ext cx="1515088" cy="562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r>
            <a:rPr lang="en-US" sz="1100" kern="1200">
              <a:latin typeface="Inter" panose="02000503000000020004" pitchFamily="2" charset="0"/>
              <a:ea typeface="Inter" panose="02000503000000020004" pitchFamily="2" charset="0"/>
              <a:cs typeface="Inter" panose="02000503000000020004" pitchFamily="2" charset="0"/>
            </a:rPr>
            <a:t>Logo</a:t>
          </a:r>
        </a:p>
      </dsp:txBody>
      <dsp:txXfrm>
        <a:off x="34304" y="2802717"/>
        <a:ext cx="1515088" cy="562097"/>
      </dsp:txXfrm>
    </dsp:sp>
    <dsp:sp modelId="{F096254E-20FD-407E-B3BA-F87F5D5F33FE}">
      <dsp:nvSpPr>
        <dsp:cNvPr id="0" name=""/>
        <dsp:cNvSpPr/>
      </dsp:nvSpPr>
      <dsp:spPr>
        <a:xfrm>
          <a:off x="1700965" y="1758821"/>
          <a:ext cx="1515088" cy="1043896"/>
        </a:xfrm>
        <a:prstGeom prst="roundRect">
          <a:avLst/>
        </a:prstGeom>
        <a:solidFill>
          <a:srgbClr val="F5F7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57D4EC-2832-4C78-B827-8B9F140A9537}">
      <dsp:nvSpPr>
        <dsp:cNvPr id="0" name=""/>
        <dsp:cNvSpPr/>
      </dsp:nvSpPr>
      <dsp:spPr>
        <a:xfrm>
          <a:off x="1700965" y="2802717"/>
          <a:ext cx="1515088" cy="562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r>
            <a:rPr lang="en-US" sz="1100" kern="1200">
              <a:latin typeface="Inter" panose="02000503000000020004" pitchFamily="2" charset="0"/>
              <a:ea typeface="Inter" panose="02000503000000020004" pitchFamily="2" charset="0"/>
              <a:cs typeface="Inter" panose="02000503000000020004" pitchFamily="2" charset="0"/>
            </a:rPr>
            <a:t>Logo</a:t>
          </a:r>
        </a:p>
      </dsp:txBody>
      <dsp:txXfrm>
        <a:off x="1700965" y="2802717"/>
        <a:ext cx="1515088" cy="562097"/>
      </dsp:txXfrm>
    </dsp:sp>
    <dsp:sp modelId="{5A8D6C06-0921-4079-9C7B-4903E623AB09}">
      <dsp:nvSpPr>
        <dsp:cNvPr id="0" name=""/>
        <dsp:cNvSpPr/>
      </dsp:nvSpPr>
      <dsp:spPr>
        <a:xfrm>
          <a:off x="3367626" y="1758821"/>
          <a:ext cx="1515088" cy="1043896"/>
        </a:xfrm>
        <a:prstGeom prst="roundRect">
          <a:avLst/>
        </a:prstGeom>
        <a:solidFill>
          <a:srgbClr val="F5F7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FB5223-2F9A-4157-BDFA-BA34C5AB3787}">
      <dsp:nvSpPr>
        <dsp:cNvPr id="0" name=""/>
        <dsp:cNvSpPr/>
      </dsp:nvSpPr>
      <dsp:spPr>
        <a:xfrm>
          <a:off x="3367626" y="2802717"/>
          <a:ext cx="1515088" cy="562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r>
            <a:rPr lang="en-US" sz="1100" kern="1200">
              <a:latin typeface="Inter" panose="02000503000000020004" pitchFamily="2" charset="0"/>
              <a:ea typeface="Inter" panose="02000503000000020004" pitchFamily="2" charset="0"/>
              <a:cs typeface="Inter" panose="02000503000000020004" pitchFamily="2" charset="0"/>
            </a:rPr>
            <a:t>Logo</a:t>
          </a:r>
        </a:p>
      </dsp:txBody>
      <dsp:txXfrm>
        <a:off x="3367626" y="2802717"/>
        <a:ext cx="1515088" cy="562097"/>
      </dsp:txXfrm>
    </dsp:sp>
    <dsp:sp modelId="{39753656-2E94-4E78-84E9-35E4DE95C0C1}">
      <dsp:nvSpPr>
        <dsp:cNvPr id="0" name=""/>
        <dsp:cNvSpPr/>
      </dsp:nvSpPr>
      <dsp:spPr>
        <a:xfrm>
          <a:off x="5034287" y="1758821"/>
          <a:ext cx="1515088" cy="1043896"/>
        </a:xfrm>
        <a:prstGeom prst="roundRect">
          <a:avLst/>
        </a:prstGeom>
        <a:solidFill>
          <a:srgbClr val="F5F7F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B8AE39-76DF-4CAD-8261-B794977B8BB0}">
      <dsp:nvSpPr>
        <dsp:cNvPr id="0" name=""/>
        <dsp:cNvSpPr/>
      </dsp:nvSpPr>
      <dsp:spPr>
        <a:xfrm>
          <a:off x="5034287" y="2802717"/>
          <a:ext cx="1515088" cy="562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0" numCol="1" spcCol="1270" anchor="t" anchorCtr="0">
          <a:noAutofit/>
        </a:bodyPr>
        <a:lstStyle/>
        <a:p>
          <a:pPr marL="0" lvl="0" indent="0" algn="ctr" defTabSz="488950">
            <a:lnSpc>
              <a:spcPct val="90000"/>
            </a:lnSpc>
            <a:spcBef>
              <a:spcPct val="0"/>
            </a:spcBef>
            <a:spcAft>
              <a:spcPct val="35000"/>
            </a:spcAft>
            <a:buNone/>
          </a:pPr>
          <a:r>
            <a:rPr lang="en-US" sz="1100" kern="1200">
              <a:latin typeface="Inter" panose="02000503000000020004" pitchFamily="2" charset="0"/>
              <a:ea typeface="Inter" panose="02000503000000020004" pitchFamily="2" charset="0"/>
              <a:cs typeface="Inter" panose="02000503000000020004" pitchFamily="2" charset="0"/>
            </a:rPr>
            <a:t>Logo</a:t>
          </a:r>
        </a:p>
      </dsp:txBody>
      <dsp:txXfrm>
        <a:off x="5034287" y="2802717"/>
        <a:ext cx="1515088" cy="5620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FEEC6-3524-4CA4-BB33-AA05F6BE46CD}">
      <dsp:nvSpPr>
        <dsp:cNvPr id="0" name=""/>
        <dsp:cNvSpPr/>
      </dsp:nvSpPr>
      <dsp:spPr>
        <a:xfrm>
          <a:off x="1175" y="0"/>
          <a:ext cx="1829525" cy="1403988"/>
        </a:xfrm>
        <a:prstGeom prst="roundRect">
          <a:avLst>
            <a:gd name="adj" fmla="val 10000"/>
          </a:avLst>
        </a:prstGeom>
        <a:solidFill>
          <a:srgbClr val="F5F7F8"/>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t" anchorCtr="1">
          <a:noAutofit/>
        </a:bodyPr>
        <a:lstStyle/>
        <a:p>
          <a:pPr marL="0" lvl="0" indent="0" algn="ctr" defTabSz="444500">
            <a:lnSpc>
              <a:spcPct val="90000"/>
            </a:lnSpc>
            <a:spcBef>
              <a:spcPct val="0"/>
            </a:spcBef>
            <a:spcAft>
              <a:spcPct val="35000"/>
            </a:spcAft>
            <a:buNone/>
          </a:pPr>
          <a:r>
            <a:rPr lang="en-US" sz="1000" b="1" kern="1200" dirty="0">
              <a:solidFill>
                <a:srgbClr val="1F2933"/>
              </a:solidFill>
            </a:rPr>
            <a:t>Carrier Coordination</a:t>
          </a:r>
        </a:p>
        <a:p>
          <a:pPr marL="57150" lvl="1" indent="-57150" algn="ctr" defTabSz="355600">
            <a:lnSpc>
              <a:spcPct val="90000"/>
            </a:lnSpc>
            <a:spcBef>
              <a:spcPct val="0"/>
            </a:spcBef>
            <a:spcAft>
              <a:spcPct val="15000"/>
            </a:spcAft>
            <a:buClr>
              <a:srgbClr val="C9A24D"/>
            </a:buClr>
            <a:buFont typeface="Wingdings" panose="05000000000000000000" pitchFamily="2" charset="2"/>
            <a:buChar char="ü"/>
          </a:pPr>
          <a:r>
            <a:rPr lang="en-US" sz="800" kern="1200" dirty="0">
              <a:solidFill>
                <a:srgbClr val="1F2933"/>
              </a:solidFill>
            </a:rPr>
            <a:t>Align insurance carriers with portfolio design</a:t>
          </a:r>
        </a:p>
      </dsp:txBody>
      <dsp:txXfrm>
        <a:off x="1175" y="561595"/>
        <a:ext cx="1829525" cy="561595"/>
      </dsp:txXfrm>
    </dsp:sp>
    <dsp:sp modelId="{9F198DF6-9CA6-4E0D-B608-7F1FAD41D146}">
      <dsp:nvSpPr>
        <dsp:cNvPr id="0" name=""/>
        <dsp:cNvSpPr/>
      </dsp:nvSpPr>
      <dsp:spPr>
        <a:xfrm>
          <a:off x="682174" y="84239"/>
          <a:ext cx="467528" cy="46752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9F18EEDB-AACA-4073-9DA8-BC529E8E6365}">
      <dsp:nvSpPr>
        <dsp:cNvPr id="0" name=""/>
        <dsp:cNvSpPr/>
      </dsp:nvSpPr>
      <dsp:spPr>
        <a:xfrm>
          <a:off x="1885587" y="0"/>
          <a:ext cx="1829525" cy="1403988"/>
        </a:xfrm>
        <a:prstGeom prst="roundRect">
          <a:avLst>
            <a:gd name="adj" fmla="val 10000"/>
          </a:avLst>
        </a:prstGeom>
        <a:solidFill>
          <a:srgbClr val="F5F7F8"/>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t" anchorCtr="1">
          <a:noAutofit/>
        </a:bodyPr>
        <a:lstStyle/>
        <a:p>
          <a:pPr marL="0" lvl="0" indent="0" algn="l" defTabSz="444500">
            <a:lnSpc>
              <a:spcPct val="90000"/>
            </a:lnSpc>
            <a:spcBef>
              <a:spcPct val="0"/>
            </a:spcBef>
            <a:spcAft>
              <a:spcPct val="35000"/>
            </a:spcAft>
            <a:buNone/>
          </a:pPr>
          <a:r>
            <a:rPr lang="en-US" sz="1000" b="1" kern="1200" dirty="0">
              <a:solidFill>
                <a:srgbClr val="1F2933"/>
              </a:solidFill>
            </a:rPr>
            <a:t>Institutional Asset Access</a:t>
          </a:r>
        </a:p>
        <a:p>
          <a:pPr marL="57150" lvl="1" indent="-57150" algn="l" defTabSz="355600">
            <a:lnSpc>
              <a:spcPct val="90000"/>
            </a:lnSpc>
            <a:spcBef>
              <a:spcPct val="0"/>
            </a:spcBef>
            <a:spcAft>
              <a:spcPct val="15000"/>
            </a:spcAft>
            <a:buClr>
              <a:srgbClr val="C9A24D"/>
            </a:buClr>
            <a:buFont typeface="Wingdings" panose="05000000000000000000" pitchFamily="2" charset="2"/>
            <a:buChar char="ü"/>
          </a:pPr>
          <a:r>
            <a:rPr lang="en-US" sz="800" kern="1200" dirty="0">
              <a:solidFill>
                <a:srgbClr val="1F2933"/>
              </a:solidFill>
            </a:rPr>
            <a:t>Enable alternative and private    	market exposure</a:t>
          </a:r>
        </a:p>
      </dsp:txBody>
      <dsp:txXfrm>
        <a:off x="1885587" y="561595"/>
        <a:ext cx="1829525" cy="561595"/>
      </dsp:txXfrm>
    </dsp:sp>
    <dsp:sp modelId="{AB5C6345-2430-48C2-BD81-E7C35BAD4F6A}">
      <dsp:nvSpPr>
        <dsp:cNvPr id="0" name=""/>
        <dsp:cNvSpPr/>
      </dsp:nvSpPr>
      <dsp:spPr>
        <a:xfrm>
          <a:off x="2566585" y="84239"/>
          <a:ext cx="467528" cy="467528"/>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994E02E0-2C89-4E23-96E7-6459FF6B2289}">
      <dsp:nvSpPr>
        <dsp:cNvPr id="0" name=""/>
        <dsp:cNvSpPr/>
      </dsp:nvSpPr>
      <dsp:spPr>
        <a:xfrm>
          <a:off x="3769998" y="0"/>
          <a:ext cx="1829525" cy="1403988"/>
        </a:xfrm>
        <a:prstGeom prst="roundRect">
          <a:avLst>
            <a:gd name="adj" fmla="val 10000"/>
          </a:avLst>
        </a:prstGeom>
        <a:solidFill>
          <a:srgbClr val="F5F7F8"/>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t" anchorCtr="1">
          <a:noAutofit/>
        </a:bodyPr>
        <a:lstStyle/>
        <a:p>
          <a:pPr marL="0" lvl="0" indent="0" algn="ctr" defTabSz="444500">
            <a:lnSpc>
              <a:spcPct val="90000"/>
            </a:lnSpc>
            <a:spcBef>
              <a:spcPct val="0"/>
            </a:spcBef>
            <a:spcAft>
              <a:spcPct val="35000"/>
            </a:spcAft>
            <a:buNone/>
          </a:pPr>
          <a:r>
            <a:rPr lang="en-US" sz="1000" b="1" kern="1200" dirty="0">
              <a:solidFill>
                <a:srgbClr val="1F2933"/>
              </a:solidFill>
            </a:rPr>
            <a:t>Structured oversight</a:t>
          </a:r>
        </a:p>
        <a:p>
          <a:pPr marL="57150" lvl="1" indent="-57150" algn="ctr" defTabSz="355600">
            <a:lnSpc>
              <a:spcPct val="90000"/>
            </a:lnSpc>
            <a:spcBef>
              <a:spcPct val="0"/>
            </a:spcBef>
            <a:spcAft>
              <a:spcPct val="15000"/>
            </a:spcAft>
            <a:buClr>
              <a:srgbClr val="C9A24D"/>
            </a:buClr>
            <a:buFont typeface="Wingdings" panose="05000000000000000000" pitchFamily="2" charset="2"/>
            <a:buChar char="ü"/>
          </a:pPr>
          <a:r>
            <a:rPr lang="en-US" sz="800" kern="1200" dirty="0">
              <a:solidFill>
                <a:srgbClr val="1F2933"/>
              </a:solidFill>
            </a:rPr>
            <a:t>Continuous monitoring and reporting</a:t>
          </a:r>
        </a:p>
      </dsp:txBody>
      <dsp:txXfrm>
        <a:off x="3769998" y="561595"/>
        <a:ext cx="1829525" cy="561595"/>
      </dsp:txXfrm>
    </dsp:sp>
    <dsp:sp modelId="{F149AAB9-CA76-4F43-BC39-4B449ACBA91F}">
      <dsp:nvSpPr>
        <dsp:cNvPr id="0" name=""/>
        <dsp:cNvSpPr/>
      </dsp:nvSpPr>
      <dsp:spPr>
        <a:xfrm>
          <a:off x="4450997" y="84239"/>
          <a:ext cx="467528" cy="467528"/>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23E43AFE-DD8B-4E14-B09E-E7F6485E1735}">
      <dsp:nvSpPr>
        <dsp:cNvPr id="0" name=""/>
        <dsp:cNvSpPr/>
      </dsp:nvSpPr>
      <dsp:spPr>
        <a:xfrm>
          <a:off x="224027" y="1123190"/>
          <a:ext cx="5152644" cy="210598"/>
        </a:xfrm>
        <a:prstGeom prst="leftRightArrow">
          <a:avLst/>
        </a:prstGeom>
        <a:solidFill>
          <a:srgbClr val="1F2933"/>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ED606-F8D8-4C0B-8AE6-8DC59BEB9574}">
      <dsp:nvSpPr>
        <dsp:cNvPr id="0" name=""/>
        <dsp:cNvSpPr/>
      </dsp:nvSpPr>
      <dsp:spPr>
        <a:xfrm rot="5400000">
          <a:off x="308532" y="1003838"/>
          <a:ext cx="917688" cy="1527013"/>
        </a:xfrm>
        <a:prstGeom prst="corner">
          <a:avLst>
            <a:gd name="adj1" fmla="val 16120"/>
            <a:gd name="adj2" fmla="val 16110"/>
          </a:avLst>
        </a:prstGeom>
        <a:solidFill>
          <a:srgbClr val="C7CCD1"/>
        </a:solidFill>
        <a:ln w="12700" cap="flat" cmpd="sng" algn="ctr">
          <a:noFill/>
          <a:prstDash val="solid"/>
          <a:miter lim="800000"/>
        </a:ln>
        <a:effectLst/>
      </dsp:spPr>
      <dsp:style>
        <a:lnRef idx="1">
          <a:scrgbClr r="0" g="0" b="0"/>
        </a:lnRef>
        <a:fillRef idx="3">
          <a:scrgbClr r="0" g="0" b="0"/>
        </a:fillRef>
        <a:effectRef idx="2">
          <a:scrgbClr r="0" g="0" b="0"/>
        </a:effectRef>
        <a:fontRef idx="minor">
          <a:schemeClr val="lt1"/>
        </a:fontRef>
      </dsp:style>
    </dsp:sp>
    <dsp:sp modelId="{9A087983-8064-459A-BA4E-72DFF8150AED}">
      <dsp:nvSpPr>
        <dsp:cNvPr id="0" name=""/>
        <dsp:cNvSpPr/>
      </dsp:nvSpPr>
      <dsp:spPr>
        <a:xfrm>
          <a:off x="155347" y="1460086"/>
          <a:ext cx="1378596" cy="120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Evaluate &amp; Model</a:t>
          </a:r>
          <a:endParaRPr lang="en-US" sz="1000" kern="1200" dirty="0"/>
        </a:p>
        <a:p>
          <a:pPr marL="57150" lvl="1" indent="-57150" algn="l" defTabSz="355600">
            <a:lnSpc>
              <a:spcPct val="90000"/>
            </a:lnSpc>
            <a:spcBef>
              <a:spcPct val="0"/>
            </a:spcBef>
            <a:spcAft>
              <a:spcPct val="15000"/>
            </a:spcAft>
            <a:buChar char="•"/>
          </a:pPr>
          <a:r>
            <a:rPr lang="en-US" sz="800" kern="1200" dirty="0"/>
            <a:t>Quantify the after-tax impact and determine where private placement creates meaningful structural advantage.</a:t>
          </a:r>
        </a:p>
      </dsp:txBody>
      <dsp:txXfrm>
        <a:off x="155347" y="1460086"/>
        <a:ext cx="1378596" cy="1208420"/>
      </dsp:txXfrm>
    </dsp:sp>
    <dsp:sp modelId="{3EAEDB58-1749-40CC-A557-9637931816E6}">
      <dsp:nvSpPr>
        <dsp:cNvPr id="0" name=""/>
        <dsp:cNvSpPr/>
      </dsp:nvSpPr>
      <dsp:spPr>
        <a:xfrm>
          <a:off x="1273830" y="891418"/>
          <a:ext cx="260112" cy="260112"/>
        </a:xfrm>
        <a:prstGeom prst="triangle">
          <a:avLst>
            <a:gd name="adj" fmla="val 100000"/>
          </a:avLst>
        </a:prstGeom>
        <a:solidFill>
          <a:srgbClr val="C7CCD1"/>
        </a:solidFill>
        <a:ln w="12700" cap="flat" cmpd="sng" algn="ctr">
          <a:noFill/>
          <a:prstDash val="solid"/>
          <a:miter lim="800000"/>
        </a:ln>
        <a:effectLst/>
      </dsp:spPr>
      <dsp:style>
        <a:lnRef idx="1">
          <a:scrgbClr r="0" g="0" b="0"/>
        </a:lnRef>
        <a:fillRef idx="3">
          <a:scrgbClr r="0" g="0" b="0"/>
        </a:fillRef>
        <a:effectRef idx="2">
          <a:scrgbClr r="0" g="0" b="0"/>
        </a:effectRef>
        <a:fontRef idx="minor">
          <a:schemeClr val="lt1"/>
        </a:fontRef>
      </dsp:style>
    </dsp:sp>
    <dsp:sp modelId="{254C9897-263B-4504-8B37-111B9AE04F09}">
      <dsp:nvSpPr>
        <dsp:cNvPr id="0" name=""/>
        <dsp:cNvSpPr/>
      </dsp:nvSpPr>
      <dsp:spPr>
        <a:xfrm rot="5400000">
          <a:off x="1996203" y="586222"/>
          <a:ext cx="917688" cy="1527013"/>
        </a:xfrm>
        <a:prstGeom prst="corner">
          <a:avLst>
            <a:gd name="adj1" fmla="val 16120"/>
            <a:gd name="adj2" fmla="val 16110"/>
          </a:avLst>
        </a:prstGeom>
        <a:solidFill>
          <a:srgbClr val="C7CCD1"/>
        </a:solidFill>
        <a:ln w="12700" cap="flat" cmpd="sng" algn="ctr">
          <a:noFill/>
          <a:prstDash val="solid"/>
          <a:miter lim="800000"/>
        </a:ln>
        <a:effectLst/>
      </dsp:spPr>
      <dsp:style>
        <a:lnRef idx="1">
          <a:scrgbClr r="0" g="0" b="0"/>
        </a:lnRef>
        <a:fillRef idx="3">
          <a:scrgbClr r="0" g="0" b="0"/>
        </a:fillRef>
        <a:effectRef idx="2">
          <a:scrgbClr r="0" g="0" b="0"/>
        </a:effectRef>
        <a:fontRef idx="minor">
          <a:schemeClr val="lt1"/>
        </a:fontRef>
      </dsp:style>
    </dsp:sp>
    <dsp:sp modelId="{47F46F6D-B9DE-4F39-BD78-8842B549EAC4}">
      <dsp:nvSpPr>
        <dsp:cNvPr id="0" name=""/>
        <dsp:cNvSpPr/>
      </dsp:nvSpPr>
      <dsp:spPr>
        <a:xfrm>
          <a:off x="1843018" y="1042470"/>
          <a:ext cx="1378596" cy="120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Structural Design</a:t>
          </a:r>
          <a:endParaRPr lang="en-US" sz="1000" kern="1200" dirty="0"/>
        </a:p>
        <a:p>
          <a:pPr marL="57150" lvl="1" indent="-57150" algn="l" defTabSz="355600">
            <a:lnSpc>
              <a:spcPct val="90000"/>
            </a:lnSpc>
            <a:spcBef>
              <a:spcPct val="0"/>
            </a:spcBef>
            <a:spcAft>
              <a:spcPct val="15000"/>
            </a:spcAft>
            <a:buChar char="•"/>
          </a:pPr>
          <a:r>
            <a:rPr lang="en-US" sz="800" kern="1200" dirty="0"/>
            <a:t>Build the optimal insurance + investment architecture aligned to client objectives, portfolio strategy, and carrier requirements.</a:t>
          </a:r>
        </a:p>
      </dsp:txBody>
      <dsp:txXfrm>
        <a:off x="1843018" y="1042470"/>
        <a:ext cx="1378596" cy="1208420"/>
      </dsp:txXfrm>
    </dsp:sp>
    <dsp:sp modelId="{EF12756C-80C2-455B-A135-47A91D950AA5}">
      <dsp:nvSpPr>
        <dsp:cNvPr id="0" name=""/>
        <dsp:cNvSpPr/>
      </dsp:nvSpPr>
      <dsp:spPr>
        <a:xfrm>
          <a:off x="2961501" y="473802"/>
          <a:ext cx="260112" cy="260112"/>
        </a:xfrm>
        <a:prstGeom prst="triangle">
          <a:avLst>
            <a:gd name="adj" fmla="val 100000"/>
          </a:avLst>
        </a:prstGeom>
        <a:solidFill>
          <a:srgbClr val="C7CCD1"/>
        </a:solidFill>
        <a:ln w="12700" cap="flat" cmpd="sng" algn="ctr">
          <a:noFill/>
          <a:prstDash val="solid"/>
          <a:miter lim="800000"/>
        </a:ln>
        <a:effectLst/>
      </dsp:spPr>
      <dsp:style>
        <a:lnRef idx="1">
          <a:scrgbClr r="0" g="0" b="0"/>
        </a:lnRef>
        <a:fillRef idx="3">
          <a:scrgbClr r="0" g="0" b="0"/>
        </a:fillRef>
        <a:effectRef idx="2">
          <a:scrgbClr r="0" g="0" b="0"/>
        </a:effectRef>
        <a:fontRef idx="minor">
          <a:schemeClr val="lt1"/>
        </a:fontRef>
      </dsp:style>
    </dsp:sp>
    <dsp:sp modelId="{43EAC496-5ED9-426E-9DC3-8C7F70E097B8}">
      <dsp:nvSpPr>
        <dsp:cNvPr id="0" name=""/>
        <dsp:cNvSpPr/>
      </dsp:nvSpPr>
      <dsp:spPr>
        <a:xfrm rot="5400000">
          <a:off x="3683874" y="168606"/>
          <a:ext cx="917688" cy="1527013"/>
        </a:xfrm>
        <a:prstGeom prst="corner">
          <a:avLst>
            <a:gd name="adj1" fmla="val 16120"/>
            <a:gd name="adj2" fmla="val 16110"/>
          </a:avLst>
        </a:prstGeom>
        <a:solidFill>
          <a:srgbClr val="C7CCD1"/>
        </a:solidFill>
        <a:ln w="12700" cap="flat" cmpd="sng" algn="ctr">
          <a:noFill/>
          <a:prstDash val="solid"/>
          <a:miter lim="800000"/>
        </a:ln>
        <a:effectLst/>
      </dsp:spPr>
      <dsp:style>
        <a:lnRef idx="1">
          <a:scrgbClr r="0" g="0" b="0"/>
        </a:lnRef>
        <a:fillRef idx="3">
          <a:scrgbClr r="0" g="0" b="0"/>
        </a:fillRef>
        <a:effectRef idx="2">
          <a:scrgbClr r="0" g="0" b="0"/>
        </a:effectRef>
        <a:fontRef idx="minor">
          <a:schemeClr val="lt1"/>
        </a:fontRef>
      </dsp:style>
    </dsp:sp>
    <dsp:sp modelId="{86EA4300-1CC0-4841-99F9-D63FA9DF3FFB}">
      <dsp:nvSpPr>
        <dsp:cNvPr id="0" name=""/>
        <dsp:cNvSpPr/>
      </dsp:nvSpPr>
      <dsp:spPr>
        <a:xfrm>
          <a:off x="3530689" y="624854"/>
          <a:ext cx="1378596" cy="120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Implement &amp; Coordinate</a:t>
          </a:r>
          <a:endParaRPr lang="en-US" sz="1000" kern="1200" dirty="0"/>
        </a:p>
        <a:p>
          <a:pPr marL="57150" lvl="1" indent="-57150" algn="l" defTabSz="355600">
            <a:lnSpc>
              <a:spcPct val="90000"/>
            </a:lnSpc>
            <a:spcBef>
              <a:spcPct val="0"/>
            </a:spcBef>
            <a:spcAft>
              <a:spcPct val="15000"/>
            </a:spcAft>
            <a:buChar char="•"/>
          </a:pPr>
          <a:r>
            <a:rPr lang="en-US" sz="800" kern="1200" dirty="0"/>
            <a:t>Streamline carrier workflows, documentation, and execution — reducing friction and eliminating fragmented handoffs.</a:t>
          </a:r>
        </a:p>
      </dsp:txBody>
      <dsp:txXfrm>
        <a:off x="3530689" y="624854"/>
        <a:ext cx="1378596" cy="1208420"/>
      </dsp:txXfrm>
    </dsp:sp>
    <dsp:sp modelId="{CAB47B41-EBC5-4FDC-BA1F-61260663864F}">
      <dsp:nvSpPr>
        <dsp:cNvPr id="0" name=""/>
        <dsp:cNvSpPr/>
      </dsp:nvSpPr>
      <dsp:spPr>
        <a:xfrm>
          <a:off x="4649172" y="56186"/>
          <a:ext cx="260112" cy="260112"/>
        </a:xfrm>
        <a:prstGeom prst="triangle">
          <a:avLst>
            <a:gd name="adj" fmla="val 100000"/>
          </a:avLst>
        </a:prstGeom>
        <a:solidFill>
          <a:srgbClr val="C7CCD1"/>
        </a:solidFill>
        <a:ln w="12700" cap="flat" cmpd="sng" algn="ctr">
          <a:noFill/>
          <a:prstDash val="solid"/>
          <a:miter lim="800000"/>
        </a:ln>
        <a:effectLst/>
      </dsp:spPr>
      <dsp:style>
        <a:lnRef idx="1">
          <a:scrgbClr r="0" g="0" b="0"/>
        </a:lnRef>
        <a:fillRef idx="3">
          <a:scrgbClr r="0" g="0" b="0"/>
        </a:fillRef>
        <a:effectRef idx="2">
          <a:scrgbClr r="0" g="0" b="0"/>
        </a:effectRef>
        <a:fontRef idx="minor">
          <a:schemeClr val="lt1"/>
        </a:fontRef>
      </dsp:style>
    </dsp:sp>
    <dsp:sp modelId="{0EC41E86-7B81-448D-9901-F0A15707E226}">
      <dsp:nvSpPr>
        <dsp:cNvPr id="0" name=""/>
        <dsp:cNvSpPr/>
      </dsp:nvSpPr>
      <dsp:spPr>
        <a:xfrm rot="5400000">
          <a:off x="5371545" y="-249009"/>
          <a:ext cx="917688" cy="1527013"/>
        </a:xfrm>
        <a:prstGeom prst="corner">
          <a:avLst>
            <a:gd name="adj1" fmla="val 16120"/>
            <a:gd name="adj2" fmla="val 16110"/>
          </a:avLst>
        </a:prstGeom>
        <a:solidFill>
          <a:srgbClr val="C7CCD1"/>
        </a:solidFill>
        <a:ln w="12700" cap="flat" cmpd="sng" algn="ctr">
          <a:noFill/>
          <a:prstDash val="solid"/>
          <a:miter lim="800000"/>
        </a:ln>
        <a:effectLst/>
      </dsp:spPr>
      <dsp:style>
        <a:lnRef idx="1">
          <a:scrgbClr r="0" g="0" b="0"/>
        </a:lnRef>
        <a:fillRef idx="3">
          <a:scrgbClr r="0" g="0" b="0"/>
        </a:fillRef>
        <a:effectRef idx="2">
          <a:scrgbClr r="0" g="0" b="0"/>
        </a:effectRef>
        <a:fontRef idx="minor">
          <a:schemeClr val="lt1"/>
        </a:fontRef>
      </dsp:style>
    </dsp:sp>
    <dsp:sp modelId="{F8854336-65E8-47EE-B71B-5EB8A27E933C}">
      <dsp:nvSpPr>
        <dsp:cNvPr id="0" name=""/>
        <dsp:cNvSpPr/>
      </dsp:nvSpPr>
      <dsp:spPr>
        <a:xfrm>
          <a:off x="5218360" y="207238"/>
          <a:ext cx="1378596" cy="120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Oversight &amp; Reporting</a:t>
          </a:r>
          <a:endParaRPr lang="en-US" sz="1000" kern="1200" dirty="0"/>
        </a:p>
        <a:p>
          <a:pPr marL="57150" lvl="1" indent="-57150" algn="l" defTabSz="355600">
            <a:lnSpc>
              <a:spcPct val="90000"/>
            </a:lnSpc>
            <a:spcBef>
              <a:spcPct val="0"/>
            </a:spcBef>
            <a:spcAft>
              <a:spcPct val="15000"/>
            </a:spcAft>
            <a:buChar char="•"/>
          </a:pPr>
          <a:r>
            <a:rPr lang="en-US" sz="800" kern="1200" dirty="0"/>
            <a:t>Monitor structure, performance, and ongoing compliance — with institutional-grade reporting for advisors and clients.</a:t>
          </a:r>
        </a:p>
      </dsp:txBody>
      <dsp:txXfrm>
        <a:off x="5218360" y="207238"/>
        <a:ext cx="1378596" cy="12084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54A640-94D8-46BD-9D87-C09BA70835CB}">
      <dsp:nvSpPr>
        <dsp:cNvPr id="0" name=""/>
        <dsp:cNvSpPr/>
      </dsp:nvSpPr>
      <dsp:spPr>
        <a:xfrm>
          <a:off x="1910514" y="1285012"/>
          <a:ext cx="977560" cy="977560"/>
        </a:xfrm>
        <a:prstGeom prst="ellipse">
          <a:avLst/>
        </a:prstGeom>
        <a:solidFill>
          <a:srgbClr val="C7CCD1"/>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solidFill>
                <a:srgbClr val="1F2933"/>
              </a:solidFill>
            </a:rPr>
            <a:t>Advisure Tools</a:t>
          </a:r>
        </a:p>
      </dsp:txBody>
      <dsp:txXfrm>
        <a:off x="2053674" y="1428172"/>
        <a:ext cx="691240" cy="691240"/>
      </dsp:txXfrm>
    </dsp:sp>
    <dsp:sp modelId="{1735A726-A9EF-440C-9BC8-21AE568FC901}">
      <dsp:nvSpPr>
        <dsp:cNvPr id="0" name=""/>
        <dsp:cNvSpPr/>
      </dsp:nvSpPr>
      <dsp:spPr>
        <a:xfrm rot="16200000">
          <a:off x="2251726" y="1119108"/>
          <a:ext cx="295137" cy="36669"/>
        </a:xfrm>
        <a:custGeom>
          <a:avLst/>
          <a:gdLst/>
          <a:ahLst/>
          <a:cxnLst/>
          <a:rect l="0" t="0" r="0" b="0"/>
          <a:pathLst>
            <a:path>
              <a:moveTo>
                <a:pt x="0" y="18334"/>
              </a:moveTo>
              <a:lnTo>
                <a:pt x="295137" y="18334"/>
              </a:lnTo>
            </a:path>
          </a:pathLst>
        </a:custGeom>
        <a:noFill/>
        <a:ln w="19050" cap="flat" cmpd="sng" algn="ctr">
          <a:solidFill>
            <a:srgbClr val="1F2933"/>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solidFill>
              <a:srgbClr val="1F2933"/>
            </a:solidFill>
          </a:endParaRPr>
        </a:p>
      </dsp:txBody>
      <dsp:txXfrm>
        <a:off x="2391916" y="1130064"/>
        <a:ext cx="14756" cy="14756"/>
      </dsp:txXfrm>
    </dsp:sp>
    <dsp:sp modelId="{02499BC1-AC70-43A3-A907-A1300B05F154}">
      <dsp:nvSpPr>
        <dsp:cNvPr id="0" name=""/>
        <dsp:cNvSpPr/>
      </dsp:nvSpPr>
      <dsp:spPr>
        <a:xfrm>
          <a:off x="1910514" y="12314"/>
          <a:ext cx="977560" cy="977560"/>
        </a:xfrm>
        <a:prstGeom prst="ellipse">
          <a:avLst/>
        </a:prstGeom>
        <a:solidFill>
          <a:srgbClr val="C7CCD1"/>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rgbClr val="1F2933"/>
              </a:solidFill>
            </a:rPr>
            <a:t>E-Application</a:t>
          </a:r>
        </a:p>
      </dsp:txBody>
      <dsp:txXfrm>
        <a:off x="2053674" y="155474"/>
        <a:ext cx="691240" cy="691240"/>
      </dsp:txXfrm>
    </dsp:sp>
    <dsp:sp modelId="{2AFFC936-3ED1-429E-91DC-B160B8A25ADE}">
      <dsp:nvSpPr>
        <dsp:cNvPr id="0" name=""/>
        <dsp:cNvSpPr/>
      </dsp:nvSpPr>
      <dsp:spPr>
        <a:xfrm rot="20520000">
          <a:off x="2856929" y="1558815"/>
          <a:ext cx="295137" cy="36669"/>
        </a:xfrm>
        <a:custGeom>
          <a:avLst/>
          <a:gdLst/>
          <a:ahLst/>
          <a:cxnLst/>
          <a:rect l="0" t="0" r="0" b="0"/>
          <a:pathLst>
            <a:path>
              <a:moveTo>
                <a:pt x="0" y="18334"/>
              </a:moveTo>
              <a:lnTo>
                <a:pt x="295137" y="18334"/>
              </a:lnTo>
            </a:path>
          </a:pathLst>
        </a:custGeom>
        <a:noFill/>
        <a:ln w="19050" cap="flat" cmpd="sng" algn="ctr">
          <a:solidFill>
            <a:srgbClr val="1F2933"/>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solidFill>
              <a:srgbClr val="1F2933"/>
            </a:solidFill>
          </a:endParaRPr>
        </a:p>
      </dsp:txBody>
      <dsp:txXfrm>
        <a:off x="2997120" y="1569771"/>
        <a:ext cx="14756" cy="14756"/>
      </dsp:txXfrm>
    </dsp:sp>
    <dsp:sp modelId="{1654C781-B585-414A-A75D-49BE7724F2CD}">
      <dsp:nvSpPr>
        <dsp:cNvPr id="0" name=""/>
        <dsp:cNvSpPr/>
      </dsp:nvSpPr>
      <dsp:spPr>
        <a:xfrm>
          <a:off x="3120922" y="891727"/>
          <a:ext cx="977560" cy="977560"/>
        </a:xfrm>
        <a:prstGeom prst="ellipse">
          <a:avLst/>
        </a:prstGeom>
        <a:solidFill>
          <a:srgbClr val="C7CCD1"/>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rgbClr val="1F2933"/>
              </a:solidFill>
            </a:rPr>
            <a:t>Modeling</a:t>
          </a:r>
        </a:p>
      </dsp:txBody>
      <dsp:txXfrm>
        <a:off x="3264082" y="1034887"/>
        <a:ext cx="691240" cy="691240"/>
      </dsp:txXfrm>
    </dsp:sp>
    <dsp:sp modelId="{4D785D52-7294-4685-A3E1-43C0C189A1D6}">
      <dsp:nvSpPr>
        <dsp:cNvPr id="0" name=""/>
        <dsp:cNvSpPr/>
      </dsp:nvSpPr>
      <dsp:spPr>
        <a:xfrm rot="3240000">
          <a:off x="2625762" y="2270274"/>
          <a:ext cx="295137" cy="36669"/>
        </a:xfrm>
        <a:custGeom>
          <a:avLst/>
          <a:gdLst/>
          <a:ahLst/>
          <a:cxnLst/>
          <a:rect l="0" t="0" r="0" b="0"/>
          <a:pathLst>
            <a:path>
              <a:moveTo>
                <a:pt x="0" y="18334"/>
              </a:moveTo>
              <a:lnTo>
                <a:pt x="295137" y="18334"/>
              </a:lnTo>
            </a:path>
          </a:pathLst>
        </a:custGeom>
        <a:noFill/>
        <a:ln w="19050" cap="flat" cmpd="sng" algn="ctr">
          <a:solidFill>
            <a:srgbClr val="1F2933"/>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solidFill>
              <a:srgbClr val="1F2933"/>
            </a:solidFill>
          </a:endParaRPr>
        </a:p>
      </dsp:txBody>
      <dsp:txXfrm>
        <a:off x="2765953" y="2281230"/>
        <a:ext cx="14756" cy="14756"/>
      </dsp:txXfrm>
    </dsp:sp>
    <dsp:sp modelId="{F2B965D3-ED66-425A-B8E8-ED7A3CEA7802}">
      <dsp:nvSpPr>
        <dsp:cNvPr id="0" name=""/>
        <dsp:cNvSpPr/>
      </dsp:nvSpPr>
      <dsp:spPr>
        <a:xfrm>
          <a:off x="2658588" y="2314646"/>
          <a:ext cx="977560" cy="977560"/>
        </a:xfrm>
        <a:prstGeom prst="ellipse">
          <a:avLst/>
        </a:prstGeom>
        <a:solidFill>
          <a:srgbClr val="C7CCD1"/>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rgbClr val="1F2933"/>
              </a:solidFill>
            </a:rPr>
            <a:t>Illustration</a:t>
          </a:r>
        </a:p>
      </dsp:txBody>
      <dsp:txXfrm>
        <a:off x="2801748" y="2457806"/>
        <a:ext cx="691240" cy="691240"/>
      </dsp:txXfrm>
    </dsp:sp>
    <dsp:sp modelId="{973D49D2-4EB0-4475-91A2-92143782D030}">
      <dsp:nvSpPr>
        <dsp:cNvPr id="0" name=""/>
        <dsp:cNvSpPr/>
      </dsp:nvSpPr>
      <dsp:spPr>
        <a:xfrm rot="7560000">
          <a:off x="1877689" y="2270274"/>
          <a:ext cx="295137" cy="36669"/>
        </a:xfrm>
        <a:custGeom>
          <a:avLst/>
          <a:gdLst/>
          <a:ahLst/>
          <a:cxnLst/>
          <a:rect l="0" t="0" r="0" b="0"/>
          <a:pathLst>
            <a:path>
              <a:moveTo>
                <a:pt x="0" y="18334"/>
              </a:moveTo>
              <a:lnTo>
                <a:pt x="295137" y="18334"/>
              </a:lnTo>
            </a:path>
          </a:pathLst>
        </a:custGeom>
        <a:noFill/>
        <a:ln w="19050" cap="flat" cmpd="sng" algn="ctr">
          <a:solidFill>
            <a:srgbClr val="1F2933"/>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solidFill>
              <a:srgbClr val="1F2933"/>
            </a:solidFill>
          </a:endParaRPr>
        </a:p>
      </dsp:txBody>
      <dsp:txXfrm rot="10800000">
        <a:off x="2017880" y="2281230"/>
        <a:ext cx="14756" cy="14756"/>
      </dsp:txXfrm>
    </dsp:sp>
    <dsp:sp modelId="{02577891-59ED-48ED-911F-DB27B1FCEBFE}">
      <dsp:nvSpPr>
        <dsp:cNvPr id="0" name=""/>
        <dsp:cNvSpPr/>
      </dsp:nvSpPr>
      <dsp:spPr>
        <a:xfrm>
          <a:off x="1162441" y="2314646"/>
          <a:ext cx="977560" cy="977560"/>
        </a:xfrm>
        <a:prstGeom prst="ellipse">
          <a:avLst/>
        </a:prstGeom>
        <a:solidFill>
          <a:srgbClr val="C7CCD1"/>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rgbClr val="1F2933"/>
              </a:solidFill>
            </a:rPr>
            <a:t>Workflow Management</a:t>
          </a:r>
        </a:p>
      </dsp:txBody>
      <dsp:txXfrm>
        <a:off x="1305601" y="2457806"/>
        <a:ext cx="691240" cy="691240"/>
      </dsp:txXfrm>
    </dsp:sp>
    <dsp:sp modelId="{FB711037-9886-4BB6-AD17-5274F91132DF}">
      <dsp:nvSpPr>
        <dsp:cNvPr id="0" name=""/>
        <dsp:cNvSpPr/>
      </dsp:nvSpPr>
      <dsp:spPr>
        <a:xfrm rot="11880000">
          <a:off x="1646522" y="1558815"/>
          <a:ext cx="295137" cy="36669"/>
        </a:xfrm>
        <a:custGeom>
          <a:avLst/>
          <a:gdLst/>
          <a:ahLst/>
          <a:cxnLst/>
          <a:rect l="0" t="0" r="0" b="0"/>
          <a:pathLst>
            <a:path>
              <a:moveTo>
                <a:pt x="0" y="18334"/>
              </a:moveTo>
              <a:lnTo>
                <a:pt x="295137" y="18334"/>
              </a:lnTo>
            </a:path>
          </a:pathLst>
        </a:custGeom>
        <a:noFill/>
        <a:ln w="19050" cap="flat" cmpd="sng" algn="ctr">
          <a:solidFill>
            <a:srgbClr val="1F2933"/>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solidFill>
              <a:srgbClr val="1F2933"/>
            </a:solidFill>
          </a:endParaRPr>
        </a:p>
      </dsp:txBody>
      <dsp:txXfrm rot="10800000">
        <a:off x="1786712" y="1569771"/>
        <a:ext cx="14756" cy="14756"/>
      </dsp:txXfrm>
    </dsp:sp>
    <dsp:sp modelId="{6B24029E-9C38-49B7-819C-0B99C0F67226}">
      <dsp:nvSpPr>
        <dsp:cNvPr id="0" name=""/>
        <dsp:cNvSpPr/>
      </dsp:nvSpPr>
      <dsp:spPr>
        <a:xfrm>
          <a:off x="700107" y="891727"/>
          <a:ext cx="977560" cy="977560"/>
        </a:xfrm>
        <a:prstGeom prst="ellipse">
          <a:avLst/>
        </a:prstGeom>
        <a:solidFill>
          <a:srgbClr val="C7CCD1"/>
        </a:solidFill>
        <a:ln w="19050" cap="flat" cmpd="sng" algn="ctr">
          <a:solidFill>
            <a:srgbClr val="1F293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rgbClr val="1F2933"/>
              </a:solidFill>
            </a:rPr>
            <a:t>Policy Management</a:t>
          </a:r>
        </a:p>
      </dsp:txBody>
      <dsp:txXfrm>
        <a:off x="843267" y="1034887"/>
        <a:ext cx="691240" cy="6912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37663-7A46-46A0-B22E-3A7FA4771BBB}">
      <dsp:nvSpPr>
        <dsp:cNvPr id="0" name=""/>
        <dsp:cNvSpPr/>
      </dsp:nvSpPr>
      <dsp:spPr>
        <a:xfrm>
          <a:off x="0" y="10715"/>
          <a:ext cx="1907381" cy="1144428"/>
        </a:xfrm>
        <a:prstGeom prst="rect">
          <a:avLst/>
        </a:prstGeom>
        <a:solidFill>
          <a:srgbClr val="C7CCD1"/>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rgbClr val="1F2933"/>
              </a:solidFill>
            </a:rPr>
            <a:t>Sophisticated Design</a:t>
          </a:r>
        </a:p>
        <a:p>
          <a:pPr marL="0" lvl="0" indent="0" algn="ctr" defTabSz="466725">
            <a:lnSpc>
              <a:spcPct val="90000"/>
            </a:lnSpc>
            <a:spcBef>
              <a:spcPct val="0"/>
            </a:spcBef>
            <a:spcAft>
              <a:spcPct val="35000"/>
            </a:spcAft>
            <a:buNone/>
          </a:pPr>
          <a:r>
            <a:rPr lang="en-US" sz="900" kern="1200" dirty="0">
              <a:solidFill>
                <a:srgbClr val="1F2933"/>
              </a:solidFill>
            </a:rPr>
            <a:t>Customized structural planning that aligns insurance architecture with institutional investment strategies. </a:t>
          </a:r>
          <a:endParaRPr lang="en-US" sz="1050" kern="1200" dirty="0">
            <a:solidFill>
              <a:srgbClr val="1F2933"/>
            </a:solidFill>
          </a:endParaRPr>
        </a:p>
      </dsp:txBody>
      <dsp:txXfrm>
        <a:off x="0" y="10715"/>
        <a:ext cx="1907381" cy="1144428"/>
      </dsp:txXfrm>
    </dsp:sp>
    <dsp:sp modelId="{B0F54276-CA5D-4963-9E0B-AC6DF0AE8A8D}">
      <dsp:nvSpPr>
        <dsp:cNvPr id="0" name=""/>
        <dsp:cNvSpPr/>
      </dsp:nvSpPr>
      <dsp:spPr>
        <a:xfrm>
          <a:off x="2098119" y="10715"/>
          <a:ext cx="1907381" cy="1144428"/>
        </a:xfrm>
        <a:prstGeom prst="rect">
          <a:avLst/>
        </a:prstGeom>
        <a:solidFill>
          <a:srgbClr val="C7CCD1"/>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rgbClr val="1F2933"/>
              </a:solidFill>
            </a:rPr>
            <a:t>Streamlined Implementation</a:t>
          </a:r>
        </a:p>
        <a:p>
          <a:pPr marL="0" lvl="0" indent="0" algn="ctr" defTabSz="466725">
            <a:lnSpc>
              <a:spcPct val="90000"/>
            </a:lnSpc>
            <a:spcBef>
              <a:spcPct val="0"/>
            </a:spcBef>
            <a:spcAft>
              <a:spcPct val="35000"/>
            </a:spcAft>
            <a:buNone/>
          </a:pPr>
          <a:r>
            <a:rPr lang="en-US" sz="900" kern="1200" dirty="0">
              <a:solidFill>
                <a:srgbClr val="1F2933"/>
              </a:solidFill>
            </a:rPr>
            <a:t>Centralized workflows for carrier coordination, underwriting, and documentation — reducing friction and operational burden. </a:t>
          </a:r>
          <a:endParaRPr lang="en-US" sz="1050" kern="1200" dirty="0">
            <a:solidFill>
              <a:srgbClr val="1F2933"/>
            </a:solidFill>
          </a:endParaRPr>
        </a:p>
      </dsp:txBody>
      <dsp:txXfrm>
        <a:off x="2098119" y="10715"/>
        <a:ext cx="1907381" cy="1144428"/>
      </dsp:txXfrm>
    </dsp:sp>
    <dsp:sp modelId="{F22C3553-CC46-44F1-B384-DB026F4EBB02}">
      <dsp:nvSpPr>
        <dsp:cNvPr id="0" name=""/>
        <dsp:cNvSpPr/>
      </dsp:nvSpPr>
      <dsp:spPr>
        <a:xfrm>
          <a:off x="4196238" y="10715"/>
          <a:ext cx="1907381" cy="1144428"/>
        </a:xfrm>
        <a:prstGeom prst="rect">
          <a:avLst/>
        </a:prstGeom>
        <a:solidFill>
          <a:srgbClr val="C7CCD1"/>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rgbClr val="1F2933"/>
              </a:solidFill>
            </a:rPr>
            <a:t>Ongoing Oversight</a:t>
          </a:r>
        </a:p>
        <a:p>
          <a:pPr marL="0" lvl="0" indent="0" algn="ctr" defTabSz="466725">
            <a:lnSpc>
              <a:spcPct val="90000"/>
            </a:lnSpc>
            <a:spcBef>
              <a:spcPct val="0"/>
            </a:spcBef>
            <a:spcAft>
              <a:spcPct val="35000"/>
            </a:spcAft>
            <a:buNone/>
          </a:pPr>
          <a:r>
            <a:rPr lang="en-US" sz="900" kern="1200" dirty="0">
              <a:solidFill>
                <a:srgbClr val="1F2933"/>
              </a:solidFill>
            </a:rPr>
            <a:t>Active monitoring and reporting to ensure the structure continues to achieve client objectives and stays compliant over time. </a:t>
          </a:r>
          <a:endParaRPr lang="en-US" sz="1050" kern="1200" dirty="0">
            <a:solidFill>
              <a:srgbClr val="1F2933"/>
            </a:solidFill>
          </a:endParaRPr>
        </a:p>
      </dsp:txBody>
      <dsp:txXfrm>
        <a:off x="4196238" y="10715"/>
        <a:ext cx="1907381" cy="11444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95909F-576B-4908-89DD-BC181A203639}">
      <dsp:nvSpPr>
        <dsp:cNvPr id="0" name=""/>
        <dsp:cNvSpPr/>
      </dsp:nvSpPr>
      <dsp:spPr>
        <a:xfrm>
          <a:off x="817" y="23930"/>
          <a:ext cx="1026706" cy="47236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30480" numCol="1" spcCol="1270" anchor="t" anchorCtr="0">
          <a:noAutofit/>
        </a:bodyPr>
        <a:lstStyle/>
        <a:p>
          <a:pPr marL="0" lvl="0" indent="0" algn="l" defTabSz="355600">
            <a:lnSpc>
              <a:spcPct val="90000"/>
            </a:lnSpc>
            <a:spcBef>
              <a:spcPct val="0"/>
            </a:spcBef>
            <a:spcAft>
              <a:spcPct val="35000"/>
            </a:spcAft>
            <a:buNone/>
          </a:pPr>
          <a:r>
            <a:rPr lang="en-US" sz="800" b="1" kern="1200"/>
            <a:t>Case Intake</a:t>
          </a:r>
          <a:endParaRPr lang="en-US" sz="800" kern="1200"/>
        </a:p>
      </dsp:txBody>
      <dsp:txXfrm>
        <a:off x="817" y="23930"/>
        <a:ext cx="1026706" cy="314907"/>
      </dsp:txXfrm>
    </dsp:sp>
    <dsp:sp modelId="{1AD6D014-D7BD-4BD8-8767-E4020A2E771D}">
      <dsp:nvSpPr>
        <dsp:cNvPr id="0" name=""/>
        <dsp:cNvSpPr/>
      </dsp:nvSpPr>
      <dsp:spPr>
        <a:xfrm>
          <a:off x="211106" y="338837"/>
          <a:ext cx="1026706" cy="1436400"/>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56896" rIns="56896" bIns="56896" numCol="1" spcCol="1270" anchor="t" anchorCtr="0">
          <a:noAutofit/>
        </a:bodyPr>
        <a:lstStyle/>
        <a:p>
          <a:pPr marL="57150" lvl="1" indent="-57150" algn="l" defTabSz="355600">
            <a:lnSpc>
              <a:spcPct val="90000"/>
            </a:lnSpc>
            <a:spcBef>
              <a:spcPct val="0"/>
            </a:spcBef>
            <a:spcAft>
              <a:spcPct val="15000"/>
            </a:spcAft>
            <a:buChar char="•"/>
          </a:pPr>
          <a:r>
            <a:rPr lang="en-US" sz="800" kern="1200"/>
            <a:t>Advisors begin by creating or importing a case. A pipeline summary shows pods of </a:t>
          </a:r>
          <a:r>
            <a:rPr lang="en-US" sz="800" i="1" kern="1200"/>
            <a:t>pending cases</a:t>
          </a:r>
          <a:r>
            <a:rPr lang="en-US" sz="800" kern="1200"/>
            <a:t> with clear action items. </a:t>
          </a:r>
        </a:p>
      </dsp:txBody>
      <dsp:txXfrm>
        <a:off x="241177" y="368908"/>
        <a:ext cx="966564" cy="1376258"/>
      </dsp:txXfrm>
    </dsp:sp>
    <dsp:sp modelId="{AE740ED4-08F0-4CC3-B828-CDADB775CABB}">
      <dsp:nvSpPr>
        <dsp:cNvPr id="0" name=""/>
        <dsp:cNvSpPr/>
      </dsp:nvSpPr>
      <dsp:spPr>
        <a:xfrm>
          <a:off x="1183168" y="53573"/>
          <a:ext cx="329967" cy="255620"/>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183168" y="104697"/>
        <a:ext cx="253281" cy="153372"/>
      </dsp:txXfrm>
    </dsp:sp>
    <dsp:sp modelId="{49C92D6E-B22F-4905-9EF9-C219B7DBF350}">
      <dsp:nvSpPr>
        <dsp:cNvPr id="0" name=""/>
        <dsp:cNvSpPr/>
      </dsp:nvSpPr>
      <dsp:spPr>
        <a:xfrm>
          <a:off x="1650102" y="23930"/>
          <a:ext cx="1026706" cy="47236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30480" numCol="1" spcCol="1270" anchor="t" anchorCtr="0">
          <a:noAutofit/>
        </a:bodyPr>
        <a:lstStyle/>
        <a:p>
          <a:pPr marL="0" lvl="0" indent="0" algn="l" defTabSz="355600">
            <a:lnSpc>
              <a:spcPct val="90000"/>
            </a:lnSpc>
            <a:spcBef>
              <a:spcPct val="0"/>
            </a:spcBef>
            <a:spcAft>
              <a:spcPct val="35000"/>
            </a:spcAft>
            <a:buNone/>
          </a:pPr>
          <a:r>
            <a:rPr lang="en-US" sz="800" b="1" kern="1200"/>
            <a:t>Structural Illustration</a:t>
          </a:r>
          <a:endParaRPr lang="en-US" sz="800" kern="1200"/>
        </a:p>
      </dsp:txBody>
      <dsp:txXfrm>
        <a:off x="1650102" y="23930"/>
        <a:ext cx="1026706" cy="314907"/>
      </dsp:txXfrm>
    </dsp:sp>
    <dsp:sp modelId="{A029675B-30EB-4A53-B9EC-577D2DAB34C0}">
      <dsp:nvSpPr>
        <dsp:cNvPr id="0" name=""/>
        <dsp:cNvSpPr/>
      </dsp:nvSpPr>
      <dsp:spPr>
        <a:xfrm>
          <a:off x="1860392" y="338837"/>
          <a:ext cx="1026706" cy="1436400"/>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56896" rIns="56896" bIns="56896" numCol="1" spcCol="1270" anchor="t" anchorCtr="0">
          <a:noAutofit/>
        </a:bodyPr>
        <a:lstStyle/>
        <a:p>
          <a:pPr marL="57150" lvl="1" indent="-57150" algn="l" defTabSz="355600">
            <a:lnSpc>
              <a:spcPct val="90000"/>
            </a:lnSpc>
            <a:spcBef>
              <a:spcPct val="0"/>
            </a:spcBef>
            <a:spcAft>
              <a:spcPct val="15000"/>
            </a:spcAft>
            <a:buChar char="•"/>
          </a:pPr>
          <a:r>
            <a:rPr lang="en-US" sz="800" kern="1200" dirty="0"/>
            <a:t>Using the illustration tool, advisors define design parameters and produce illustrations that help explain structural outcomes to clients. </a:t>
          </a:r>
        </a:p>
      </dsp:txBody>
      <dsp:txXfrm>
        <a:off x="1890463" y="368908"/>
        <a:ext cx="966564" cy="1376258"/>
      </dsp:txXfrm>
    </dsp:sp>
    <dsp:sp modelId="{285AFE1E-E5F3-4DC1-9DD3-A2AB595BE302}">
      <dsp:nvSpPr>
        <dsp:cNvPr id="0" name=""/>
        <dsp:cNvSpPr/>
      </dsp:nvSpPr>
      <dsp:spPr>
        <a:xfrm>
          <a:off x="2832453" y="53573"/>
          <a:ext cx="329967" cy="255620"/>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832453" y="104697"/>
        <a:ext cx="253281" cy="153372"/>
      </dsp:txXfrm>
    </dsp:sp>
    <dsp:sp modelId="{2E9E725E-8E70-4206-93C3-F18B300CA783}">
      <dsp:nvSpPr>
        <dsp:cNvPr id="0" name=""/>
        <dsp:cNvSpPr/>
      </dsp:nvSpPr>
      <dsp:spPr>
        <a:xfrm>
          <a:off x="3299388" y="23930"/>
          <a:ext cx="1026706" cy="47236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30480" numCol="1" spcCol="1270" anchor="t" anchorCtr="0">
          <a:noAutofit/>
        </a:bodyPr>
        <a:lstStyle/>
        <a:p>
          <a:pPr marL="0" lvl="0" indent="0" algn="l" defTabSz="355600">
            <a:lnSpc>
              <a:spcPct val="90000"/>
            </a:lnSpc>
            <a:spcBef>
              <a:spcPct val="0"/>
            </a:spcBef>
            <a:spcAft>
              <a:spcPct val="35000"/>
            </a:spcAft>
            <a:buNone/>
          </a:pPr>
          <a:r>
            <a:rPr lang="en-US" sz="800" b="1" kern="1200"/>
            <a:t>Application Submission</a:t>
          </a:r>
          <a:endParaRPr lang="en-US" sz="800" kern="1200"/>
        </a:p>
      </dsp:txBody>
      <dsp:txXfrm>
        <a:off x="3299388" y="23930"/>
        <a:ext cx="1026706" cy="314907"/>
      </dsp:txXfrm>
    </dsp:sp>
    <dsp:sp modelId="{9AAFB5FC-E16F-4F57-A080-EA76E918C82B}">
      <dsp:nvSpPr>
        <dsp:cNvPr id="0" name=""/>
        <dsp:cNvSpPr/>
      </dsp:nvSpPr>
      <dsp:spPr>
        <a:xfrm>
          <a:off x="3509677" y="338837"/>
          <a:ext cx="1026706" cy="1436400"/>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56896" rIns="56896" bIns="56896" numCol="1" spcCol="1270" anchor="t" anchorCtr="0">
          <a:noAutofit/>
        </a:bodyPr>
        <a:lstStyle/>
        <a:p>
          <a:pPr marL="57150" lvl="1" indent="-57150" algn="l" defTabSz="355600">
            <a:lnSpc>
              <a:spcPct val="90000"/>
            </a:lnSpc>
            <a:spcBef>
              <a:spcPct val="0"/>
            </a:spcBef>
            <a:spcAft>
              <a:spcPct val="15000"/>
            </a:spcAft>
            <a:buChar char="•"/>
          </a:pPr>
          <a:r>
            <a:rPr lang="en-US" sz="800" kern="1200"/>
            <a:t>Once a design is finalized, advisors proceed to the digital e-app to start electronic policy submission. </a:t>
          </a:r>
        </a:p>
      </dsp:txBody>
      <dsp:txXfrm>
        <a:off x="3539748" y="368908"/>
        <a:ext cx="966564" cy="1376258"/>
      </dsp:txXfrm>
    </dsp:sp>
    <dsp:sp modelId="{70FED4FC-4797-40AE-AAEF-2DF85FAA49B5}">
      <dsp:nvSpPr>
        <dsp:cNvPr id="0" name=""/>
        <dsp:cNvSpPr/>
      </dsp:nvSpPr>
      <dsp:spPr>
        <a:xfrm>
          <a:off x="4481739" y="53573"/>
          <a:ext cx="329967" cy="255620"/>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481739" y="104697"/>
        <a:ext cx="253281" cy="153372"/>
      </dsp:txXfrm>
    </dsp:sp>
    <dsp:sp modelId="{4380F73C-15FA-4F42-8D73-2595734F08C7}">
      <dsp:nvSpPr>
        <dsp:cNvPr id="0" name=""/>
        <dsp:cNvSpPr/>
      </dsp:nvSpPr>
      <dsp:spPr>
        <a:xfrm>
          <a:off x="4948674" y="23930"/>
          <a:ext cx="1026706" cy="47236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56896" rIns="56896" bIns="30480" numCol="1" spcCol="1270" anchor="t" anchorCtr="0">
          <a:noAutofit/>
        </a:bodyPr>
        <a:lstStyle/>
        <a:p>
          <a:pPr marL="0" lvl="0" indent="0" algn="l" defTabSz="355600">
            <a:lnSpc>
              <a:spcPct val="90000"/>
            </a:lnSpc>
            <a:spcBef>
              <a:spcPct val="0"/>
            </a:spcBef>
            <a:spcAft>
              <a:spcPct val="35000"/>
            </a:spcAft>
            <a:buNone/>
          </a:pPr>
          <a:r>
            <a:rPr lang="en-US" sz="800" b="1" kern="1200"/>
            <a:t>Policy Tracking &amp; Management</a:t>
          </a:r>
          <a:endParaRPr lang="en-US" sz="800" kern="1200"/>
        </a:p>
      </dsp:txBody>
      <dsp:txXfrm>
        <a:off x="4948674" y="23930"/>
        <a:ext cx="1026706" cy="314907"/>
      </dsp:txXfrm>
    </dsp:sp>
    <dsp:sp modelId="{74E2EF89-721F-4030-82D0-260AB11C28F4}">
      <dsp:nvSpPr>
        <dsp:cNvPr id="0" name=""/>
        <dsp:cNvSpPr/>
      </dsp:nvSpPr>
      <dsp:spPr>
        <a:xfrm>
          <a:off x="5158963" y="338837"/>
          <a:ext cx="1026706" cy="1436400"/>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56896" rIns="56896" bIns="56896" numCol="1" spcCol="1270" anchor="t" anchorCtr="0">
          <a:noAutofit/>
        </a:bodyPr>
        <a:lstStyle/>
        <a:p>
          <a:pPr marL="57150" lvl="1" indent="-57150" algn="l" defTabSz="355600">
            <a:lnSpc>
              <a:spcPct val="90000"/>
            </a:lnSpc>
            <a:spcBef>
              <a:spcPct val="0"/>
            </a:spcBef>
            <a:spcAft>
              <a:spcPct val="15000"/>
            </a:spcAft>
            <a:buChar char="•"/>
          </a:pPr>
          <a:r>
            <a:rPr lang="en-US" sz="800" kern="1200"/>
            <a:t>Issued policies and their documentation are accessible in Policy Management, helping advisors monitor performance and compliance. </a:t>
          </a:r>
        </a:p>
      </dsp:txBody>
      <dsp:txXfrm>
        <a:off x="5189034" y="368908"/>
        <a:ext cx="966564" cy="137625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48368-12FF-4D73-BB25-92476190B559}" type="datetimeFigureOut">
              <a:rPr lang="en-US" smtClean="0"/>
              <a:t>2/18/2026</a:t>
            </a:fld>
            <a:endParaRPr lang="en-US"/>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AD966A-48AE-4CE4-BD07-C55343577F29}" type="slidenum">
              <a:rPr lang="en-US" smtClean="0"/>
              <a:t>‹#›</a:t>
            </a:fld>
            <a:endParaRPr lang="en-US"/>
          </a:p>
        </p:txBody>
      </p:sp>
    </p:spTree>
    <p:extLst>
      <p:ext uri="{BB962C8B-B14F-4D97-AF65-F5344CB8AC3E}">
        <p14:creationId xmlns:p14="http://schemas.microsoft.com/office/powerpoint/2010/main" val="3849529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416B75-9712-4248-99D4-F390253D3F18}"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2707216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416B75-9712-4248-99D4-F390253D3F18}"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1092701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416B75-9712-4248-99D4-F390253D3F18}"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1556876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416B75-9712-4248-99D4-F390253D3F18}"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69940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416B75-9712-4248-99D4-F390253D3F18}"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1067137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416B75-9712-4248-99D4-F390253D3F18}"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797563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416B75-9712-4248-99D4-F390253D3F18}"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2422068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6416B75-9712-4248-99D4-F390253D3F18}"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506798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6416B75-9712-4248-99D4-F390253D3F18}"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27138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416B75-9712-4248-99D4-F390253D3F18}"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1162956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416B75-9712-4248-99D4-F390253D3F18}"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58903-DCDB-493C-A88A-854C8690BEFB}" type="slidenum">
              <a:rPr lang="en-US" smtClean="0"/>
              <a:t>‹#›</a:t>
            </a:fld>
            <a:endParaRPr lang="en-US"/>
          </a:p>
        </p:txBody>
      </p:sp>
    </p:spTree>
    <p:extLst>
      <p:ext uri="{BB962C8B-B14F-4D97-AF65-F5344CB8AC3E}">
        <p14:creationId xmlns:p14="http://schemas.microsoft.com/office/powerpoint/2010/main" val="3185397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82000"/>
                  </a:schemeClr>
                </a:solidFill>
              </a:defRPr>
            </a:lvl1pPr>
          </a:lstStyle>
          <a:p>
            <a:fld id="{46416B75-9712-4248-99D4-F390253D3F18}" type="datetimeFigureOut">
              <a:rPr lang="en-US" smtClean="0"/>
              <a:t>2/18/2026</a:t>
            </a:fld>
            <a:endParaRPr lang="en-US"/>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82000"/>
                  </a:schemeClr>
                </a:solidFill>
              </a:defRPr>
            </a:lvl1pPr>
          </a:lstStyle>
          <a:p>
            <a:fld id="{E8F58903-DCDB-493C-A88A-854C8690BEFB}" type="slidenum">
              <a:rPr lang="en-US" smtClean="0"/>
              <a:t>‹#›</a:t>
            </a:fld>
            <a:endParaRPr lang="en-US"/>
          </a:p>
        </p:txBody>
      </p:sp>
    </p:spTree>
    <p:extLst>
      <p:ext uri="{BB962C8B-B14F-4D97-AF65-F5344CB8AC3E}">
        <p14:creationId xmlns:p14="http://schemas.microsoft.com/office/powerpoint/2010/main" val="22634540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13" Type="http://schemas.microsoft.com/office/2007/relationships/diagramDrawing" Target="../diagrams/drawing6.xml"/><Relationship Id="rId1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5.xml"/><Relationship Id="rId12" Type="http://schemas.openxmlformats.org/officeDocument/2006/relationships/diagramColors" Target="../diagrams/colors6.xml"/><Relationship Id="rId17" Type="http://schemas.openxmlformats.org/officeDocument/2006/relationships/diagramColors" Target="../diagrams/colors7.xml"/><Relationship Id="rId2" Type="http://schemas.openxmlformats.org/officeDocument/2006/relationships/image" Target="../media/image3.png"/><Relationship Id="rId16" Type="http://schemas.openxmlformats.org/officeDocument/2006/relationships/diagramQuickStyle" Target="../diagrams/quickStyle7.xml"/><Relationship Id="rId1" Type="http://schemas.openxmlformats.org/officeDocument/2006/relationships/slideLayout" Target="../slideLayouts/slideLayout7.xml"/><Relationship Id="rId6" Type="http://schemas.openxmlformats.org/officeDocument/2006/relationships/diagramQuickStyle" Target="../diagrams/quickStyle5.xml"/><Relationship Id="rId11" Type="http://schemas.openxmlformats.org/officeDocument/2006/relationships/diagramQuickStyle" Target="../diagrams/quickStyle6.xml"/><Relationship Id="rId5" Type="http://schemas.openxmlformats.org/officeDocument/2006/relationships/diagramLayout" Target="../diagrams/layout5.xml"/><Relationship Id="rId15" Type="http://schemas.openxmlformats.org/officeDocument/2006/relationships/diagramLayout" Target="../diagrams/layout7.xml"/><Relationship Id="rId10" Type="http://schemas.openxmlformats.org/officeDocument/2006/relationships/diagramLayout" Target="../diagrams/layout6.xml"/><Relationship Id="rId4" Type="http://schemas.openxmlformats.org/officeDocument/2006/relationships/diagramData" Target="../diagrams/data5.xml"/><Relationship Id="rId9" Type="http://schemas.openxmlformats.org/officeDocument/2006/relationships/diagramData" Target="../diagrams/data6.xml"/><Relationship Id="rId14" Type="http://schemas.openxmlformats.org/officeDocument/2006/relationships/diagramData" Target="../diagrams/data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blip>
          <a:srcRect/>
          <a:stretch>
            <a:fillRect t="-1000" r="-60000"/>
          </a:stretch>
        </a:blipFill>
        <a:effectLst/>
      </p:bgPr>
    </p:bg>
    <p:spTree>
      <p:nvGrpSpPr>
        <p:cNvPr id="1" name="">
          <a:extLst>
            <a:ext uri="{FF2B5EF4-FFF2-40B4-BE49-F238E27FC236}">
              <a16:creationId xmlns:a16="http://schemas.microsoft.com/office/drawing/2014/main" id="{19BDA4E2-CB20-80D1-9E80-21878A56D4AA}"/>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6AB36B32-97F4-45DE-12E8-FFC162DFAA6E}"/>
              </a:ext>
            </a:extLst>
          </p:cNvPr>
          <p:cNvSpPr txBox="1"/>
          <p:nvPr/>
        </p:nvSpPr>
        <p:spPr>
          <a:xfrm>
            <a:off x="0" y="568775"/>
            <a:ext cx="5410200" cy="1821775"/>
          </a:xfrm>
          <a:prstGeom prst="roundRect">
            <a:avLst/>
          </a:prstGeom>
          <a:noFill/>
          <a:ln>
            <a:noFill/>
          </a:ln>
          <a:effectLst>
            <a:softEdge rad="127000"/>
          </a:effectLst>
        </p:spPr>
        <p:txBody>
          <a:bodyPr wrap="square" rtlCol="0">
            <a:spAutoFit/>
          </a:bodyPr>
          <a:lstStyle/>
          <a:p>
            <a:r>
              <a:rPr lang="en-US" sz="2800" b="1" dirty="0">
                <a:solidFill>
                  <a:srgbClr val="1F2933"/>
                </a:solidFill>
                <a:latin typeface="Inter" panose="02000503000000020004" pitchFamily="2" charset="0"/>
                <a:ea typeface="Inter" panose="02000503000000020004" pitchFamily="2" charset="0"/>
                <a:cs typeface="Inter" panose="02000503000000020004" pitchFamily="2" charset="0"/>
              </a:rPr>
              <a:t>Private Placement Infrastructure Built for RIAs</a:t>
            </a:r>
          </a:p>
          <a:p>
            <a:endParaRPr lang="en-US" sz="1000" b="1" dirty="0">
              <a:solidFill>
                <a:srgbClr val="1F2933"/>
              </a:solidFill>
              <a:latin typeface="Inter" panose="02000503000000020004" pitchFamily="2" charset="0"/>
              <a:ea typeface="Inter" panose="02000503000000020004" pitchFamily="2" charset="0"/>
              <a:cs typeface="Inter" panose="02000503000000020004" pitchFamily="2" charset="0"/>
            </a:endParaRPr>
          </a:p>
          <a:p>
            <a:endParaRPr lang="en-US" sz="10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100" i="1" dirty="0">
                <a:solidFill>
                  <a:srgbClr val="1F2933"/>
                </a:solidFill>
                <a:latin typeface="Inter" panose="02000503000000020004" pitchFamily="2" charset="0"/>
                <a:ea typeface="Inter" panose="02000503000000020004" pitchFamily="2" charset="0"/>
                <a:cs typeface="Inter" panose="02000503000000020004" pitchFamily="2" charset="0"/>
              </a:rPr>
              <a:t>Confidently evaluate, design, implement, and monitor </a:t>
            </a:r>
          </a:p>
          <a:p>
            <a:r>
              <a:rPr lang="en-US" sz="1100" i="1" dirty="0">
                <a:solidFill>
                  <a:srgbClr val="1F2933"/>
                </a:solidFill>
                <a:latin typeface="Inter" panose="02000503000000020004" pitchFamily="2" charset="0"/>
                <a:ea typeface="Inter" panose="02000503000000020004" pitchFamily="2" charset="0"/>
                <a:cs typeface="Inter" panose="02000503000000020004" pitchFamily="2" charset="0"/>
              </a:rPr>
              <a:t>private placement solutions – </a:t>
            </a:r>
            <a:r>
              <a:rPr lang="en-US" sz="1400" b="1" i="1" dirty="0">
                <a:solidFill>
                  <a:srgbClr val="046A38"/>
                </a:solidFill>
                <a:latin typeface="Inter" panose="02000503000000020004" pitchFamily="2" charset="0"/>
                <a:ea typeface="Inter" panose="02000503000000020004" pitchFamily="2" charset="0"/>
                <a:cs typeface="Inter" panose="02000503000000020004" pitchFamily="2" charset="0"/>
              </a:rPr>
              <a:t>All in one platform</a:t>
            </a:r>
            <a:endParaRPr lang="en-US" sz="1200" b="1" i="1" dirty="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30" name="TextBox 29">
            <a:extLst>
              <a:ext uri="{FF2B5EF4-FFF2-40B4-BE49-F238E27FC236}">
                <a16:creationId xmlns:a16="http://schemas.microsoft.com/office/drawing/2014/main" id="{AECE18D7-1A39-A871-2B63-478393CD3D9E}"/>
              </a:ext>
            </a:extLst>
          </p:cNvPr>
          <p:cNvSpPr txBox="1"/>
          <p:nvPr/>
        </p:nvSpPr>
        <p:spPr>
          <a:xfrm>
            <a:off x="171449" y="2603136"/>
            <a:ext cx="1648424" cy="306467"/>
          </a:xfrm>
          <a:prstGeom prst="roundRect">
            <a:avLst/>
          </a:prstGeom>
          <a:solidFill>
            <a:srgbClr val="C9A24D"/>
          </a:solidFill>
          <a:ln>
            <a:solidFill>
              <a:srgbClr val="C9A24D"/>
            </a:solidFill>
          </a:ln>
        </p:spPr>
        <p:txBody>
          <a:bodyPr wrap="square" rtlCol="0">
            <a:spAutoFit/>
          </a:bodyPr>
          <a:lstStyle/>
          <a:p>
            <a:pPr algn="ctr"/>
            <a:r>
              <a:rPr lang="en-US" sz="1200" dirty="0">
                <a:solidFill>
                  <a:srgbClr val="1F2933"/>
                </a:solidFill>
                <a:latin typeface="Inter" panose="02000503000000020004" pitchFamily="2" charset="0"/>
                <a:ea typeface="Inter" panose="02000503000000020004" pitchFamily="2" charset="0"/>
                <a:cs typeface="Inter" panose="02000503000000020004" pitchFamily="2" charset="0"/>
              </a:rPr>
              <a:t>Schedule a Demo</a:t>
            </a:r>
          </a:p>
        </p:txBody>
      </p:sp>
      <p:sp>
        <p:nvSpPr>
          <p:cNvPr id="31" name="TextBox 30">
            <a:extLst>
              <a:ext uri="{FF2B5EF4-FFF2-40B4-BE49-F238E27FC236}">
                <a16:creationId xmlns:a16="http://schemas.microsoft.com/office/drawing/2014/main" id="{F498B8FB-5D5E-0B77-4618-4A5F11617A68}"/>
              </a:ext>
            </a:extLst>
          </p:cNvPr>
          <p:cNvSpPr txBox="1"/>
          <p:nvPr/>
        </p:nvSpPr>
        <p:spPr>
          <a:xfrm>
            <a:off x="2000249" y="2603136"/>
            <a:ext cx="1648424" cy="306467"/>
          </a:xfrm>
          <a:prstGeom prst="roundRect">
            <a:avLst/>
          </a:prstGeom>
          <a:solidFill>
            <a:srgbClr val="1F2933"/>
          </a:solidFill>
          <a:ln>
            <a:solidFill>
              <a:srgbClr val="C9A24D"/>
            </a:solidFill>
          </a:ln>
        </p:spPr>
        <p:txBody>
          <a:bodyPr wrap="square" rtlCol="0">
            <a:spAutoFit/>
          </a:bodyPr>
          <a:lstStyle/>
          <a:p>
            <a:pPr algn="ctr"/>
            <a:r>
              <a:rPr lang="en-US" sz="1200" dirty="0">
                <a:solidFill>
                  <a:srgbClr val="F5F7F8"/>
                </a:solidFill>
                <a:latin typeface="Inter" panose="02000503000000020004" pitchFamily="2" charset="0"/>
                <a:ea typeface="Inter" panose="02000503000000020004" pitchFamily="2" charset="0"/>
                <a:cs typeface="Inter" panose="02000503000000020004" pitchFamily="2" charset="0"/>
              </a:rPr>
              <a:t>Model the Impact</a:t>
            </a:r>
          </a:p>
        </p:txBody>
      </p:sp>
      <p:sp>
        <p:nvSpPr>
          <p:cNvPr id="32" name="TextBox 31">
            <a:extLst>
              <a:ext uri="{FF2B5EF4-FFF2-40B4-BE49-F238E27FC236}">
                <a16:creationId xmlns:a16="http://schemas.microsoft.com/office/drawing/2014/main" id="{EE10CC59-ED06-7DC0-12B7-4A42BA8453E1}"/>
              </a:ext>
            </a:extLst>
          </p:cNvPr>
          <p:cNvSpPr txBox="1"/>
          <p:nvPr/>
        </p:nvSpPr>
        <p:spPr>
          <a:xfrm>
            <a:off x="2246683" y="3135290"/>
            <a:ext cx="2803980" cy="255389"/>
          </a:xfrm>
          <a:prstGeom prst="roundRect">
            <a:avLst/>
          </a:prstGeom>
          <a:noFill/>
          <a:ln>
            <a:noFill/>
          </a:ln>
          <a:effectLst>
            <a:softEdge rad="127000"/>
          </a:effectLst>
        </p:spPr>
        <p:txBody>
          <a:bodyPr wrap="square" rtlCol="0">
            <a:spAutoFit/>
          </a:bodyPr>
          <a:lstStyle/>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Advisor-Led </a:t>
            </a:r>
            <a:r>
              <a:rPr lang="en-US" sz="900" dirty="0">
                <a:solidFill>
                  <a:srgbClr val="046A38"/>
                </a:solidFill>
                <a:latin typeface="Inter" panose="02000503000000020004" pitchFamily="2" charset="0"/>
                <a:ea typeface="Inter" panose="02000503000000020004" pitchFamily="2" charset="0"/>
                <a:cs typeface="Inter" panose="02000503000000020004" pitchFamily="2" charset="0"/>
              </a:rPr>
              <a:t>I</a:t>
            </a: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 Carrier-Aligned </a:t>
            </a:r>
            <a:r>
              <a:rPr lang="en-US" sz="900" dirty="0">
                <a:solidFill>
                  <a:srgbClr val="046A38"/>
                </a:solidFill>
                <a:latin typeface="Inter" panose="02000503000000020004" pitchFamily="2" charset="0"/>
                <a:ea typeface="Inter" panose="02000503000000020004" pitchFamily="2" charset="0"/>
                <a:cs typeface="Inter" panose="02000503000000020004" pitchFamily="2" charset="0"/>
              </a:rPr>
              <a:t>I</a:t>
            </a: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 Client-Focused</a:t>
            </a:r>
          </a:p>
        </p:txBody>
      </p:sp>
      <p:sp>
        <p:nvSpPr>
          <p:cNvPr id="37" name="Rectangle 36">
            <a:extLst>
              <a:ext uri="{FF2B5EF4-FFF2-40B4-BE49-F238E27FC236}">
                <a16:creationId xmlns:a16="http://schemas.microsoft.com/office/drawing/2014/main" id="{D0EB07C5-15B2-C802-66EA-9CF32441681A}"/>
              </a:ext>
            </a:extLst>
          </p:cNvPr>
          <p:cNvSpPr/>
          <p:nvPr/>
        </p:nvSpPr>
        <p:spPr>
          <a:xfrm>
            <a:off x="-15006" y="3681175"/>
            <a:ext cx="6884344" cy="520983"/>
          </a:xfrm>
          <a:prstGeom prst="rect">
            <a:avLst/>
          </a:prstGeom>
          <a:solidFill>
            <a:srgbClr val="046A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5F7F8"/>
                </a:solidFill>
                <a:latin typeface="Inter" panose="02000503000000020004" pitchFamily="2" charset="0"/>
                <a:ea typeface="Inter" panose="02000503000000020004" pitchFamily="2" charset="0"/>
                <a:cs typeface="Inter" panose="02000503000000020004" pitchFamily="2" charset="0"/>
              </a:rPr>
              <a:t>Insurance + Investment, Reimagined</a:t>
            </a:r>
          </a:p>
        </p:txBody>
      </p:sp>
      <p:sp>
        <p:nvSpPr>
          <p:cNvPr id="38" name="TextBox 37">
            <a:extLst>
              <a:ext uri="{FF2B5EF4-FFF2-40B4-BE49-F238E27FC236}">
                <a16:creationId xmlns:a16="http://schemas.microsoft.com/office/drawing/2014/main" id="{51092EAB-CD73-E50E-04BC-A326F298259C}"/>
              </a:ext>
            </a:extLst>
          </p:cNvPr>
          <p:cNvSpPr txBox="1"/>
          <p:nvPr/>
        </p:nvSpPr>
        <p:spPr>
          <a:xfrm>
            <a:off x="940706" y="4245696"/>
            <a:ext cx="4923065" cy="677108"/>
          </a:xfrm>
          <a:prstGeom prst="rect">
            <a:avLst/>
          </a:prstGeom>
          <a:noFill/>
        </p:spPr>
        <p:txBody>
          <a:bodyPr wrap="square" rtlCol="0">
            <a:spAutoFit/>
          </a:bodyPr>
          <a:lstStyle/>
          <a:p>
            <a:pPr algn="ctr"/>
            <a:r>
              <a:rPr lang="en-US" sz="1400" b="1" dirty="0">
                <a:solidFill>
                  <a:srgbClr val="1F2933"/>
                </a:solidFill>
                <a:latin typeface="Inter" panose="02000503000000020004" pitchFamily="2" charset="0"/>
                <a:ea typeface="Inter" panose="02000503000000020004" pitchFamily="2" charset="0"/>
                <a:cs typeface="Inter" panose="02000503000000020004" pitchFamily="2" charset="0"/>
              </a:rPr>
              <a:t>The most powerful wealth strategies emerge when insurance and investments work together.</a:t>
            </a:r>
            <a:endParaRPr lang="en-US" sz="1000" dirty="0">
              <a:solidFill>
                <a:srgbClr val="1F2933"/>
              </a:solidFill>
            </a:endParaRPr>
          </a:p>
          <a:p>
            <a:pPr algn="ctr"/>
            <a:endParaRPr lang="en-US" sz="1000" dirty="0">
              <a:latin typeface="Inter" panose="02000503000000020004" pitchFamily="2" charset="0"/>
              <a:ea typeface="Inter" panose="02000503000000020004" pitchFamily="2" charset="0"/>
              <a:cs typeface="Inter" panose="02000503000000020004" pitchFamily="2" charset="0"/>
            </a:endParaRPr>
          </a:p>
        </p:txBody>
      </p:sp>
      <p:sp>
        <p:nvSpPr>
          <p:cNvPr id="41" name="Rectangle 40">
            <a:extLst>
              <a:ext uri="{FF2B5EF4-FFF2-40B4-BE49-F238E27FC236}">
                <a16:creationId xmlns:a16="http://schemas.microsoft.com/office/drawing/2014/main" id="{C9F74301-AA40-D227-87BD-F6340DCAE0D7}"/>
              </a:ext>
            </a:extLst>
          </p:cNvPr>
          <p:cNvSpPr/>
          <p:nvPr/>
        </p:nvSpPr>
        <p:spPr>
          <a:xfrm>
            <a:off x="-26762" y="6700301"/>
            <a:ext cx="6858000" cy="5894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9A24D"/>
                </a:solidFill>
                <a:latin typeface="Inter" panose="02000503000000020004" pitchFamily="2" charset="0"/>
                <a:ea typeface="Inter" panose="02000503000000020004" pitchFamily="2" charset="0"/>
                <a:cs typeface="Inter" panose="02000503000000020004" pitchFamily="2" charset="0"/>
              </a:rPr>
              <a:t>This is the future of wealth management</a:t>
            </a:r>
          </a:p>
          <a:p>
            <a:pPr algn="ctr"/>
            <a:endParaRPr lang="en-US" sz="500" b="1" dirty="0">
              <a:solidFill>
                <a:srgbClr val="C9A24D"/>
              </a:solidFill>
              <a:latin typeface="Inter" panose="02000503000000020004" pitchFamily="2" charset="0"/>
              <a:ea typeface="Inter" panose="02000503000000020004" pitchFamily="2" charset="0"/>
              <a:cs typeface="Inter" panose="02000503000000020004" pitchFamily="2" charset="0"/>
            </a:endParaRPr>
          </a:p>
          <a:p>
            <a:pPr algn="ctr"/>
            <a:r>
              <a:rPr lang="en-US" sz="1000" b="1" dirty="0">
                <a:solidFill>
                  <a:srgbClr val="1F2933"/>
                </a:solidFill>
                <a:latin typeface="Inter" panose="02000503000000020004" pitchFamily="2" charset="0"/>
                <a:ea typeface="Inter" panose="02000503000000020004" pitchFamily="2" charset="0"/>
                <a:cs typeface="Inter" panose="02000503000000020004" pitchFamily="2" charset="0"/>
              </a:rPr>
              <a:t>Integrated, transparent, and built for advisors who lead</a:t>
            </a:r>
            <a:endParaRPr lang="en-US" sz="900" b="1" dirty="0">
              <a:solidFill>
                <a:srgbClr val="1F2933"/>
              </a:solidFill>
              <a:latin typeface="Inter" panose="02000503000000020004" pitchFamily="2" charset="0"/>
              <a:ea typeface="Inter" panose="02000503000000020004" pitchFamily="2" charset="0"/>
              <a:cs typeface="Inter" panose="02000503000000020004" pitchFamily="2" charset="0"/>
            </a:endParaRPr>
          </a:p>
        </p:txBody>
      </p:sp>
      <p:graphicFrame>
        <p:nvGraphicFramePr>
          <p:cNvPr id="45" name="Diagram 44">
            <a:extLst>
              <a:ext uri="{FF2B5EF4-FFF2-40B4-BE49-F238E27FC236}">
                <a16:creationId xmlns:a16="http://schemas.microsoft.com/office/drawing/2014/main" id="{73C165E2-BC16-5001-383D-755E6517FACC}"/>
              </a:ext>
            </a:extLst>
          </p:cNvPr>
          <p:cNvGraphicFramePr/>
          <p:nvPr>
            <p:extLst>
              <p:ext uri="{D42A27DB-BD31-4B8C-83A1-F6EECF244321}">
                <p14:modId xmlns:p14="http://schemas.microsoft.com/office/powerpoint/2010/main" val="694816560"/>
              </p:ext>
            </p:extLst>
          </p:nvPr>
        </p:nvGraphicFramePr>
        <p:xfrm>
          <a:off x="-60270" y="7579336"/>
          <a:ext cx="6929608" cy="34962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7" name="TextBox 46">
            <a:extLst>
              <a:ext uri="{FF2B5EF4-FFF2-40B4-BE49-F238E27FC236}">
                <a16:creationId xmlns:a16="http://schemas.microsoft.com/office/drawing/2014/main" id="{6C9AAC0F-3170-4CB8-7827-32CBA9EFBCF2}"/>
              </a:ext>
            </a:extLst>
          </p:cNvPr>
          <p:cNvSpPr txBox="1"/>
          <p:nvPr/>
        </p:nvSpPr>
        <p:spPr>
          <a:xfrm>
            <a:off x="171449" y="5097248"/>
            <a:ext cx="2616385" cy="1646605"/>
          </a:xfrm>
          <a:prstGeom prst="rect">
            <a:avLst/>
          </a:prstGeom>
          <a:noFill/>
        </p:spPr>
        <p:txBody>
          <a:bodyPr wrap="square" rtlCol="0">
            <a:spAutoFit/>
          </a:bodyPr>
          <a:lstStyle/>
          <a:p>
            <a:r>
              <a:rPr lang="en-US" sz="900" i="1" dirty="0">
                <a:solidFill>
                  <a:srgbClr val="1F2933"/>
                </a:solidFill>
                <a:latin typeface="Inter" panose="02000503000000020004" pitchFamily="2" charset="0"/>
                <a:ea typeface="Inter" panose="02000503000000020004" pitchFamily="2" charset="0"/>
                <a:cs typeface="Inter" panose="02000503000000020004" pitchFamily="2" charset="0"/>
              </a:rPr>
              <a:t>For too long, these strategies have operated in separate worlds. Advisure brings them together - intelligently, intentionally, and with institutional precision.</a:t>
            </a:r>
          </a:p>
          <a:p>
            <a:endParaRPr lang="en-US" sz="900" i="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i="1" dirty="0">
                <a:solidFill>
                  <a:srgbClr val="1F2933"/>
                </a:solidFill>
                <a:latin typeface="Inter" panose="02000503000000020004" pitchFamily="2" charset="0"/>
                <a:ea typeface="Inter" panose="02000503000000020004" pitchFamily="2" charset="0"/>
                <a:cs typeface="Inter" panose="02000503000000020004" pitchFamily="2" charset="0"/>
              </a:rPr>
              <a:t>Our technology simplifies complexity, removes friction, and brings clarity to every step – Empowering RIAs to deliver smarter, more comprehensive advice.</a:t>
            </a:r>
          </a:p>
          <a:p>
            <a:endParaRPr lang="en-US" sz="1000" dirty="0"/>
          </a:p>
          <a:p>
            <a:endParaRPr lang="en-US" sz="1000" dirty="0">
              <a:latin typeface="Inter" panose="02000503000000020004" pitchFamily="2" charset="0"/>
              <a:ea typeface="Inter" panose="02000503000000020004" pitchFamily="2" charset="0"/>
              <a:cs typeface="Inter" panose="02000503000000020004" pitchFamily="2" charset="0"/>
            </a:endParaRPr>
          </a:p>
        </p:txBody>
      </p:sp>
      <p:sp>
        <p:nvSpPr>
          <p:cNvPr id="48" name="TextBox 47">
            <a:extLst>
              <a:ext uri="{FF2B5EF4-FFF2-40B4-BE49-F238E27FC236}">
                <a16:creationId xmlns:a16="http://schemas.microsoft.com/office/drawing/2014/main" id="{79D0CE2C-C49D-379D-12A1-5F023E2D134B}"/>
              </a:ext>
            </a:extLst>
          </p:cNvPr>
          <p:cNvSpPr txBox="1"/>
          <p:nvPr/>
        </p:nvSpPr>
        <p:spPr>
          <a:xfrm>
            <a:off x="2922106" y="4876911"/>
            <a:ext cx="3837524" cy="1651516"/>
          </a:xfrm>
          <a:prstGeom prst="roundRect">
            <a:avLst/>
          </a:prstGeom>
          <a:solidFill>
            <a:srgbClr val="C7CCD1"/>
          </a:solidFill>
          <a:ln>
            <a:solidFill>
              <a:srgbClr val="1F2933"/>
            </a:solidFill>
          </a:ln>
        </p:spPr>
        <p:txBody>
          <a:bodyPr wrap="square" rtlCol="0">
            <a:spAutoFit/>
          </a:bodyPr>
          <a:lstStyle/>
          <a:p>
            <a:pPr algn="ctr"/>
            <a:r>
              <a:rPr lang="en-US" sz="1400" b="1" dirty="0">
                <a:solidFill>
                  <a:srgbClr val="046A38"/>
                </a:solidFill>
                <a:latin typeface="Inter" panose="02000503000000020004" pitchFamily="2" charset="0"/>
                <a:ea typeface="Inter" panose="02000503000000020004" pitchFamily="2" charset="0"/>
                <a:cs typeface="Inter" panose="02000503000000020004" pitchFamily="2" charset="0"/>
              </a:rPr>
              <a:t>The Result</a:t>
            </a:r>
          </a:p>
          <a:p>
            <a:pPr algn="ctr"/>
            <a:endParaRPr lang="en-US" sz="1400" b="1" dirty="0">
              <a:solidFill>
                <a:srgbClr val="C9A24D"/>
              </a:solidFill>
              <a:latin typeface="Inter" panose="02000503000000020004" pitchFamily="2" charset="0"/>
              <a:ea typeface="Inter" panose="02000503000000020004" pitchFamily="2" charset="0"/>
              <a:cs typeface="Inter" panose="02000503000000020004" pitchFamily="2" charset="0"/>
            </a:endParaRPr>
          </a:p>
          <a:p>
            <a:pPr marL="171450" indent="-171450">
              <a:buFont typeface="Wingdings" panose="05000000000000000000" pitchFamily="2" charset="2"/>
              <a:buChar char="ü"/>
            </a:pPr>
            <a:endParaRPr lang="en-US" sz="900" dirty="0">
              <a:solidFill>
                <a:srgbClr val="F5F7F8"/>
              </a:solidFill>
              <a:latin typeface="Inter" panose="02000503000000020004" pitchFamily="2" charset="0"/>
              <a:ea typeface="Inter" panose="02000503000000020004" pitchFamily="2" charset="0"/>
              <a:cs typeface="Inter" panose="02000503000000020004" pitchFamily="2" charset="0"/>
            </a:endParaRPr>
          </a:p>
          <a:p>
            <a:pPr marL="171450" indent="-171450">
              <a:buClr>
                <a:srgbClr val="046A38"/>
              </a:buClr>
              <a:buFont typeface="Wingdings" panose="05000000000000000000" pitchFamily="2" charset="2"/>
              <a:buChar char="ü"/>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True integration              </a:t>
            </a:r>
            <a:r>
              <a:rPr lang="en-US" sz="900" dirty="0">
                <a:solidFill>
                  <a:srgbClr val="FF0000"/>
                </a:solidFill>
                <a:latin typeface="Inter" panose="02000503000000020004" pitchFamily="2" charset="0"/>
                <a:ea typeface="Inter" panose="02000503000000020004" pitchFamily="2" charset="0"/>
                <a:cs typeface="Inter" panose="02000503000000020004" pitchFamily="2" charset="0"/>
              </a:rPr>
              <a:t>X  </a:t>
            </a: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NOT coordination</a:t>
            </a:r>
          </a:p>
          <a:p>
            <a:pPr marL="171450" indent="-171450">
              <a:buClr>
                <a:srgbClr val="046A38"/>
              </a:buClr>
              <a:buFont typeface="Wingdings" panose="05000000000000000000" pitchFamily="2" charset="2"/>
              <a:buChar char="ü"/>
            </a:pPr>
            <a:endParaRPr lang="en-US" sz="900" dirty="0">
              <a:solidFill>
                <a:srgbClr val="F5F7F8"/>
              </a:solidFill>
              <a:latin typeface="Inter" panose="02000503000000020004" pitchFamily="2" charset="0"/>
              <a:ea typeface="Inter" panose="02000503000000020004" pitchFamily="2" charset="0"/>
              <a:cs typeface="Inter" panose="02000503000000020004" pitchFamily="2" charset="0"/>
            </a:endParaRPr>
          </a:p>
          <a:p>
            <a:pPr marL="171450" indent="-171450">
              <a:buClr>
                <a:srgbClr val="046A38"/>
              </a:buClr>
              <a:buFont typeface="Wingdings" panose="05000000000000000000" pitchFamily="2" charset="2"/>
              <a:buChar char="ü"/>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Structural Alpha              </a:t>
            </a:r>
            <a:r>
              <a:rPr lang="en-US" sz="900" dirty="0">
                <a:solidFill>
                  <a:srgbClr val="FF0000"/>
                </a:solidFill>
                <a:latin typeface="Inter" panose="02000503000000020004" pitchFamily="2" charset="0"/>
                <a:ea typeface="Inter" panose="02000503000000020004" pitchFamily="2" charset="0"/>
                <a:cs typeface="Inter" panose="02000503000000020004" pitchFamily="2" charset="0"/>
              </a:rPr>
              <a:t>X  </a:t>
            </a: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NOT incremental improvement</a:t>
            </a:r>
          </a:p>
          <a:p>
            <a:pPr marL="171450" indent="-171450">
              <a:buClr>
                <a:srgbClr val="046A38"/>
              </a:buClr>
              <a:buFont typeface="Wingdings" panose="05000000000000000000" pitchFamily="2" charset="2"/>
              <a:buChar char="ü"/>
            </a:pPr>
            <a:endParaRPr lang="en-US" sz="9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171450" indent="-171450">
              <a:buClr>
                <a:srgbClr val="046A38"/>
              </a:buClr>
              <a:buFont typeface="Wingdings" panose="05000000000000000000" pitchFamily="2" charset="2"/>
              <a:buChar char="ü"/>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End-to-end execution    </a:t>
            </a:r>
            <a:r>
              <a:rPr lang="en-US" sz="900" dirty="0">
                <a:solidFill>
                  <a:srgbClr val="FF0000"/>
                </a:solidFill>
                <a:latin typeface="Inter" panose="02000503000000020004" pitchFamily="2" charset="0"/>
                <a:ea typeface="Inter" panose="02000503000000020004" pitchFamily="2" charset="0"/>
                <a:cs typeface="Inter" panose="02000503000000020004" pitchFamily="2" charset="0"/>
              </a:rPr>
              <a:t>X  </a:t>
            </a: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NOT fragmented oversight</a:t>
            </a:r>
          </a:p>
          <a:p>
            <a:endParaRPr lang="en-US" sz="900" i="1" dirty="0">
              <a:solidFill>
                <a:srgbClr val="F5F7F8"/>
              </a:solidFill>
              <a:latin typeface="Inter" panose="02000503000000020004" pitchFamily="2" charset="0"/>
              <a:ea typeface="Inter" panose="02000503000000020004" pitchFamily="2" charset="0"/>
              <a:cs typeface="Inter" panose="02000503000000020004" pitchFamily="2" charset="0"/>
            </a:endParaRPr>
          </a:p>
        </p:txBody>
      </p:sp>
      <p:sp>
        <p:nvSpPr>
          <p:cNvPr id="50" name="TextBox 49">
            <a:extLst>
              <a:ext uri="{FF2B5EF4-FFF2-40B4-BE49-F238E27FC236}">
                <a16:creationId xmlns:a16="http://schemas.microsoft.com/office/drawing/2014/main" id="{A41CED65-0B7D-76AE-E5D4-0AB9E16014AC}"/>
              </a:ext>
            </a:extLst>
          </p:cNvPr>
          <p:cNvSpPr txBox="1"/>
          <p:nvPr/>
        </p:nvSpPr>
        <p:spPr>
          <a:xfrm>
            <a:off x="380510" y="10416577"/>
            <a:ext cx="2589074" cy="280928"/>
          </a:xfrm>
          <a:prstGeom prst="roundRect">
            <a:avLst/>
          </a:prstGeom>
          <a:solidFill>
            <a:srgbClr val="C9A24D"/>
          </a:solidFill>
          <a:ln>
            <a:noFill/>
          </a:ln>
        </p:spPr>
        <p:txBody>
          <a:bodyPr wrap="square" rtlCol="0">
            <a:spAutoFit/>
          </a:bodyPr>
          <a:lstStyle/>
          <a:p>
            <a:pPr algn="ctr"/>
            <a:r>
              <a:rPr lang="en-US" sz="1050" dirty="0">
                <a:solidFill>
                  <a:srgbClr val="1F2933"/>
                </a:solidFill>
                <a:latin typeface="Inter" panose="02000503000000020004" pitchFamily="2" charset="0"/>
                <a:ea typeface="Inter" panose="02000503000000020004" pitchFamily="2" charset="0"/>
                <a:cs typeface="Inter" panose="02000503000000020004" pitchFamily="2" charset="0"/>
              </a:rPr>
              <a:t>Learn More About Private Placement</a:t>
            </a:r>
          </a:p>
        </p:txBody>
      </p:sp>
      <p:sp>
        <p:nvSpPr>
          <p:cNvPr id="51" name="TextBox 50">
            <a:extLst>
              <a:ext uri="{FF2B5EF4-FFF2-40B4-BE49-F238E27FC236}">
                <a16:creationId xmlns:a16="http://schemas.microsoft.com/office/drawing/2014/main" id="{A0F23F56-1F0D-FA16-68FA-580DC109AD3B}"/>
              </a:ext>
            </a:extLst>
          </p:cNvPr>
          <p:cNvSpPr txBox="1"/>
          <p:nvPr/>
        </p:nvSpPr>
        <p:spPr>
          <a:xfrm>
            <a:off x="3799985" y="10410685"/>
            <a:ext cx="2589074" cy="280928"/>
          </a:xfrm>
          <a:prstGeom prst="roundRect">
            <a:avLst/>
          </a:prstGeom>
          <a:solidFill>
            <a:srgbClr val="1F2933"/>
          </a:solidFill>
          <a:ln>
            <a:noFill/>
          </a:ln>
        </p:spPr>
        <p:txBody>
          <a:bodyPr wrap="square" rtlCol="0">
            <a:spAutoFit/>
          </a:bodyPr>
          <a:lstStyle/>
          <a:p>
            <a:pPr algn="ctr"/>
            <a:r>
              <a:rPr lang="en-US" sz="1050" dirty="0">
                <a:solidFill>
                  <a:srgbClr val="F5F7F8"/>
                </a:solidFill>
                <a:latin typeface="Inter" panose="02000503000000020004" pitchFamily="2" charset="0"/>
                <a:ea typeface="Inter" panose="02000503000000020004" pitchFamily="2" charset="0"/>
                <a:cs typeface="Inter" panose="02000503000000020004" pitchFamily="2" charset="0"/>
              </a:rPr>
              <a:t>Explore the Advisure Platform</a:t>
            </a:r>
          </a:p>
        </p:txBody>
      </p:sp>
      <p:sp>
        <p:nvSpPr>
          <p:cNvPr id="52" name="Rectangle 51">
            <a:extLst>
              <a:ext uri="{FF2B5EF4-FFF2-40B4-BE49-F238E27FC236}">
                <a16:creationId xmlns:a16="http://schemas.microsoft.com/office/drawing/2014/main" id="{A1FB118E-A16D-6902-C6B2-95CCCCCEE260}"/>
              </a:ext>
            </a:extLst>
          </p:cNvPr>
          <p:cNvSpPr/>
          <p:nvPr/>
        </p:nvSpPr>
        <p:spPr>
          <a:xfrm>
            <a:off x="0" y="11365233"/>
            <a:ext cx="6869338" cy="826767"/>
          </a:xfrm>
          <a:prstGeom prst="rect">
            <a:avLst/>
          </a:prstGeom>
          <a:solidFill>
            <a:srgbClr val="1F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5F7F8"/>
                </a:solidFill>
                <a:latin typeface="Inter" panose="02000503000000020004" pitchFamily="2" charset="0"/>
                <a:ea typeface="Inter" panose="02000503000000020004" pitchFamily="2" charset="0"/>
                <a:cs typeface="Inter" panose="02000503000000020004" pitchFamily="2" charset="0"/>
              </a:rPr>
              <a:t>Deliver Better After-Tax Outcomes — </a:t>
            </a:r>
            <a:r>
              <a:rPr lang="en-US" sz="1600" b="1" dirty="0">
                <a:solidFill>
                  <a:srgbClr val="C9A24D"/>
                </a:solidFill>
                <a:latin typeface="Inter" panose="02000503000000020004" pitchFamily="2" charset="0"/>
                <a:ea typeface="Inter" panose="02000503000000020004" pitchFamily="2" charset="0"/>
                <a:cs typeface="Inter" panose="02000503000000020004" pitchFamily="2" charset="0"/>
              </a:rPr>
              <a:t>With Less Complexity.</a:t>
            </a:r>
          </a:p>
          <a:p>
            <a:pPr algn="ctr"/>
            <a:endParaRPr lang="en-US" sz="1600" b="1" dirty="0">
              <a:solidFill>
                <a:srgbClr val="C9A24D"/>
              </a:solidFill>
              <a:latin typeface="Inter" panose="02000503000000020004" pitchFamily="2" charset="0"/>
              <a:ea typeface="Inter" panose="02000503000000020004" pitchFamily="2" charset="0"/>
              <a:cs typeface="Inter" panose="02000503000000020004" pitchFamily="2" charset="0"/>
            </a:endParaRPr>
          </a:p>
          <a:p>
            <a:pPr algn="ctr"/>
            <a:endParaRPr lang="en-US" sz="900" dirty="0">
              <a:latin typeface="Inter" panose="02000503000000020004" pitchFamily="2" charset="0"/>
              <a:ea typeface="Inter" panose="02000503000000020004" pitchFamily="2" charset="0"/>
              <a:cs typeface="Inter" panose="02000503000000020004" pitchFamily="2" charset="0"/>
            </a:endParaRPr>
          </a:p>
        </p:txBody>
      </p:sp>
      <p:sp>
        <p:nvSpPr>
          <p:cNvPr id="53" name="Rectangle 52">
            <a:extLst>
              <a:ext uri="{FF2B5EF4-FFF2-40B4-BE49-F238E27FC236}">
                <a16:creationId xmlns:a16="http://schemas.microsoft.com/office/drawing/2014/main" id="{D190A593-208B-F5B9-5D7F-B8FAD1DEB62F}"/>
              </a:ext>
            </a:extLst>
          </p:cNvPr>
          <p:cNvSpPr/>
          <p:nvPr/>
        </p:nvSpPr>
        <p:spPr>
          <a:xfrm>
            <a:off x="763397" y="11513994"/>
            <a:ext cx="5357550" cy="8267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latin typeface="Inter" panose="02000503000000020004" pitchFamily="2" charset="0"/>
                <a:ea typeface="Inter" panose="02000503000000020004" pitchFamily="2" charset="0"/>
                <a:cs typeface="Inter" panose="02000503000000020004" pitchFamily="2" charset="0"/>
              </a:rPr>
              <a:t>Whether you're exploring private placement for the first time or looking to scale an existing strategy, Advisure gives you the infrastructure to implement institutional solutions with clarity and confidence.</a:t>
            </a:r>
          </a:p>
        </p:txBody>
      </p:sp>
      <p:pic>
        <p:nvPicPr>
          <p:cNvPr id="60" name="Picture 59">
            <a:extLst>
              <a:ext uri="{FF2B5EF4-FFF2-40B4-BE49-F238E27FC236}">
                <a16:creationId xmlns:a16="http://schemas.microsoft.com/office/drawing/2014/main" id="{F4075674-B4FF-90AA-6955-86FC43B31950}"/>
              </a:ext>
            </a:extLst>
          </p:cNvPr>
          <p:cNvPicPr>
            <a:picLocks noChangeAspect="1"/>
          </p:cNvPicPr>
          <p:nvPr/>
        </p:nvPicPr>
        <p:blipFill>
          <a:blip r:embed="rId8"/>
          <a:stretch>
            <a:fillRect/>
          </a:stretch>
        </p:blipFill>
        <p:spPr>
          <a:xfrm>
            <a:off x="-1834" y="0"/>
            <a:ext cx="6858000" cy="432054"/>
          </a:xfrm>
          <a:prstGeom prst="rect">
            <a:avLst/>
          </a:prstGeom>
        </p:spPr>
      </p:pic>
      <p:sp>
        <p:nvSpPr>
          <p:cNvPr id="2" name="Rectangle 1">
            <a:extLst>
              <a:ext uri="{FF2B5EF4-FFF2-40B4-BE49-F238E27FC236}">
                <a16:creationId xmlns:a16="http://schemas.microsoft.com/office/drawing/2014/main" id="{9CC8789D-EE08-03CD-8EB2-46FD4D58E9B9}"/>
              </a:ext>
            </a:extLst>
          </p:cNvPr>
          <p:cNvSpPr/>
          <p:nvPr/>
        </p:nvSpPr>
        <p:spPr>
          <a:xfrm>
            <a:off x="1835203" y="143070"/>
            <a:ext cx="411480" cy="135209"/>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peech Bubble: Oval 2">
            <a:extLst>
              <a:ext uri="{FF2B5EF4-FFF2-40B4-BE49-F238E27FC236}">
                <a16:creationId xmlns:a16="http://schemas.microsoft.com/office/drawing/2014/main" id="{BBE825C1-20D2-C419-15B7-2795BDD90E0A}"/>
              </a:ext>
            </a:extLst>
          </p:cNvPr>
          <p:cNvSpPr/>
          <p:nvPr/>
        </p:nvSpPr>
        <p:spPr>
          <a:xfrm flipH="1">
            <a:off x="-1828110" y="7793082"/>
            <a:ext cx="1767840" cy="1534403"/>
          </a:xfrm>
          <a:prstGeom prst="wedgeEllipseCallout">
            <a:avLst/>
          </a:prstGeom>
          <a:solidFill>
            <a:srgbClr val="046A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Quick </a:t>
            </a:r>
            <a:r>
              <a:rPr lang="en-US" sz="800" dirty="0" err="1"/>
              <a:t>snipit</a:t>
            </a:r>
            <a:r>
              <a:rPr lang="en-US" sz="800" dirty="0"/>
              <a:t> of why private placement – leaving people wanting to learn more – should direct to a full page dedicated to explaining Private Placement</a:t>
            </a:r>
            <a:endParaRPr lang="en-US" sz="1050" dirty="0"/>
          </a:p>
        </p:txBody>
      </p:sp>
      <p:sp>
        <p:nvSpPr>
          <p:cNvPr id="4" name="Speech Bubble: Oval 3">
            <a:extLst>
              <a:ext uri="{FF2B5EF4-FFF2-40B4-BE49-F238E27FC236}">
                <a16:creationId xmlns:a16="http://schemas.microsoft.com/office/drawing/2014/main" id="{7B49F5A5-5CBE-1482-DFEC-8371B6638A3B}"/>
              </a:ext>
            </a:extLst>
          </p:cNvPr>
          <p:cNvSpPr/>
          <p:nvPr/>
        </p:nvSpPr>
        <p:spPr>
          <a:xfrm>
            <a:off x="6982427" y="7702316"/>
            <a:ext cx="1767840" cy="1534403"/>
          </a:xfrm>
          <a:prstGeom prst="wedgeEllipseCallout">
            <a:avLst/>
          </a:prstGeom>
          <a:solidFill>
            <a:srgbClr val="046A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Quick </a:t>
            </a:r>
            <a:r>
              <a:rPr lang="en-US" sz="800" dirty="0" err="1"/>
              <a:t>snipit</a:t>
            </a:r>
            <a:r>
              <a:rPr lang="en-US" sz="800" dirty="0"/>
              <a:t> of why Advisure – leaving people wanting to learn more – should direct to a full page dedicated to explaining  why us, how our platform works, etc. (could also navigate to about page, but would need to change the CTA</a:t>
            </a:r>
            <a:endParaRPr lang="en-US" sz="1050" dirty="0"/>
          </a:p>
        </p:txBody>
      </p:sp>
    </p:spTree>
    <p:extLst>
      <p:ext uri="{BB962C8B-B14F-4D97-AF65-F5344CB8AC3E}">
        <p14:creationId xmlns:p14="http://schemas.microsoft.com/office/powerpoint/2010/main" val="2883251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30000" r="-30000"/>
          </a:stretch>
        </a:blip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EEC58D5-4DB3-F90F-F3BB-5C15FA663D55}"/>
              </a:ext>
            </a:extLst>
          </p:cNvPr>
          <p:cNvSpPr/>
          <p:nvPr/>
        </p:nvSpPr>
        <p:spPr>
          <a:xfrm>
            <a:off x="3028950" y="2189523"/>
            <a:ext cx="3506106" cy="2398394"/>
          </a:xfrm>
          <a:prstGeom prst="round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hart 4">
            <a:extLst>
              <a:ext uri="{FF2B5EF4-FFF2-40B4-BE49-F238E27FC236}">
                <a16:creationId xmlns:a16="http://schemas.microsoft.com/office/drawing/2014/main" id="{9CB47150-DBAE-148D-90A0-7857CF73C12B}"/>
              </a:ext>
            </a:extLst>
          </p:cNvPr>
          <p:cNvGraphicFramePr/>
          <p:nvPr>
            <p:extLst>
              <p:ext uri="{D42A27DB-BD31-4B8C-83A1-F6EECF244321}">
                <p14:modId xmlns:p14="http://schemas.microsoft.com/office/powerpoint/2010/main" val="3961418686"/>
              </p:ext>
            </p:extLst>
          </p:nvPr>
        </p:nvGraphicFramePr>
        <p:xfrm>
          <a:off x="3139137" y="2280397"/>
          <a:ext cx="3262752" cy="2199101"/>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Rounded Corners 7">
            <a:extLst>
              <a:ext uri="{FF2B5EF4-FFF2-40B4-BE49-F238E27FC236}">
                <a16:creationId xmlns:a16="http://schemas.microsoft.com/office/drawing/2014/main" id="{25DB3EEF-417A-D1F9-A8E4-D9B6FC91A7F9}"/>
              </a:ext>
            </a:extLst>
          </p:cNvPr>
          <p:cNvSpPr/>
          <p:nvPr/>
        </p:nvSpPr>
        <p:spPr>
          <a:xfrm>
            <a:off x="246783" y="1503316"/>
            <a:ext cx="2524992" cy="3784964"/>
          </a:xfrm>
          <a:prstGeom prst="round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b="1" dirty="0">
                <a:solidFill>
                  <a:srgbClr val="1F2933"/>
                </a:solidFill>
                <a:latin typeface="Inter" panose="02000503000000020004" pitchFamily="2" charset="0"/>
                <a:ea typeface="Inter" panose="02000503000000020004" pitchFamily="2" charset="0"/>
                <a:cs typeface="Inter" panose="02000503000000020004" pitchFamily="2" charset="0"/>
              </a:rPr>
              <a:t>Portfolio Assumptions</a:t>
            </a:r>
          </a:p>
          <a:p>
            <a:endParaRPr lang="en-US" sz="600" dirty="0">
              <a:solidFill>
                <a:srgbClr val="1F2933"/>
              </a:solidFill>
            </a:endParaRPr>
          </a:p>
          <a:p>
            <a:r>
              <a:rPr lang="en-US" sz="600" dirty="0">
                <a:solidFill>
                  <a:srgbClr val="1F2933"/>
                </a:solidFill>
              </a:rPr>
              <a:t>Private Placement Life Insurance (PPLI) can materially reduce tax drag on high-income, high-turnover strategies. This tool helps you estimate the potential impact of a PPLI structure versus a traditional taxable portfolio — across different time horizons and return assumptions.</a:t>
            </a:r>
            <a:br>
              <a:rPr lang="en-US" sz="600" dirty="0">
                <a:solidFill>
                  <a:srgbClr val="1F2933"/>
                </a:solidFill>
              </a:rPr>
            </a:br>
            <a:endParaRPr lang="en-US" sz="600" dirty="0">
              <a:solidFill>
                <a:srgbClr val="1F2933"/>
              </a:solidFill>
            </a:endParaRPr>
          </a:p>
          <a:p>
            <a:r>
              <a:rPr lang="en-US" sz="600" dirty="0">
                <a:solidFill>
                  <a:srgbClr val="1F2933"/>
                </a:solidFill>
              </a:rPr>
              <a:t>Use it to illustrate to clients how tax-aware structures can enhance after-tax compounding.</a:t>
            </a:r>
            <a:endParaRPr lang="en-US" sz="300" dirty="0">
              <a:solidFill>
                <a:srgbClr val="1F2933"/>
              </a:solidFill>
              <a:latin typeface="Inter" panose="02000503000000020004" pitchFamily="2" charset="0"/>
              <a:ea typeface="Inter" panose="02000503000000020004" pitchFamily="2" charset="0"/>
              <a:cs typeface="Inter" panose="02000503000000020004" pitchFamily="2" charset="0"/>
            </a:endParaRPr>
          </a:p>
          <a:p>
            <a:endParaRPr lang="en-US" sz="300" dirty="0">
              <a:solidFill>
                <a:srgbClr val="1F2933"/>
              </a:solidFill>
              <a:latin typeface="Inter" panose="02000503000000020004" pitchFamily="2" charset="0"/>
              <a:ea typeface="Inter" panose="02000503000000020004" pitchFamily="2" charset="0"/>
              <a:cs typeface="Inter" panose="02000503000000020004" pitchFamily="2" charset="0"/>
            </a:endParaRPr>
          </a:p>
          <a:p>
            <a:endParaRPr lang="en-US" sz="3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050" dirty="0">
                <a:solidFill>
                  <a:srgbClr val="046A38"/>
                </a:solidFill>
                <a:latin typeface="Inter" panose="02000503000000020004" pitchFamily="2" charset="0"/>
                <a:ea typeface="Inter" panose="02000503000000020004" pitchFamily="2" charset="0"/>
                <a:cs typeface="Inter" panose="02000503000000020004" pitchFamily="2" charset="0"/>
              </a:rPr>
              <a:t>Initial Investment</a:t>
            </a:r>
          </a:p>
          <a:p>
            <a:r>
              <a:rPr lang="en-US" sz="1050" dirty="0">
                <a:solidFill>
                  <a:srgbClr val="1F2933"/>
                </a:solidFill>
                <a:latin typeface="Inter" panose="02000503000000020004" pitchFamily="2" charset="0"/>
                <a:ea typeface="Inter" panose="02000503000000020004" pitchFamily="2" charset="0"/>
                <a:cs typeface="Inter" panose="02000503000000020004" pitchFamily="2" charset="0"/>
              </a:rPr>
              <a:t>&lt;Slider $1m to 50m&gt;</a:t>
            </a:r>
          </a:p>
          <a:p>
            <a:endParaRPr lang="en-US" sz="1050" dirty="0">
              <a:latin typeface="Inter" panose="02000503000000020004" pitchFamily="2" charset="0"/>
              <a:ea typeface="Inter" panose="02000503000000020004" pitchFamily="2" charset="0"/>
              <a:cs typeface="Inter" panose="02000503000000020004" pitchFamily="2" charset="0"/>
            </a:endParaRPr>
          </a:p>
          <a:p>
            <a:r>
              <a:rPr lang="en-US" sz="1050" dirty="0">
                <a:solidFill>
                  <a:srgbClr val="046A38"/>
                </a:solidFill>
                <a:latin typeface="Inter" panose="02000503000000020004" pitchFamily="2" charset="0"/>
                <a:ea typeface="Inter" panose="02000503000000020004" pitchFamily="2" charset="0"/>
                <a:cs typeface="Inter" panose="02000503000000020004" pitchFamily="2" charset="0"/>
              </a:rPr>
              <a:t>Time Horizon</a:t>
            </a:r>
          </a:p>
          <a:p>
            <a:r>
              <a:rPr lang="en-US" sz="1050" dirty="0">
                <a:solidFill>
                  <a:srgbClr val="1F2933"/>
                </a:solidFill>
                <a:latin typeface="Inter" panose="02000503000000020004" pitchFamily="2" charset="0"/>
                <a:ea typeface="Inter" panose="02000503000000020004" pitchFamily="2" charset="0"/>
                <a:cs typeface="Inter" panose="02000503000000020004" pitchFamily="2" charset="0"/>
              </a:rPr>
              <a:t>&lt;Slider 1y to 50y&gt;</a:t>
            </a:r>
          </a:p>
          <a:p>
            <a:endParaRPr lang="en-US" sz="105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050" dirty="0">
                <a:solidFill>
                  <a:srgbClr val="046A38"/>
                </a:solidFill>
                <a:latin typeface="Inter" panose="02000503000000020004" pitchFamily="2" charset="0"/>
                <a:ea typeface="Inter" panose="02000503000000020004" pitchFamily="2" charset="0"/>
                <a:cs typeface="Inter" panose="02000503000000020004" pitchFamily="2" charset="0"/>
              </a:rPr>
              <a:t>Annual Rate of Return</a:t>
            </a:r>
          </a:p>
          <a:p>
            <a:r>
              <a:rPr lang="en-US" sz="1050" dirty="0">
                <a:solidFill>
                  <a:srgbClr val="1F2933"/>
                </a:solidFill>
                <a:latin typeface="Inter" panose="02000503000000020004" pitchFamily="2" charset="0"/>
                <a:ea typeface="Inter" panose="02000503000000020004" pitchFamily="2" charset="0"/>
                <a:cs typeface="Inter" panose="02000503000000020004" pitchFamily="2" charset="0"/>
              </a:rPr>
              <a:t>&lt;Slider 0% to 100%&gt;</a:t>
            </a:r>
          </a:p>
          <a:p>
            <a:endParaRPr lang="en-US" sz="1050" dirty="0">
              <a:latin typeface="Inter" panose="02000503000000020004" pitchFamily="2" charset="0"/>
              <a:ea typeface="Inter" panose="02000503000000020004" pitchFamily="2" charset="0"/>
              <a:cs typeface="Inter" panose="02000503000000020004" pitchFamily="2" charset="0"/>
            </a:endParaRPr>
          </a:p>
          <a:p>
            <a:r>
              <a:rPr lang="en-US" sz="1050" dirty="0">
                <a:solidFill>
                  <a:srgbClr val="046A38"/>
                </a:solidFill>
                <a:latin typeface="Inter" panose="02000503000000020004" pitchFamily="2" charset="0"/>
                <a:ea typeface="Inter" panose="02000503000000020004" pitchFamily="2" charset="0"/>
                <a:cs typeface="Inter" panose="02000503000000020004" pitchFamily="2" charset="0"/>
              </a:rPr>
              <a:t>PPLI Allocation</a:t>
            </a:r>
          </a:p>
          <a:p>
            <a:r>
              <a:rPr lang="en-US" sz="1050" dirty="0">
                <a:solidFill>
                  <a:srgbClr val="1F2933"/>
                </a:solidFill>
                <a:latin typeface="Inter" panose="02000503000000020004" pitchFamily="2" charset="0"/>
                <a:ea typeface="Inter" panose="02000503000000020004" pitchFamily="2" charset="0"/>
                <a:cs typeface="Inter" panose="02000503000000020004" pitchFamily="2" charset="0"/>
              </a:rPr>
              <a:t>&lt;Slider 0% to 100%&gt;</a:t>
            </a:r>
          </a:p>
          <a:p>
            <a:endParaRPr lang="en-US" sz="1050" dirty="0">
              <a:latin typeface="Inter" panose="02000503000000020004" pitchFamily="2" charset="0"/>
              <a:ea typeface="Inter" panose="02000503000000020004" pitchFamily="2" charset="0"/>
              <a:cs typeface="Inter" panose="02000503000000020004" pitchFamily="2" charset="0"/>
            </a:endParaRPr>
          </a:p>
          <a:p>
            <a:r>
              <a:rPr lang="en-US" sz="600" dirty="0">
                <a:solidFill>
                  <a:srgbClr val="1F2933"/>
                </a:solidFill>
                <a:latin typeface="Inter" panose="02000503000000020004" pitchFamily="2" charset="0"/>
                <a:ea typeface="Inter" panose="02000503000000020004" pitchFamily="2" charset="0"/>
                <a:cs typeface="Inter" panose="02000503000000020004" pitchFamily="2" charset="0"/>
              </a:rPr>
              <a:t>Static Unchangeable assumptions</a:t>
            </a:r>
          </a:p>
          <a:p>
            <a:pPr marL="171450" indent="-171450">
              <a:buFontTx/>
              <a:buChar char="-"/>
            </a:pPr>
            <a:r>
              <a:rPr lang="en-US" sz="600" dirty="0">
                <a:solidFill>
                  <a:srgbClr val="1F2933"/>
                </a:solidFill>
                <a:latin typeface="Inter" panose="02000503000000020004" pitchFamily="2" charset="0"/>
                <a:ea typeface="Inter" panose="02000503000000020004" pitchFamily="2" charset="0"/>
                <a:cs typeface="Inter" panose="02000503000000020004" pitchFamily="2" charset="0"/>
              </a:rPr>
              <a:t>Tax rates</a:t>
            </a:r>
          </a:p>
          <a:p>
            <a:pPr marL="171450" indent="-171450">
              <a:buFontTx/>
              <a:buChar char="-"/>
            </a:pPr>
            <a:r>
              <a:rPr lang="en-US" sz="600" dirty="0">
                <a:solidFill>
                  <a:srgbClr val="1F2933"/>
                </a:solidFill>
                <a:latin typeface="Inter" panose="02000503000000020004" pitchFamily="2" charset="0"/>
                <a:ea typeface="Inter" panose="02000503000000020004" pitchFamily="2" charset="0"/>
                <a:cs typeface="Inter" panose="02000503000000020004" pitchFamily="2" charset="0"/>
              </a:rPr>
              <a:t>Underlying costs</a:t>
            </a:r>
          </a:p>
          <a:p>
            <a:pPr marL="171450" indent="-171450">
              <a:buFontTx/>
              <a:buChar char="-"/>
            </a:pPr>
            <a:r>
              <a:rPr lang="en-US" sz="600" dirty="0">
                <a:solidFill>
                  <a:srgbClr val="1F2933"/>
                </a:solidFill>
                <a:latin typeface="Inter" panose="02000503000000020004" pitchFamily="2" charset="0"/>
                <a:ea typeface="Inter" panose="02000503000000020004" pitchFamily="2" charset="0"/>
                <a:cs typeface="Inter" panose="02000503000000020004" pitchFamily="2" charset="0"/>
              </a:rPr>
              <a:t>Stock/bond allocations</a:t>
            </a:r>
          </a:p>
          <a:p>
            <a:pPr marL="171450" indent="-171450">
              <a:buFontTx/>
              <a:buChar char="-"/>
            </a:pPr>
            <a:r>
              <a:rPr lang="en-US" sz="600" dirty="0">
                <a:solidFill>
                  <a:srgbClr val="1F2933"/>
                </a:solidFill>
                <a:latin typeface="Inter" panose="02000503000000020004" pitchFamily="2" charset="0"/>
                <a:ea typeface="Inter" panose="02000503000000020004" pitchFamily="2" charset="0"/>
                <a:cs typeface="Inter" panose="02000503000000020004" pitchFamily="2" charset="0"/>
              </a:rPr>
              <a:t>Activity and rebalancing</a:t>
            </a:r>
          </a:p>
          <a:p>
            <a:endParaRPr lang="en-US" sz="1050" dirty="0"/>
          </a:p>
          <a:p>
            <a:endParaRPr lang="en-US" sz="1050" dirty="0"/>
          </a:p>
        </p:txBody>
      </p:sp>
      <p:sp>
        <p:nvSpPr>
          <p:cNvPr id="9" name="Rectangle 8">
            <a:extLst>
              <a:ext uri="{FF2B5EF4-FFF2-40B4-BE49-F238E27FC236}">
                <a16:creationId xmlns:a16="http://schemas.microsoft.com/office/drawing/2014/main" id="{2FDCAF6D-A511-C936-CB3E-ADE1A6CF6415}"/>
              </a:ext>
            </a:extLst>
          </p:cNvPr>
          <p:cNvSpPr/>
          <p:nvPr/>
        </p:nvSpPr>
        <p:spPr>
          <a:xfrm>
            <a:off x="0" y="428625"/>
            <a:ext cx="6858000" cy="857250"/>
          </a:xfrm>
          <a:prstGeom prst="rect">
            <a:avLst/>
          </a:prstGeom>
          <a:solidFill>
            <a:srgbClr val="1F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Quantify the Tax Advantage of PPLI</a:t>
            </a:r>
          </a:p>
          <a:p>
            <a:pPr algn="ctr"/>
            <a:r>
              <a:rPr lang="en-US" sz="900" dirty="0">
                <a:solidFill>
                  <a:srgbClr val="F5F7F8"/>
                </a:solidFill>
                <a:latin typeface="Inter" panose="02000503000000020004" pitchFamily="2" charset="0"/>
                <a:ea typeface="Inter" panose="02000503000000020004" pitchFamily="2" charset="0"/>
                <a:cs typeface="Inter" panose="02000503000000020004" pitchFamily="2" charset="0"/>
              </a:rPr>
              <a:t>Estimate how tax efficiency shifts long-term performance </a:t>
            </a:r>
          </a:p>
          <a:p>
            <a:pPr algn="ctr"/>
            <a:r>
              <a:rPr lang="en-US" sz="900" dirty="0">
                <a:solidFill>
                  <a:srgbClr val="F5F7F8"/>
                </a:solidFill>
                <a:latin typeface="Inter" panose="02000503000000020004" pitchFamily="2" charset="0"/>
                <a:ea typeface="Inter" panose="02000503000000020004" pitchFamily="2" charset="0"/>
                <a:cs typeface="Inter" panose="02000503000000020004" pitchFamily="2" charset="0"/>
              </a:rPr>
              <a:t>for high-net-worth portfolios using PPLI.</a:t>
            </a:r>
            <a:endParaRPr lang="en-US" sz="1200" dirty="0">
              <a:solidFill>
                <a:srgbClr val="F5F7F8"/>
              </a:solidFill>
              <a:latin typeface="Inter" panose="02000503000000020004" pitchFamily="2" charset="0"/>
              <a:ea typeface="Inter" panose="02000503000000020004" pitchFamily="2" charset="0"/>
              <a:cs typeface="Inter" panose="02000503000000020004" pitchFamily="2" charset="0"/>
            </a:endParaRPr>
          </a:p>
        </p:txBody>
      </p:sp>
      <p:sp>
        <p:nvSpPr>
          <p:cNvPr id="10" name="Rectangle: Rounded Corners 9">
            <a:extLst>
              <a:ext uri="{FF2B5EF4-FFF2-40B4-BE49-F238E27FC236}">
                <a16:creationId xmlns:a16="http://schemas.microsoft.com/office/drawing/2014/main" id="{6AA25E92-69B7-3E44-143C-CC130A48DD6B}"/>
              </a:ext>
            </a:extLst>
          </p:cNvPr>
          <p:cNvSpPr/>
          <p:nvPr/>
        </p:nvSpPr>
        <p:spPr>
          <a:xfrm>
            <a:off x="3425623" y="4707456"/>
            <a:ext cx="2636520" cy="579120"/>
          </a:xfrm>
          <a:prstGeom prst="roundRect">
            <a:avLst/>
          </a:prstGeom>
          <a:solidFill>
            <a:srgbClr val="C7CCD1"/>
          </a:solidFill>
          <a:ln>
            <a:solidFill>
              <a:srgbClr val="1F2933"/>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750" b="1" dirty="0">
                <a:solidFill>
                  <a:srgbClr val="C9A24D"/>
                </a:solidFill>
                <a:latin typeface="Inter" panose="02000503000000020004" pitchFamily="2" charset="0"/>
                <a:ea typeface="Inter" panose="02000503000000020004" pitchFamily="2" charset="0"/>
                <a:cs typeface="Inter" panose="02000503000000020004" pitchFamily="2" charset="0"/>
              </a:rPr>
              <a:t>Illustrative only.</a:t>
            </a:r>
            <a:r>
              <a:rPr lang="en-US" sz="750" b="1" dirty="0">
                <a:solidFill>
                  <a:srgbClr val="F5F7F8"/>
                </a:solidFill>
                <a:latin typeface="Inter" panose="02000503000000020004" pitchFamily="2" charset="0"/>
                <a:ea typeface="Inter" panose="02000503000000020004" pitchFamily="2" charset="0"/>
                <a:cs typeface="Inter" panose="02000503000000020004" pitchFamily="2" charset="0"/>
              </a:rPr>
              <a:t> </a:t>
            </a:r>
            <a:r>
              <a:rPr lang="en-US" sz="700" dirty="0">
                <a:solidFill>
                  <a:srgbClr val="1F2933"/>
                </a:solidFill>
                <a:latin typeface="Inter" panose="02000503000000020004" pitchFamily="2" charset="0"/>
                <a:ea typeface="Inter" panose="02000503000000020004" pitchFamily="2" charset="0"/>
                <a:cs typeface="Inter" panose="02000503000000020004" pitchFamily="2" charset="0"/>
              </a:rPr>
              <a:t>Assumptions are simplified to provide a directional estimate. Full scenario modeling and implementation analysis are available through the Advisure platform.</a:t>
            </a:r>
            <a:endParaRPr lang="en-US" sz="750" dirty="0">
              <a:solidFill>
                <a:srgbClr val="1F2933"/>
              </a:solidFill>
              <a:latin typeface="Inter" panose="02000503000000020004" pitchFamily="2" charset="0"/>
              <a:ea typeface="Inter" panose="02000503000000020004" pitchFamily="2" charset="0"/>
              <a:cs typeface="Inter" panose="02000503000000020004" pitchFamily="2" charset="0"/>
            </a:endParaRPr>
          </a:p>
        </p:txBody>
      </p:sp>
      <p:sp>
        <p:nvSpPr>
          <p:cNvPr id="13" name="Rectangle: Rounded Corners 12">
            <a:extLst>
              <a:ext uri="{FF2B5EF4-FFF2-40B4-BE49-F238E27FC236}">
                <a16:creationId xmlns:a16="http://schemas.microsoft.com/office/drawing/2014/main" id="{1778F568-3A68-C231-C87C-3442BA3B8231}"/>
              </a:ext>
            </a:extLst>
          </p:cNvPr>
          <p:cNvSpPr/>
          <p:nvPr/>
        </p:nvSpPr>
        <p:spPr>
          <a:xfrm>
            <a:off x="3028950" y="1503316"/>
            <a:ext cx="1037352" cy="587693"/>
          </a:xfrm>
          <a:prstGeom prst="roundRect">
            <a:avLst/>
          </a:prstGeom>
          <a:solidFill>
            <a:srgbClr val="1F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dirty="0"/>
              <a:t>Traditional</a:t>
            </a:r>
          </a:p>
          <a:p>
            <a:endParaRPr lang="en-US" sz="1050" dirty="0"/>
          </a:p>
          <a:p>
            <a:r>
              <a:rPr lang="en-US" sz="1050" dirty="0"/>
              <a:t>$XX.XXM</a:t>
            </a:r>
          </a:p>
        </p:txBody>
      </p:sp>
      <p:sp>
        <p:nvSpPr>
          <p:cNvPr id="16" name="Rectangle: Rounded Corners 15">
            <a:extLst>
              <a:ext uri="{FF2B5EF4-FFF2-40B4-BE49-F238E27FC236}">
                <a16:creationId xmlns:a16="http://schemas.microsoft.com/office/drawing/2014/main" id="{488BD05F-7259-B7E6-2241-A3565C120A4F}"/>
              </a:ext>
            </a:extLst>
          </p:cNvPr>
          <p:cNvSpPr/>
          <p:nvPr/>
        </p:nvSpPr>
        <p:spPr>
          <a:xfrm>
            <a:off x="5421465" y="1482291"/>
            <a:ext cx="1037352" cy="587693"/>
          </a:xfrm>
          <a:prstGeom prst="roundRect">
            <a:avLst/>
          </a:prstGeom>
          <a:solidFill>
            <a:srgbClr val="046A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dirty="0">
                <a:solidFill>
                  <a:srgbClr val="F5F7F8"/>
                </a:solidFill>
              </a:rPr>
              <a:t>Tax Savings</a:t>
            </a:r>
          </a:p>
          <a:p>
            <a:endParaRPr lang="en-US" sz="900" dirty="0">
              <a:solidFill>
                <a:srgbClr val="F5F7F8"/>
              </a:solidFill>
            </a:endParaRPr>
          </a:p>
          <a:p>
            <a:r>
              <a:rPr lang="en-US" sz="1050" dirty="0">
                <a:solidFill>
                  <a:srgbClr val="F5F7F8"/>
                </a:solidFill>
              </a:rPr>
              <a:t> + $XX.XXM</a:t>
            </a:r>
          </a:p>
        </p:txBody>
      </p:sp>
      <p:sp>
        <p:nvSpPr>
          <p:cNvPr id="17" name="Rectangle: Rounded Corners 16">
            <a:extLst>
              <a:ext uri="{FF2B5EF4-FFF2-40B4-BE49-F238E27FC236}">
                <a16:creationId xmlns:a16="http://schemas.microsoft.com/office/drawing/2014/main" id="{930F97F5-47AA-91EC-5648-D84EC8E4BB2C}"/>
              </a:ext>
            </a:extLst>
          </p:cNvPr>
          <p:cNvSpPr/>
          <p:nvPr/>
        </p:nvSpPr>
        <p:spPr>
          <a:xfrm>
            <a:off x="4225207" y="1482291"/>
            <a:ext cx="1037352" cy="587693"/>
          </a:xfrm>
          <a:prstGeom prst="roundRect">
            <a:avLst/>
          </a:prstGeom>
          <a:solidFill>
            <a:srgbClr val="F5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dirty="0">
                <a:solidFill>
                  <a:srgbClr val="1F2933"/>
                </a:solidFill>
              </a:rPr>
              <a:t>PPLI Enhanced</a:t>
            </a:r>
          </a:p>
          <a:p>
            <a:endParaRPr lang="en-US" sz="1050" dirty="0">
              <a:solidFill>
                <a:srgbClr val="1F2933"/>
              </a:solidFill>
            </a:endParaRPr>
          </a:p>
          <a:p>
            <a:r>
              <a:rPr lang="en-US" sz="1050" dirty="0">
                <a:solidFill>
                  <a:srgbClr val="1F2933"/>
                </a:solidFill>
              </a:rPr>
              <a:t>$XX.XXM</a:t>
            </a:r>
          </a:p>
          <a:p>
            <a:endParaRPr lang="en-US" sz="1050" dirty="0"/>
          </a:p>
        </p:txBody>
      </p:sp>
      <p:sp>
        <p:nvSpPr>
          <p:cNvPr id="18" name="TextBox 17">
            <a:extLst>
              <a:ext uri="{FF2B5EF4-FFF2-40B4-BE49-F238E27FC236}">
                <a16:creationId xmlns:a16="http://schemas.microsoft.com/office/drawing/2014/main" id="{68253060-F807-75EA-F01D-B032EC9293C6}"/>
              </a:ext>
            </a:extLst>
          </p:cNvPr>
          <p:cNvSpPr txBox="1"/>
          <p:nvPr/>
        </p:nvSpPr>
        <p:spPr>
          <a:xfrm>
            <a:off x="0" y="5629943"/>
            <a:ext cx="6857999" cy="715089"/>
          </a:xfrm>
          <a:prstGeom prst="roundRect">
            <a:avLst/>
          </a:prstGeom>
          <a:noFill/>
          <a:ln>
            <a:noFill/>
          </a:ln>
          <a:effectLst>
            <a:softEdge rad="127000"/>
          </a:effectLst>
        </p:spPr>
        <p:txBody>
          <a:bodyPr wrap="square" rtlCol="0">
            <a:spAutoFit/>
          </a:bodyPr>
          <a:lstStyle/>
          <a:p>
            <a:pPr algn="ctr"/>
            <a:r>
              <a:rPr lang="en-US" b="1" dirty="0">
                <a:solidFill>
                  <a:srgbClr val="1F2933"/>
                </a:solidFill>
                <a:latin typeface="Inter" panose="02000503000000020004" pitchFamily="2" charset="0"/>
                <a:ea typeface="Inter" panose="02000503000000020004" pitchFamily="2" charset="0"/>
                <a:cs typeface="Inter" panose="02000503000000020004" pitchFamily="2" charset="0"/>
              </a:rPr>
              <a:t>Ready to unlock the </a:t>
            </a:r>
            <a:r>
              <a:rPr lang="en-US" b="1" dirty="0">
                <a:solidFill>
                  <a:srgbClr val="046A38"/>
                </a:solidFill>
                <a:latin typeface="Inter" panose="02000503000000020004" pitchFamily="2" charset="0"/>
                <a:ea typeface="Inter" panose="02000503000000020004" pitchFamily="2" charset="0"/>
                <a:cs typeface="Inter" panose="02000503000000020004" pitchFamily="2" charset="0"/>
              </a:rPr>
              <a:t>full power</a:t>
            </a:r>
            <a:r>
              <a:rPr lang="en-US" b="1" dirty="0">
                <a:solidFill>
                  <a:srgbClr val="1F2933"/>
                </a:solidFill>
                <a:latin typeface="Inter" panose="02000503000000020004" pitchFamily="2" charset="0"/>
                <a:ea typeface="Inter" panose="02000503000000020004" pitchFamily="2" charset="0"/>
                <a:cs typeface="Inter" panose="02000503000000020004" pitchFamily="2" charset="0"/>
              </a:rPr>
              <a:t> of Private Placement?</a:t>
            </a:r>
          </a:p>
          <a:p>
            <a:pPr algn="ctr"/>
            <a:endParaRPr lang="en-US" sz="1000" b="1" dirty="0">
              <a:solidFill>
                <a:srgbClr val="1F2933"/>
              </a:solidFill>
              <a:latin typeface="Inter" panose="02000503000000020004" pitchFamily="2" charset="0"/>
              <a:ea typeface="Inter" panose="02000503000000020004" pitchFamily="2" charset="0"/>
              <a:cs typeface="Inter" panose="02000503000000020004" pitchFamily="2" charset="0"/>
            </a:endParaRPr>
          </a:p>
          <a:p>
            <a:pPr algn="ct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Get advanced scenario models, implementation support start to finish, and post issue monitoring with the Advisure platform.</a:t>
            </a:r>
            <a:endParaRPr lang="en-US" sz="900" dirty="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23" name="TextBox 22">
            <a:extLst>
              <a:ext uri="{FF2B5EF4-FFF2-40B4-BE49-F238E27FC236}">
                <a16:creationId xmlns:a16="http://schemas.microsoft.com/office/drawing/2014/main" id="{EFCC5426-EB0F-3E44-5BED-C423C8FC31FC}"/>
              </a:ext>
            </a:extLst>
          </p:cNvPr>
          <p:cNvSpPr txBox="1"/>
          <p:nvPr/>
        </p:nvSpPr>
        <p:spPr>
          <a:xfrm>
            <a:off x="1380526" y="6453452"/>
            <a:ext cx="1648424" cy="510778"/>
          </a:xfrm>
          <a:prstGeom prst="roundRect">
            <a:avLst/>
          </a:prstGeom>
          <a:solidFill>
            <a:srgbClr val="C9A24D"/>
          </a:solidFill>
          <a:ln>
            <a:solidFill>
              <a:srgbClr val="C9A24D"/>
            </a:solidFill>
          </a:ln>
        </p:spPr>
        <p:txBody>
          <a:bodyPr wrap="square" rtlCol="0">
            <a:spAutoFit/>
          </a:bodyPr>
          <a:lstStyle/>
          <a:p>
            <a:pPr algn="ctr"/>
            <a:endParaRPr lang="en-US" sz="500" dirty="0">
              <a:solidFill>
                <a:srgbClr val="1F2933"/>
              </a:solidFill>
              <a:latin typeface="Inter" panose="02000503000000020004" pitchFamily="2" charset="0"/>
              <a:ea typeface="Inter" panose="02000503000000020004" pitchFamily="2" charset="0"/>
              <a:cs typeface="Inter" panose="02000503000000020004" pitchFamily="2" charset="0"/>
            </a:endParaRPr>
          </a:p>
          <a:p>
            <a:pPr algn="ctr"/>
            <a:r>
              <a:rPr lang="en-US" sz="1200" dirty="0">
                <a:solidFill>
                  <a:srgbClr val="1F2933"/>
                </a:solidFill>
                <a:latin typeface="Inter" panose="02000503000000020004" pitchFamily="2" charset="0"/>
                <a:ea typeface="Inter" panose="02000503000000020004" pitchFamily="2" charset="0"/>
                <a:cs typeface="Inter" panose="02000503000000020004" pitchFamily="2" charset="0"/>
              </a:rPr>
              <a:t>Schedule a Demo</a:t>
            </a:r>
          </a:p>
          <a:p>
            <a:pPr algn="ctr"/>
            <a:endParaRPr lang="en-US" sz="700" dirty="0">
              <a:solidFill>
                <a:srgbClr val="1F2933"/>
              </a:solidFill>
              <a:latin typeface="Inter" panose="02000503000000020004" pitchFamily="2" charset="0"/>
              <a:ea typeface="Inter" panose="02000503000000020004" pitchFamily="2" charset="0"/>
              <a:cs typeface="Inter" panose="02000503000000020004" pitchFamily="2" charset="0"/>
            </a:endParaRPr>
          </a:p>
        </p:txBody>
      </p:sp>
      <p:sp>
        <p:nvSpPr>
          <p:cNvPr id="24" name="TextBox 23">
            <a:extLst>
              <a:ext uri="{FF2B5EF4-FFF2-40B4-BE49-F238E27FC236}">
                <a16:creationId xmlns:a16="http://schemas.microsoft.com/office/drawing/2014/main" id="{5E1E7E5C-193A-828E-74B9-0AED91A851CA}"/>
              </a:ext>
            </a:extLst>
          </p:cNvPr>
          <p:cNvSpPr txBox="1"/>
          <p:nvPr/>
        </p:nvSpPr>
        <p:spPr>
          <a:xfrm>
            <a:off x="3251952" y="6453451"/>
            <a:ext cx="1648424" cy="510778"/>
          </a:xfrm>
          <a:prstGeom prst="roundRect">
            <a:avLst/>
          </a:prstGeom>
          <a:solidFill>
            <a:srgbClr val="1F2933"/>
          </a:solidFill>
          <a:ln>
            <a:solidFill>
              <a:srgbClr val="C9A24D"/>
            </a:solidFill>
          </a:ln>
        </p:spPr>
        <p:txBody>
          <a:bodyPr wrap="square" rtlCol="0">
            <a:spAutoFit/>
          </a:bodyPr>
          <a:lstStyle/>
          <a:p>
            <a:pPr algn="ctr"/>
            <a:r>
              <a:rPr lang="en-US" sz="1200" dirty="0">
                <a:solidFill>
                  <a:srgbClr val="F5F7F8"/>
                </a:solidFill>
                <a:latin typeface="Inter" panose="02000503000000020004" pitchFamily="2" charset="0"/>
                <a:ea typeface="Inter" panose="02000503000000020004" pitchFamily="2" charset="0"/>
                <a:cs typeface="Inter" panose="02000503000000020004" pitchFamily="2" charset="0"/>
              </a:rPr>
              <a:t>Learn More About Private Placement</a:t>
            </a:r>
          </a:p>
        </p:txBody>
      </p:sp>
      <p:pic>
        <p:nvPicPr>
          <p:cNvPr id="4" name="Picture 3">
            <a:extLst>
              <a:ext uri="{FF2B5EF4-FFF2-40B4-BE49-F238E27FC236}">
                <a16:creationId xmlns:a16="http://schemas.microsoft.com/office/drawing/2014/main" id="{3E69C66E-E260-6680-A90E-9A7EE54058D4}"/>
              </a:ext>
            </a:extLst>
          </p:cNvPr>
          <p:cNvPicPr>
            <a:picLocks noChangeAspect="1"/>
          </p:cNvPicPr>
          <p:nvPr/>
        </p:nvPicPr>
        <p:blipFill>
          <a:blip r:embed="rId4"/>
          <a:stretch>
            <a:fillRect/>
          </a:stretch>
        </p:blipFill>
        <p:spPr>
          <a:xfrm>
            <a:off x="-1834" y="0"/>
            <a:ext cx="6858000" cy="432054"/>
          </a:xfrm>
          <a:prstGeom prst="rect">
            <a:avLst/>
          </a:prstGeom>
        </p:spPr>
      </p:pic>
      <p:sp>
        <p:nvSpPr>
          <p:cNvPr id="2" name="Rectangle 1">
            <a:extLst>
              <a:ext uri="{FF2B5EF4-FFF2-40B4-BE49-F238E27FC236}">
                <a16:creationId xmlns:a16="http://schemas.microsoft.com/office/drawing/2014/main" id="{7561C419-49AA-7C88-3D00-C75B9AE2FFD1}"/>
              </a:ext>
            </a:extLst>
          </p:cNvPr>
          <p:cNvSpPr/>
          <p:nvPr/>
        </p:nvSpPr>
        <p:spPr>
          <a:xfrm>
            <a:off x="2204737" y="146708"/>
            <a:ext cx="567037" cy="173497"/>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418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83000" r="-83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EE4A99-9BCF-CD9C-1317-0F5C857FC6E7}"/>
              </a:ext>
            </a:extLst>
          </p:cNvPr>
          <p:cNvSpPr/>
          <p:nvPr/>
        </p:nvSpPr>
        <p:spPr>
          <a:xfrm>
            <a:off x="0" y="428625"/>
            <a:ext cx="6858000" cy="744855"/>
          </a:xfrm>
          <a:prstGeom prst="rect">
            <a:avLst/>
          </a:prstGeom>
          <a:solidFill>
            <a:srgbClr val="1F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Our Partners</a:t>
            </a:r>
          </a:p>
          <a:p>
            <a:pPr algn="ctr"/>
            <a:r>
              <a:rPr lang="en-US" sz="900" dirty="0"/>
              <a:t>Strategic collaborations with leading carriers, asset managers, and service providers — all aligned </a:t>
            </a:r>
          </a:p>
          <a:p>
            <a:pPr algn="ctr"/>
            <a:r>
              <a:rPr lang="en-US" sz="900" dirty="0"/>
              <a:t>to deliver private placement solutions with clarity, transparency, and execution precision.</a:t>
            </a:r>
            <a:endParaRPr lang="en-US" sz="900" b="1" dirty="0">
              <a:solidFill>
                <a:srgbClr val="F5F7F8"/>
              </a:solidFill>
              <a:latin typeface="Inter" panose="02000503000000020004" pitchFamily="2" charset="0"/>
              <a:ea typeface="Inter" panose="02000503000000020004" pitchFamily="2" charset="0"/>
              <a:cs typeface="Inter" panose="02000503000000020004" pitchFamily="2" charset="0"/>
            </a:endParaRPr>
          </a:p>
        </p:txBody>
      </p:sp>
      <p:graphicFrame>
        <p:nvGraphicFramePr>
          <p:cNvPr id="4" name="Diagram 3">
            <a:extLst>
              <a:ext uri="{FF2B5EF4-FFF2-40B4-BE49-F238E27FC236}">
                <a16:creationId xmlns:a16="http://schemas.microsoft.com/office/drawing/2014/main" id="{5BFEAA1A-0FE2-0E5E-4287-E64AD9E00712}"/>
              </a:ext>
            </a:extLst>
          </p:cNvPr>
          <p:cNvGraphicFramePr/>
          <p:nvPr>
            <p:extLst>
              <p:ext uri="{D42A27DB-BD31-4B8C-83A1-F6EECF244321}">
                <p14:modId xmlns:p14="http://schemas.microsoft.com/office/powerpoint/2010/main" val="2618192915"/>
              </p:ext>
            </p:extLst>
          </p:nvPr>
        </p:nvGraphicFramePr>
        <p:xfrm>
          <a:off x="137160" y="1343024"/>
          <a:ext cx="6583680" cy="33661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6CE3DAD7-E4A9-6916-E561-A575DE3A13FD}"/>
              </a:ext>
            </a:extLst>
          </p:cNvPr>
          <p:cNvSpPr txBox="1"/>
          <p:nvPr/>
        </p:nvSpPr>
        <p:spPr>
          <a:xfrm>
            <a:off x="2" y="5033008"/>
            <a:ext cx="6857998" cy="1634490"/>
          </a:xfrm>
          <a:prstGeom prst="roundRect">
            <a:avLst/>
          </a:prstGeom>
          <a:noFill/>
          <a:ln>
            <a:noFill/>
          </a:ln>
          <a:effectLst>
            <a:softEdge rad="127000"/>
          </a:effectLst>
        </p:spPr>
        <p:txBody>
          <a:bodyPr wrap="square" rtlCol="0">
            <a:spAutoFit/>
          </a:bodyPr>
          <a:lstStyle/>
          <a:p>
            <a:pPr algn="ctr"/>
            <a:r>
              <a:rPr lang="en-US" sz="1600" b="1" dirty="0">
                <a:solidFill>
                  <a:srgbClr val="1F2933"/>
                </a:solidFill>
                <a:latin typeface="Inter" panose="02000503000000020004" pitchFamily="2" charset="0"/>
                <a:ea typeface="Inter" panose="02000503000000020004" pitchFamily="2" charset="0"/>
                <a:cs typeface="Inter" panose="02000503000000020004" pitchFamily="2" charset="0"/>
              </a:rPr>
              <a:t>Partnering to Deliver Institutional-Grade Outcomes</a:t>
            </a:r>
          </a:p>
          <a:p>
            <a:pPr algn="ctr"/>
            <a:endParaRPr lang="en-US" sz="10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At Advisure, we don’t just list logos — we integrate partner capabilities into our platform so advisors can:</a:t>
            </a:r>
          </a:p>
          <a:p>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171450" indent="-171450">
              <a:buClr>
                <a:srgbClr val="C9A24D"/>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Access carrier support without operational friction</a:t>
            </a:r>
          </a:p>
          <a:p>
            <a:pPr marL="171450" indent="-171450">
              <a:buClr>
                <a:srgbClr val="C9A24D"/>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Leverage institutional asset strategies with private insurance structures</a:t>
            </a:r>
          </a:p>
          <a:p>
            <a:pPr marL="171450" indent="-171450">
              <a:buClr>
                <a:srgbClr val="C9A24D"/>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Streamline implementation and monitoring across stakeholders</a:t>
            </a:r>
          </a:p>
          <a:p>
            <a:pPr marL="171450" indent="-171450">
              <a:buClr>
                <a:srgbClr val="C9A24D"/>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Provide best-in-class reporting and oversight to clients</a:t>
            </a:r>
          </a:p>
          <a:p>
            <a:pPr marL="171450" indent="-171450">
              <a:buClr>
                <a:srgbClr val="C9A24D"/>
              </a:buClr>
              <a:buFont typeface="Wingdings" panose="05000000000000000000" pitchFamily="2" charset="2"/>
              <a:buChar char="Ø"/>
            </a:pPr>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These partnerships form the backbone of a transparent, scalable infrastructure for RIAs.</a:t>
            </a:r>
            <a:endParaRPr lang="en-US" sz="900" dirty="0">
              <a:solidFill>
                <a:schemeClr val="bg1"/>
              </a:solidFill>
              <a:latin typeface="Inter" panose="02000503000000020004" pitchFamily="2" charset="0"/>
              <a:ea typeface="Inter" panose="02000503000000020004" pitchFamily="2" charset="0"/>
              <a:cs typeface="Inter" panose="02000503000000020004" pitchFamily="2" charset="0"/>
            </a:endParaRPr>
          </a:p>
        </p:txBody>
      </p:sp>
      <p:graphicFrame>
        <p:nvGraphicFramePr>
          <p:cNvPr id="7" name="Diagram 6">
            <a:extLst>
              <a:ext uri="{FF2B5EF4-FFF2-40B4-BE49-F238E27FC236}">
                <a16:creationId xmlns:a16="http://schemas.microsoft.com/office/drawing/2014/main" id="{EE575B5B-9DDF-6388-64EE-BA10DF9791A3}"/>
              </a:ext>
            </a:extLst>
          </p:cNvPr>
          <p:cNvGraphicFramePr/>
          <p:nvPr>
            <p:extLst>
              <p:ext uri="{D42A27DB-BD31-4B8C-83A1-F6EECF244321}">
                <p14:modId xmlns:p14="http://schemas.microsoft.com/office/powerpoint/2010/main" val="3068892122"/>
              </p:ext>
            </p:extLst>
          </p:nvPr>
        </p:nvGraphicFramePr>
        <p:xfrm>
          <a:off x="628650" y="6930387"/>
          <a:ext cx="5600700" cy="140398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8" name="Picture 7">
            <a:extLst>
              <a:ext uri="{FF2B5EF4-FFF2-40B4-BE49-F238E27FC236}">
                <a16:creationId xmlns:a16="http://schemas.microsoft.com/office/drawing/2014/main" id="{9701946E-4627-8340-40DB-F930D4C13401}"/>
              </a:ext>
            </a:extLst>
          </p:cNvPr>
          <p:cNvPicPr>
            <a:picLocks noChangeAspect="1"/>
          </p:cNvPicPr>
          <p:nvPr/>
        </p:nvPicPr>
        <p:blipFill>
          <a:blip r:embed="rId13"/>
          <a:stretch>
            <a:fillRect/>
          </a:stretch>
        </p:blipFill>
        <p:spPr>
          <a:xfrm>
            <a:off x="-1834" y="0"/>
            <a:ext cx="6858000" cy="432054"/>
          </a:xfrm>
          <a:prstGeom prst="rect">
            <a:avLst/>
          </a:prstGeom>
        </p:spPr>
      </p:pic>
      <p:sp>
        <p:nvSpPr>
          <p:cNvPr id="2" name="Rectangle 1">
            <a:extLst>
              <a:ext uri="{FF2B5EF4-FFF2-40B4-BE49-F238E27FC236}">
                <a16:creationId xmlns:a16="http://schemas.microsoft.com/office/drawing/2014/main" id="{E11AEB25-95EC-DF1B-F365-7CD4F0712D86}"/>
              </a:ext>
            </a:extLst>
          </p:cNvPr>
          <p:cNvSpPr/>
          <p:nvPr/>
        </p:nvSpPr>
        <p:spPr>
          <a:xfrm>
            <a:off x="3530617" y="123683"/>
            <a:ext cx="567037" cy="173497"/>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6230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83000" r="-83000"/>
          </a:stretch>
        </a:blipFill>
        <a:effectLst/>
      </p:bgPr>
    </p:bg>
    <p:spTree>
      <p:nvGrpSpPr>
        <p:cNvPr id="1" name="">
          <a:extLst>
            <a:ext uri="{FF2B5EF4-FFF2-40B4-BE49-F238E27FC236}">
              <a16:creationId xmlns:a16="http://schemas.microsoft.com/office/drawing/2014/main" id="{BB0A6DFC-0CA1-E61D-4A2B-6B854A172E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350EDCC-0A2E-48F6-80C6-E5F94FC60176}"/>
              </a:ext>
            </a:extLst>
          </p:cNvPr>
          <p:cNvSpPr/>
          <p:nvPr/>
        </p:nvSpPr>
        <p:spPr>
          <a:xfrm>
            <a:off x="0" y="428625"/>
            <a:ext cx="6858000" cy="857250"/>
          </a:xfrm>
          <a:prstGeom prst="rect">
            <a:avLst/>
          </a:prstGeom>
          <a:solidFill>
            <a:srgbClr val="1F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About Advisure</a:t>
            </a:r>
          </a:p>
          <a:p>
            <a:pPr algn="ctr"/>
            <a:r>
              <a:rPr lang="en-US" sz="1200" dirty="0">
                <a:solidFill>
                  <a:srgbClr val="F5F7F8"/>
                </a:solidFill>
                <a:latin typeface="Inter" panose="02000503000000020004" pitchFamily="2" charset="0"/>
                <a:ea typeface="Inter" panose="02000503000000020004" pitchFamily="2" charset="0"/>
                <a:cs typeface="Inter" panose="02000503000000020004" pitchFamily="2" charset="0"/>
              </a:rPr>
              <a:t>Redefining How Insurance and Investment Work Together</a:t>
            </a:r>
          </a:p>
        </p:txBody>
      </p:sp>
      <p:sp>
        <p:nvSpPr>
          <p:cNvPr id="6" name="TextBox 5">
            <a:extLst>
              <a:ext uri="{FF2B5EF4-FFF2-40B4-BE49-F238E27FC236}">
                <a16:creationId xmlns:a16="http://schemas.microsoft.com/office/drawing/2014/main" id="{F67CEE26-4E92-D462-11D1-1FFB3BD6349B}"/>
              </a:ext>
            </a:extLst>
          </p:cNvPr>
          <p:cNvSpPr txBox="1"/>
          <p:nvPr/>
        </p:nvSpPr>
        <p:spPr>
          <a:xfrm>
            <a:off x="171448" y="1449173"/>
            <a:ext cx="6465571" cy="2708434"/>
          </a:xfrm>
          <a:prstGeom prst="rect">
            <a:avLst/>
          </a:prstGeom>
          <a:noFill/>
        </p:spPr>
        <p:txBody>
          <a:bodyPr wrap="square" numCol="1" rtlCol="0">
            <a:spAutoFit/>
          </a:bodyPr>
          <a:lstStyle/>
          <a:p>
            <a:r>
              <a:rPr lang="en-US" sz="2000" b="1" dirty="0">
                <a:solidFill>
                  <a:srgbClr val="1F2933"/>
                </a:solidFill>
                <a:latin typeface="Inter" panose="02000503000000020004" pitchFamily="2" charset="0"/>
                <a:ea typeface="Inter" panose="02000503000000020004" pitchFamily="2" charset="0"/>
                <a:cs typeface="Inter" panose="02000503000000020004" pitchFamily="2" charset="0"/>
              </a:rPr>
              <a:t>Why Advisure Exists</a:t>
            </a:r>
          </a:p>
          <a:p>
            <a:endParaRPr lang="en-US" sz="10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Private placement strategies can deliver meaningful after-tax advantages — but historically they’ve been fragmented, opaque, and difficult to scale.</a:t>
            </a:r>
          </a:p>
          <a:p>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Execution has required navigating disconnected carriers, investment managers, documentation processes, and reporting systems. The strategy was institutional. The workflow was not.</a:t>
            </a:r>
          </a:p>
          <a:p>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Advisure was built to eliminate that fragmentation.</a:t>
            </a:r>
          </a:p>
          <a:p>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We unify insurance structuring, institutional investment integration, carrier coordination, and ongoing oversight into a single, advisor-centric platform — designed for clarity, precision, and scalability, enabling:</a:t>
            </a:r>
          </a:p>
          <a:p>
            <a:endParaRPr lang="en-US" sz="10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171450" indent="-171450">
              <a:buClr>
                <a:srgbClr val="046A38"/>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Integrated strategy design — not isolated product overlay</a:t>
            </a:r>
          </a:p>
          <a:p>
            <a:pPr marL="171450" indent="-171450">
              <a:buClr>
                <a:srgbClr val="046A38"/>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Streamlined implementation across stakeholders</a:t>
            </a:r>
          </a:p>
          <a:p>
            <a:pPr marL="171450" indent="-171450">
              <a:buClr>
                <a:srgbClr val="046A38"/>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Institutional investment alignment</a:t>
            </a:r>
          </a:p>
          <a:p>
            <a:pPr marL="171450" indent="-171450">
              <a:buClr>
                <a:srgbClr val="046A38"/>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Transparent oversight and reporting</a:t>
            </a:r>
          </a:p>
          <a:p>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000" b="1" dirty="0">
                <a:solidFill>
                  <a:srgbClr val="046A38"/>
                </a:solidFill>
                <a:latin typeface="Inter" panose="02000503000000020004" pitchFamily="2" charset="0"/>
                <a:ea typeface="Inter" panose="02000503000000020004" pitchFamily="2" charset="0"/>
                <a:cs typeface="Inter" panose="02000503000000020004" pitchFamily="2" charset="0"/>
              </a:rPr>
              <a:t>Private placement, delivered with institutional infrastructure — without institutional complexity.</a:t>
            </a:r>
            <a:endParaRPr lang="en-US" sz="1050" b="1" dirty="0">
              <a:solidFill>
                <a:srgbClr val="046A38"/>
              </a:solidFill>
            </a:endParaRPr>
          </a:p>
        </p:txBody>
      </p:sp>
      <p:sp>
        <p:nvSpPr>
          <p:cNvPr id="7" name="Rectangle: Rounded Corners 6">
            <a:extLst>
              <a:ext uri="{FF2B5EF4-FFF2-40B4-BE49-F238E27FC236}">
                <a16:creationId xmlns:a16="http://schemas.microsoft.com/office/drawing/2014/main" id="{B79031FD-827E-4EE4-68FD-EAF12B78F8A6}"/>
              </a:ext>
            </a:extLst>
          </p:cNvPr>
          <p:cNvSpPr/>
          <p:nvPr/>
        </p:nvSpPr>
        <p:spPr>
          <a:xfrm>
            <a:off x="227645" y="4349480"/>
            <a:ext cx="6353175" cy="2841895"/>
          </a:xfrm>
          <a:prstGeom prst="roundRect">
            <a:avLst/>
          </a:prstGeom>
          <a:solidFill>
            <a:srgbClr val="1F2933"/>
          </a:solidFill>
          <a:ln>
            <a:solidFill>
              <a:srgbClr val="1F2933"/>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i="1" dirty="0">
                <a:solidFill>
                  <a:srgbClr val="C9A24D"/>
                </a:solidFill>
              </a:rPr>
              <a:t>Our Mission</a:t>
            </a:r>
          </a:p>
          <a:p>
            <a:endParaRPr lang="en-US" sz="1100" b="1" i="1" dirty="0">
              <a:solidFill>
                <a:srgbClr val="046A38"/>
              </a:solidFill>
            </a:endParaRPr>
          </a:p>
          <a:p>
            <a:pPr marL="182880" indent="0">
              <a:buNone/>
            </a:pPr>
            <a:r>
              <a:rPr lang="en-US" sz="1000" b="1" dirty="0"/>
              <a:t>Our mission is to unify investment advisory and insurance into a single, integrated wealth infrastructure.</a:t>
            </a:r>
          </a:p>
          <a:p>
            <a:pPr marL="182880" indent="0">
              <a:buNone/>
            </a:pPr>
            <a:endParaRPr lang="en-US" sz="1000" b="1" dirty="0"/>
          </a:p>
          <a:p>
            <a:pPr marL="365760" indent="0">
              <a:buNone/>
            </a:pPr>
            <a:r>
              <a:rPr lang="en-US" sz="900" i="1" dirty="0"/>
              <a:t>We empower advisors to deliver institutional-quality investment strategies to accredited and qualified investors through technology that simplifies education, enhances decision-making, and streamlines implementation. By reducing complexity and friction, we seek to improve risk-adjusted and after-tax outcomes for high-net-worth individuals, their advisors, and insurance partners alike.</a:t>
            </a:r>
          </a:p>
          <a:p>
            <a:pPr marL="182880" indent="0">
              <a:buNone/>
            </a:pPr>
            <a:endParaRPr lang="en-US" sz="900" i="1" dirty="0"/>
          </a:p>
          <a:p>
            <a:r>
              <a:rPr lang="en-US" sz="1100" b="1" i="1" dirty="0">
                <a:solidFill>
                  <a:srgbClr val="C9A24D"/>
                </a:solidFill>
              </a:rPr>
              <a:t>Our Vision</a:t>
            </a:r>
          </a:p>
          <a:p>
            <a:endParaRPr lang="en-US" sz="1100" b="1" i="1" dirty="0">
              <a:solidFill>
                <a:srgbClr val="046A38"/>
              </a:solidFill>
            </a:endParaRPr>
          </a:p>
          <a:p>
            <a:pPr marL="182880" indent="0">
              <a:buNone/>
            </a:pPr>
            <a:r>
              <a:rPr lang="en-US" sz="1000" b="1" dirty="0"/>
              <a:t>Our vision is to become the trusted infrastructure through which advisors deliver the most sophisticated, tax-efficient wealth solutions in the industry.</a:t>
            </a:r>
          </a:p>
          <a:p>
            <a:pPr marL="182880" indent="0">
              <a:buNone/>
            </a:pPr>
            <a:endParaRPr lang="en-US" sz="1000" b="1" dirty="0"/>
          </a:p>
          <a:p>
            <a:pPr marL="365760" indent="0">
              <a:buNone/>
            </a:pPr>
            <a:r>
              <a:rPr lang="en-US" sz="900" i="1" dirty="0"/>
              <a:t>We believe the future of wealth management is integrated, transparent, and advisor-led — where structure and strategy work together to produce superior long-term outcomes.</a:t>
            </a:r>
          </a:p>
        </p:txBody>
      </p:sp>
      <p:graphicFrame>
        <p:nvGraphicFramePr>
          <p:cNvPr id="8" name="Content Placeholder 2">
            <a:extLst>
              <a:ext uri="{FF2B5EF4-FFF2-40B4-BE49-F238E27FC236}">
                <a16:creationId xmlns:a16="http://schemas.microsoft.com/office/drawing/2014/main" id="{CA3DEAAF-C3E0-140E-ECB9-3052703F5287}"/>
              </a:ext>
            </a:extLst>
          </p:cNvPr>
          <p:cNvGraphicFramePr>
            <a:graphicFrameLocks/>
          </p:cNvGraphicFramePr>
          <p:nvPr>
            <p:extLst>
              <p:ext uri="{D42A27DB-BD31-4B8C-83A1-F6EECF244321}">
                <p14:modId xmlns:p14="http://schemas.microsoft.com/office/powerpoint/2010/main" val="632430409"/>
              </p:ext>
            </p:extLst>
          </p:nvPr>
        </p:nvGraphicFramePr>
        <p:xfrm>
          <a:off x="92390" y="7699898"/>
          <a:ext cx="6600826" cy="2724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B2670CE0-5855-AF3B-DE4D-21E5F477FA57}"/>
              </a:ext>
            </a:extLst>
          </p:cNvPr>
          <p:cNvSpPr txBox="1"/>
          <p:nvPr/>
        </p:nvSpPr>
        <p:spPr>
          <a:xfrm>
            <a:off x="47625" y="7699898"/>
            <a:ext cx="3238500" cy="1046440"/>
          </a:xfrm>
          <a:prstGeom prst="rect">
            <a:avLst/>
          </a:prstGeom>
          <a:noFill/>
        </p:spPr>
        <p:txBody>
          <a:bodyPr wrap="square" numCol="1" rtlCol="0">
            <a:spAutoFit/>
          </a:bodyPr>
          <a:lstStyle/>
          <a:p>
            <a:r>
              <a:rPr lang="en-US" sz="2000" b="1" dirty="0">
                <a:solidFill>
                  <a:srgbClr val="1F2933"/>
                </a:solidFill>
                <a:latin typeface="Inter" panose="02000503000000020004" pitchFamily="2" charset="0"/>
                <a:ea typeface="Inter" panose="02000503000000020004" pitchFamily="2" charset="0"/>
                <a:cs typeface="Inter" panose="02000503000000020004" pitchFamily="2" charset="0"/>
              </a:rPr>
              <a:t>The Advisure Approach</a:t>
            </a:r>
          </a:p>
          <a:p>
            <a:r>
              <a:rPr lang="en-US" sz="1000" dirty="0"/>
              <a:t>A repeatable process for private placement execution — </a:t>
            </a:r>
            <a:r>
              <a:rPr lang="en-US" sz="1200" b="1" dirty="0">
                <a:solidFill>
                  <a:srgbClr val="046A38"/>
                </a:solidFill>
              </a:rPr>
              <a:t>start to finish</a:t>
            </a:r>
            <a:endParaRPr lang="en-US" sz="1000" b="1" dirty="0">
              <a:solidFill>
                <a:srgbClr val="046A38"/>
              </a:solidFill>
              <a:latin typeface="Inter" panose="02000503000000020004" pitchFamily="2" charset="0"/>
              <a:ea typeface="Inter" panose="02000503000000020004" pitchFamily="2" charset="0"/>
              <a:cs typeface="Inter" panose="02000503000000020004" pitchFamily="2" charset="0"/>
            </a:endParaRPr>
          </a:p>
          <a:p>
            <a:endParaRPr lang="en-US" sz="2000" b="1" dirty="0">
              <a:solidFill>
                <a:srgbClr val="1F2933"/>
              </a:solidFill>
              <a:latin typeface="Inter" panose="02000503000000020004" pitchFamily="2" charset="0"/>
              <a:ea typeface="Inter" panose="02000503000000020004" pitchFamily="2" charset="0"/>
              <a:cs typeface="Inter" panose="02000503000000020004" pitchFamily="2" charset="0"/>
            </a:endParaRPr>
          </a:p>
        </p:txBody>
      </p:sp>
      <p:sp>
        <p:nvSpPr>
          <p:cNvPr id="16" name="TextBox 15">
            <a:extLst>
              <a:ext uri="{FF2B5EF4-FFF2-40B4-BE49-F238E27FC236}">
                <a16:creationId xmlns:a16="http://schemas.microsoft.com/office/drawing/2014/main" id="{095ADE43-12D0-0E5A-237E-69D32213FC0F}"/>
              </a:ext>
            </a:extLst>
          </p:cNvPr>
          <p:cNvSpPr txBox="1"/>
          <p:nvPr/>
        </p:nvSpPr>
        <p:spPr>
          <a:xfrm>
            <a:off x="2450785" y="9638208"/>
            <a:ext cx="4314825" cy="2451735"/>
          </a:xfrm>
          <a:prstGeom prst="roundRect">
            <a:avLst/>
          </a:prstGeom>
          <a:solidFill>
            <a:srgbClr val="F5F7F8"/>
          </a:solidFill>
        </p:spPr>
        <p:txBody>
          <a:bodyPr wrap="square" numCol="1" rtlCol="0">
            <a:spAutoFit/>
          </a:bodyPr>
          <a:lstStyle/>
          <a:p>
            <a:r>
              <a:rPr lang="en-US" sz="2000" b="1" dirty="0">
                <a:solidFill>
                  <a:srgbClr val="1F2933"/>
                </a:solidFill>
                <a:latin typeface="Inter" panose="02000503000000020004" pitchFamily="2" charset="0"/>
                <a:ea typeface="Inter" panose="02000503000000020004" pitchFamily="2" charset="0"/>
                <a:cs typeface="Inter" panose="02000503000000020004" pitchFamily="2" charset="0"/>
              </a:rPr>
              <a:t>How Advisure Works with RIAs</a:t>
            </a:r>
          </a:p>
          <a:p>
            <a:endParaRPr lang="en-US" sz="900" dirty="0">
              <a:latin typeface="Inter" panose="02000503000000020004" pitchFamily="2" charset="0"/>
              <a:ea typeface="Inter" panose="02000503000000020004" pitchFamily="2" charset="0"/>
              <a:cs typeface="Inter" panose="02000503000000020004" pitchFamily="2" charset="0"/>
            </a:endParaRPr>
          </a:p>
          <a:p>
            <a:r>
              <a:rPr lang="en-US" sz="800" dirty="0">
                <a:latin typeface="Inter" panose="02000503000000020004" pitchFamily="2" charset="0"/>
                <a:ea typeface="Inter" panose="02000503000000020004" pitchFamily="2" charset="0"/>
                <a:cs typeface="Inter" panose="02000503000000020004" pitchFamily="2" charset="0"/>
              </a:rPr>
              <a:t>Advisure operates as a behind-the-scenes structural partner to RIAs.</a:t>
            </a:r>
          </a:p>
          <a:p>
            <a:endParaRPr lang="en-US" sz="800" dirty="0">
              <a:latin typeface="Inter" panose="02000503000000020004" pitchFamily="2" charset="0"/>
              <a:ea typeface="Inter" panose="02000503000000020004" pitchFamily="2" charset="0"/>
              <a:cs typeface="Inter" panose="02000503000000020004" pitchFamily="2" charset="0"/>
            </a:endParaRPr>
          </a:p>
          <a:p>
            <a:r>
              <a:rPr lang="en-US" sz="800" dirty="0">
                <a:latin typeface="Inter" panose="02000503000000020004" pitchFamily="2" charset="0"/>
                <a:ea typeface="Inter" panose="02000503000000020004" pitchFamily="2" charset="0"/>
                <a:cs typeface="Inter" panose="02000503000000020004" pitchFamily="2" charset="0"/>
              </a:rPr>
              <a:t>You remain the primary relationship owner and investment lead. We provide the infrastructure and execution support to evaluate, design, implement, and monitor private placement strategies — without adding operational burden to your firm.</a:t>
            </a:r>
          </a:p>
          <a:p>
            <a:endParaRPr lang="en-US" sz="800" dirty="0">
              <a:latin typeface="Inter" panose="02000503000000020004" pitchFamily="2" charset="0"/>
              <a:ea typeface="Inter" panose="02000503000000020004" pitchFamily="2" charset="0"/>
              <a:cs typeface="Inter" panose="02000503000000020004" pitchFamily="2" charset="0"/>
            </a:endParaRPr>
          </a:p>
          <a:p>
            <a:r>
              <a:rPr lang="en-US" sz="800" dirty="0">
                <a:latin typeface="Inter" panose="02000503000000020004" pitchFamily="2" charset="0"/>
                <a:ea typeface="Inter" panose="02000503000000020004" pitchFamily="2" charset="0"/>
                <a:cs typeface="Inter" panose="02000503000000020004" pitchFamily="2" charset="0"/>
              </a:rPr>
              <a:t>Our role is to simplify complexity, align stakeholders, and deliver institutional-grade implementation through a streamlined platform.</a:t>
            </a:r>
          </a:p>
          <a:p>
            <a:endParaRPr lang="en-US" sz="900" b="1" dirty="0">
              <a:solidFill>
                <a:srgbClr val="046A38"/>
              </a:solidFill>
              <a:latin typeface="Inter" panose="02000503000000020004" pitchFamily="2" charset="0"/>
              <a:ea typeface="Inter" panose="02000503000000020004" pitchFamily="2" charset="0"/>
              <a:cs typeface="Inter" panose="02000503000000020004" pitchFamily="2" charset="0"/>
            </a:endParaRPr>
          </a:p>
          <a:p>
            <a:endParaRPr lang="en-US" sz="900" b="1" dirty="0">
              <a:solidFill>
                <a:srgbClr val="046A38"/>
              </a:solidFill>
              <a:latin typeface="Inter" panose="02000503000000020004" pitchFamily="2" charset="0"/>
              <a:ea typeface="Inter" panose="02000503000000020004" pitchFamily="2" charset="0"/>
              <a:cs typeface="Inter" panose="02000503000000020004" pitchFamily="2" charset="0"/>
            </a:endParaRPr>
          </a:p>
          <a:p>
            <a:endParaRPr lang="en-US" sz="900" b="1" dirty="0">
              <a:solidFill>
                <a:srgbClr val="046A38"/>
              </a:solidFill>
              <a:latin typeface="Inter" panose="02000503000000020004" pitchFamily="2" charset="0"/>
              <a:ea typeface="Inter" panose="02000503000000020004" pitchFamily="2" charset="0"/>
              <a:cs typeface="Inter" panose="02000503000000020004" pitchFamily="2" charset="0"/>
            </a:endParaRPr>
          </a:p>
          <a:p>
            <a:endParaRPr lang="en-US" sz="900" b="1" dirty="0">
              <a:solidFill>
                <a:srgbClr val="046A38"/>
              </a:solidFill>
              <a:latin typeface="Inter" panose="02000503000000020004" pitchFamily="2" charset="0"/>
              <a:ea typeface="Inter" panose="02000503000000020004" pitchFamily="2" charset="0"/>
              <a:cs typeface="Inter" panose="02000503000000020004" pitchFamily="2" charset="0"/>
            </a:endParaRPr>
          </a:p>
          <a:p>
            <a:endParaRPr lang="en-US" sz="900" b="1" dirty="0">
              <a:solidFill>
                <a:srgbClr val="046A38"/>
              </a:solidFill>
              <a:latin typeface="Inter" panose="02000503000000020004" pitchFamily="2" charset="0"/>
              <a:ea typeface="Inter" panose="02000503000000020004" pitchFamily="2" charset="0"/>
              <a:cs typeface="Inter" panose="02000503000000020004" pitchFamily="2" charset="0"/>
            </a:endParaRPr>
          </a:p>
        </p:txBody>
      </p:sp>
      <p:sp>
        <p:nvSpPr>
          <p:cNvPr id="17" name="Rectangle 16">
            <a:extLst>
              <a:ext uri="{FF2B5EF4-FFF2-40B4-BE49-F238E27FC236}">
                <a16:creationId xmlns:a16="http://schemas.microsoft.com/office/drawing/2014/main" id="{098DC99A-FBD7-D464-001E-D0C623ED2116}"/>
              </a:ext>
            </a:extLst>
          </p:cNvPr>
          <p:cNvSpPr/>
          <p:nvPr/>
        </p:nvSpPr>
        <p:spPr>
          <a:xfrm>
            <a:off x="164784" y="10177780"/>
            <a:ext cx="2180275" cy="186181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Graphic Placeholder</a:t>
            </a:r>
          </a:p>
        </p:txBody>
      </p:sp>
      <p:sp>
        <p:nvSpPr>
          <p:cNvPr id="18" name="Rectangle: Rounded Corners 17">
            <a:extLst>
              <a:ext uri="{FF2B5EF4-FFF2-40B4-BE49-F238E27FC236}">
                <a16:creationId xmlns:a16="http://schemas.microsoft.com/office/drawing/2014/main" id="{707DA888-C544-D1FA-08C5-58A58E363A27}"/>
              </a:ext>
            </a:extLst>
          </p:cNvPr>
          <p:cNvSpPr/>
          <p:nvPr/>
        </p:nvSpPr>
        <p:spPr>
          <a:xfrm>
            <a:off x="2626839" y="11315928"/>
            <a:ext cx="3962716" cy="609925"/>
          </a:xfrm>
          <a:prstGeom prst="roundRect">
            <a:avLst/>
          </a:prstGeom>
          <a:solidFill>
            <a:srgbClr val="1F2933"/>
          </a:solidFill>
          <a:ln>
            <a:solidFill>
              <a:srgbClr val="1F2933"/>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b="1" dirty="0">
                <a:solidFill>
                  <a:srgbClr val="C9A24D"/>
                </a:solidFill>
                <a:latin typeface="Inter" panose="02000503000000020004" pitchFamily="2" charset="0"/>
                <a:ea typeface="Inter" panose="02000503000000020004" pitchFamily="2" charset="0"/>
                <a:cs typeface="Inter" panose="02000503000000020004" pitchFamily="2" charset="0"/>
              </a:rPr>
              <a:t>The Result:</a:t>
            </a:r>
          </a:p>
          <a:p>
            <a:r>
              <a:rPr lang="en-US" sz="400" dirty="0">
                <a:latin typeface="Inter" panose="02000503000000020004" pitchFamily="2" charset="0"/>
                <a:ea typeface="Inter" panose="02000503000000020004" pitchFamily="2" charset="0"/>
                <a:cs typeface="Inter" panose="02000503000000020004" pitchFamily="2" charset="0"/>
              </a:rPr>
              <a:t> </a:t>
            </a:r>
            <a:br>
              <a:rPr lang="en-US" sz="900" dirty="0">
                <a:latin typeface="Inter" panose="02000503000000020004" pitchFamily="2" charset="0"/>
                <a:ea typeface="Inter" panose="02000503000000020004" pitchFamily="2" charset="0"/>
                <a:cs typeface="Inter" panose="02000503000000020004" pitchFamily="2" charset="0"/>
              </a:rPr>
            </a:br>
            <a:r>
              <a:rPr lang="en-US" sz="900" dirty="0">
                <a:latin typeface="Inter" panose="02000503000000020004" pitchFamily="2" charset="0"/>
                <a:ea typeface="Inter" panose="02000503000000020004" pitchFamily="2" charset="0"/>
                <a:cs typeface="Inter" panose="02000503000000020004" pitchFamily="2" charset="0"/>
              </a:rPr>
              <a:t>Better client outcomes, deeper relationships, and a more differentiated practice</a:t>
            </a:r>
          </a:p>
          <a:p>
            <a:endParaRPr lang="en-US" sz="900" i="1" dirty="0"/>
          </a:p>
        </p:txBody>
      </p:sp>
      <p:pic>
        <p:nvPicPr>
          <p:cNvPr id="5" name="Picture 4">
            <a:extLst>
              <a:ext uri="{FF2B5EF4-FFF2-40B4-BE49-F238E27FC236}">
                <a16:creationId xmlns:a16="http://schemas.microsoft.com/office/drawing/2014/main" id="{72015F7D-5786-6B1F-F2AE-BDACF800342D}"/>
              </a:ext>
            </a:extLst>
          </p:cNvPr>
          <p:cNvPicPr>
            <a:picLocks noChangeAspect="1"/>
          </p:cNvPicPr>
          <p:nvPr/>
        </p:nvPicPr>
        <p:blipFill>
          <a:blip r:embed="rId8"/>
          <a:stretch>
            <a:fillRect/>
          </a:stretch>
        </p:blipFill>
        <p:spPr>
          <a:xfrm>
            <a:off x="-1834" y="0"/>
            <a:ext cx="6858000" cy="432054"/>
          </a:xfrm>
          <a:prstGeom prst="rect">
            <a:avLst/>
          </a:prstGeom>
        </p:spPr>
      </p:pic>
      <p:sp>
        <p:nvSpPr>
          <p:cNvPr id="2" name="Rectangle 1">
            <a:extLst>
              <a:ext uri="{FF2B5EF4-FFF2-40B4-BE49-F238E27FC236}">
                <a16:creationId xmlns:a16="http://schemas.microsoft.com/office/drawing/2014/main" id="{A94D0D96-0734-938E-BEB9-8322E7EF48F6}"/>
              </a:ext>
            </a:extLst>
          </p:cNvPr>
          <p:cNvSpPr/>
          <p:nvPr/>
        </p:nvSpPr>
        <p:spPr>
          <a:xfrm>
            <a:off x="4117357" y="129278"/>
            <a:ext cx="567037" cy="173497"/>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peech Bubble: Oval 3">
            <a:extLst>
              <a:ext uri="{FF2B5EF4-FFF2-40B4-BE49-F238E27FC236}">
                <a16:creationId xmlns:a16="http://schemas.microsoft.com/office/drawing/2014/main" id="{C25A03C4-885B-3486-9757-17F1622AC492}"/>
              </a:ext>
            </a:extLst>
          </p:cNvPr>
          <p:cNvSpPr/>
          <p:nvPr/>
        </p:nvSpPr>
        <p:spPr>
          <a:xfrm>
            <a:off x="7186615" y="9870065"/>
            <a:ext cx="1767840" cy="1534403"/>
          </a:xfrm>
          <a:prstGeom prst="wedgeEllipseCallout">
            <a:avLst/>
          </a:prstGeom>
          <a:solidFill>
            <a:srgbClr val="046A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Consider maybe including this in RIA experience page?</a:t>
            </a:r>
          </a:p>
        </p:txBody>
      </p:sp>
      <p:sp>
        <p:nvSpPr>
          <p:cNvPr id="9" name="Speech Bubble: Oval 8">
            <a:extLst>
              <a:ext uri="{FF2B5EF4-FFF2-40B4-BE49-F238E27FC236}">
                <a16:creationId xmlns:a16="http://schemas.microsoft.com/office/drawing/2014/main" id="{9C12B4E9-BA56-64D8-1394-0560B192402E}"/>
              </a:ext>
            </a:extLst>
          </p:cNvPr>
          <p:cNvSpPr/>
          <p:nvPr/>
        </p:nvSpPr>
        <p:spPr>
          <a:xfrm flipH="1">
            <a:off x="-1864999" y="7389896"/>
            <a:ext cx="1767840" cy="1534403"/>
          </a:xfrm>
          <a:prstGeom prst="wedgeEllipseCallout">
            <a:avLst/>
          </a:prstGeom>
          <a:solidFill>
            <a:srgbClr val="046A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Consider having a separate Advisure page describing everything more in-depth</a:t>
            </a:r>
          </a:p>
        </p:txBody>
      </p:sp>
    </p:spTree>
    <p:extLst>
      <p:ext uri="{BB962C8B-B14F-4D97-AF65-F5344CB8AC3E}">
        <p14:creationId xmlns:p14="http://schemas.microsoft.com/office/powerpoint/2010/main" val="2072215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83000" r="-83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1DEFC3-28EF-C7C1-9A54-B673288437C5}"/>
              </a:ext>
            </a:extLst>
          </p:cNvPr>
          <p:cNvSpPr/>
          <p:nvPr/>
        </p:nvSpPr>
        <p:spPr>
          <a:xfrm>
            <a:off x="0" y="2548482"/>
            <a:ext cx="6858000" cy="857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1F2933"/>
                </a:solidFill>
              </a:rPr>
              <a:t>Our Leadership</a:t>
            </a:r>
          </a:p>
          <a:p>
            <a:pPr algn="ctr"/>
            <a:r>
              <a:rPr lang="en-US" sz="1050" dirty="0">
                <a:solidFill>
                  <a:srgbClr val="1F2933"/>
                </a:solidFill>
              </a:rPr>
              <a:t>Our team blends deep expertise from insurance, investment management, and technology.</a:t>
            </a:r>
            <a:endParaRPr lang="en-US" sz="1050" dirty="0">
              <a:solidFill>
                <a:srgbClr val="1F2933"/>
              </a:solidFill>
              <a:latin typeface="Inter" panose="02000503000000020004" pitchFamily="2" charset="0"/>
              <a:ea typeface="Inter" panose="02000503000000020004" pitchFamily="2" charset="0"/>
              <a:cs typeface="Inter" panose="02000503000000020004" pitchFamily="2" charset="0"/>
            </a:endParaRPr>
          </a:p>
        </p:txBody>
      </p:sp>
      <p:pic>
        <p:nvPicPr>
          <p:cNvPr id="6" name="Picture 5">
            <a:extLst>
              <a:ext uri="{FF2B5EF4-FFF2-40B4-BE49-F238E27FC236}">
                <a16:creationId xmlns:a16="http://schemas.microsoft.com/office/drawing/2014/main" id="{C4277CE9-EAF4-8F9E-B278-A9DC985F1E5C}"/>
              </a:ext>
            </a:extLst>
          </p:cNvPr>
          <p:cNvPicPr>
            <a:picLocks noChangeAspect="1"/>
          </p:cNvPicPr>
          <p:nvPr/>
        </p:nvPicPr>
        <p:blipFill>
          <a:blip r:embed="rId3"/>
          <a:stretch>
            <a:fillRect/>
          </a:stretch>
        </p:blipFill>
        <p:spPr>
          <a:xfrm>
            <a:off x="280964" y="3382859"/>
            <a:ext cx="6296071" cy="3390925"/>
          </a:xfrm>
          <a:prstGeom prst="rect">
            <a:avLst/>
          </a:prstGeom>
        </p:spPr>
      </p:pic>
      <p:sp>
        <p:nvSpPr>
          <p:cNvPr id="7" name="TextBox 6">
            <a:extLst>
              <a:ext uri="{FF2B5EF4-FFF2-40B4-BE49-F238E27FC236}">
                <a16:creationId xmlns:a16="http://schemas.microsoft.com/office/drawing/2014/main" id="{D1E38C85-AD79-75AF-A0C6-311896A511CC}"/>
              </a:ext>
            </a:extLst>
          </p:cNvPr>
          <p:cNvSpPr txBox="1"/>
          <p:nvPr/>
        </p:nvSpPr>
        <p:spPr>
          <a:xfrm>
            <a:off x="0" y="175403"/>
            <a:ext cx="6465571" cy="400110"/>
          </a:xfrm>
          <a:prstGeom prst="rect">
            <a:avLst/>
          </a:prstGeom>
          <a:noFill/>
        </p:spPr>
        <p:txBody>
          <a:bodyPr wrap="square" numCol="1" rtlCol="0">
            <a:spAutoFit/>
          </a:bodyPr>
          <a:lstStyle/>
          <a:p>
            <a:r>
              <a:rPr lang="en-US" sz="2000" b="1" dirty="0">
                <a:solidFill>
                  <a:srgbClr val="1F2933"/>
                </a:solidFill>
                <a:latin typeface="Inter" panose="02000503000000020004" pitchFamily="2" charset="0"/>
                <a:ea typeface="Inter" panose="02000503000000020004" pitchFamily="2" charset="0"/>
                <a:cs typeface="Inter" panose="02000503000000020004" pitchFamily="2" charset="0"/>
              </a:rPr>
              <a:t>Our Philosophy</a:t>
            </a:r>
          </a:p>
        </p:txBody>
      </p:sp>
      <p:cxnSp>
        <p:nvCxnSpPr>
          <p:cNvPr id="8" name="Straight Connector 7">
            <a:extLst>
              <a:ext uri="{FF2B5EF4-FFF2-40B4-BE49-F238E27FC236}">
                <a16:creationId xmlns:a16="http://schemas.microsoft.com/office/drawing/2014/main" id="{66AD78E1-15A8-4122-C1EE-0BCCE3F5C62A}"/>
              </a:ext>
            </a:extLst>
          </p:cNvPr>
          <p:cNvCxnSpPr>
            <a:cxnSpLocks/>
            <a:endCxn id="7" idx="3"/>
          </p:cNvCxnSpPr>
          <p:nvPr/>
        </p:nvCxnSpPr>
        <p:spPr>
          <a:xfrm flipV="1">
            <a:off x="2149795" y="375458"/>
            <a:ext cx="4315776" cy="22758"/>
          </a:xfrm>
          <a:prstGeom prst="line">
            <a:avLst/>
          </a:prstGeom>
          <a:ln w="31750">
            <a:gradFill>
              <a:gsLst>
                <a:gs pos="0">
                  <a:srgbClr val="F5F7F8"/>
                </a:gs>
                <a:gs pos="100000">
                  <a:srgbClr val="C9A24D"/>
                </a:gs>
              </a:gsLst>
              <a:lin ang="5400000" scaled="1"/>
            </a:gra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F2592DD-A143-03BC-3C26-B15D35DF5F8C}"/>
              </a:ext>
            </a:extLst>
          </p:cNvPr>
          <p:cNvSpPr txBox="1"/>
          <p:nvPr/>
        </p:nvSpPr>
        <p:spPr>
          <a:xfrm>
            <a:off x="72389" y="1046730"/>
            <a:ext cx="6694171" cy="1328023"/>
          </a:xfrm>
          <a:prstGeom prst="roundRect">
            <a:avLst/>
          </a:prstGeom>
          <a:solidFill>
            <a:srgbClr val="F5F7F8"/>
          </a:solidFill>
          <a:ln>
            <a:solidFill>
              <a:srgbClr val="1F2933"/>
            </a:solidFill>
          </a:ln>
        </p:spPr>
        <p:txBody>
          <a:bodyPr wrap="square" numCol="1" rtlCol="0">
            <a:spAutoFit/>
          </a:bodyPr>
          <a:lstStyle/>
          <a:p>
            <a:r>
              <a:rPr lang="en-US" sz="800" b="1" dirty="0">
                <a:solidFill>
                  <a:srgbClr val="1F2933"/>
                </a:solidFill>
                <a:latin typeface="Inter" panose="02000503000000020004" pitchFamily="2" charset="0"/>
                <a:ea typeface="Inter" panose="02000503000000020004" pitchFamily="2" charset="0"/>
                <a:cs typeface="Inter" panose="02000503000000020004" pitchFamily="2" charset="0"/>
              </a:rPr>
              <a:t>We believe:</a:t>
            </a:r>
          </a:p>
          <a:p>
            <a:pPr marL="171450" indent="-171450">
              <a:buFont typeface="Arial" panose="020B0604020202020204" pitchFamily="34" charset="0"/>
              <a:buChar char="•"/>
            </a:pPr>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171450" indent="-171450">
              <a:buClr>
                <a:srgbClr val="C9A24D"/>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Structure rivals' strategy</a:t>
            </a:r>
          </a:p>
          <a:p>
            <a:pPr marL="171450" indent="-171450">
              <a:buClr>
                <a:srgbClr val="C9A24D"/>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Better decisions come from better tools</a:t>
            </a:r>
          </a:p>
          <a:p>
            <a:pPr marL="171450" indent="-171450">
              <a:buClr>
                <a:srgbClr val="C9A24D"/>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Long-term outcomes beat short-term optimization</a:t>
            </a:r>
          </a:p>
          <a:p>
            <a:pPr marL="171450" indent="-171450">
              <a:buClr>
                <a:srgbClr val="C9A24D"/>
              </a:buClr>
              <a:buFont typeface="Wingdings" panose="05000000000000000000" pitchFamily="2" charset="2"/>
              <a:buChar char="Ø"/>
            </a:pPr>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Private placement should be evaluated, not sold</a:t>
            </a:r>
          </a:p>
          <a:p>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800" dirty="0">
                <a:solidFill>
                  <a:srgbClr val="1F2933"/>
                </a:solidFill>
                <a:latin typeface="Inter" panose="02000503000000020004" pitchFamily="2" charset="0"/>
                <a:ea typeface="Inter" panose="02000503000000020004" pitchFamily="2" charset="0"/>
                <a:cs typeface="Inter" panose="02000503000000020004" pitchFamily="2" charset="0"/>
              </a:rPr>
              <a:t>PPLI and PPVA are not defaults or replacements for traditional planning tools. They are powerful structures that require careful evaluation, thoughtful design, and ongoing oversight. Advisure was built to support exactly that process.</a:t>
            </a:r>
          </a:p>
        </p:txBody>
      </p:sp>
      <p:sp>
        <p:nvSpPr>
          <p:cNvPr id="10" name="TextBox 9">
            <a:extLst>
              <a:ext uri="{FF2B5EF4-FFF2-40B4-BE49-F238E27FC236}">
                <a16:creationId xmlns:a16="http://schemas.microsoft.com/office/drawing/2014/main" id="{6C697AD5-78BC-2F1E-EA30-CAA5FC436F38}"/>
              </a:ext>
            </a:extLst>
          </p:cNvPr>
          <p:cNvSpPr txBox="1"/>
          <p:nvPr/>
        </p:nvSpPr>
        <p:spPr>
          <a:xfrm>
            <a:off x="962027" y="530617"/>
            <a:ext cx="4703446" cy="523220"/>
          </a:xfrm>
          <a:prstGeom prst="rect">
            <a:avLst/>
          </a:prstGeom>
          <a:noFill/>
        </p:spPr>
        <p:txBody>
          <a:bodyPr wrap="square" numCol="1" rtlCol="0">
            <a:spAutoFit/>
          </a:bodyPr>
          <a:lstStyle/>
          <a:p>
            <a:r>
              <a:rPr lang="en-US" sz="2800" b="1" i="1" dirty="0">
                <a:solidFill>
                  <a:srgbClr val="C9A24D"/>
                </a:solidFill>
                <a:latin typeface="Inter" panose="02000503000000020004" pitchFamily="2" charset="0"/>
                <a:ea typeface="Inter" panose="02000503000000020004" pitchFamily="2" charset="0"/>
                <a:cs typeface="Inter" panose="02000503000000020004" pitchFamily="2" charset="0"/>
              </a:rPr>
              <a:t>“ Structure is Strategy</a:t>
            </a:r>
            <a:r>
              <a:rPr lang="en-US" sz="2800" b="1" dirty="0">
                <a:solidFill>
                  <a:srgbClr val="C9A24D"/>
                </a:solidFill>
                <a:latin typeface="Inter" panose="02000503000000020004" pitchFamily="2" charset="0"/>
                <a:ea typeface="Inter" panose="02000503000000020004" pitchFamily="2" charset="0"/>
                <a:cs typeface="Inter" panose="02000503000000020004" pitchFamily="2" charset="0"/>
              </a:rPr>
              <a:t>”</a:t>
            </a:r>
          </a:p>
        </p:txBody>
      </p:sp>
      <p:sp>
        <p:nvSpPr>
          <p:cNvPr id="2" name="Speech Bubble: Oval 1">
            <a:extLst>
              <a:ext uri="{FF2B5EF4-FFF2-40B4-BE49-F238E27FC236}">
                <a16:creationId xmlns:a16="http://schemas.microsoft.com/office/drawing/2014/main" id="{C053DF77-43F9-EDC0-4CF8-4821E749DBFE}"/>
              </a:ext>
            </a:extLst>
          </p:cNvPr>
          <p:cNvSpPr/>
          <p:nvPr/>
        </p:nvSpPr>
        <p:spPr>
          <a:xfrm>
            <a:off x="7148515" y="25025"/>
            <a:ext cx="1767840" cy="1534403"/>
          </a:xfrm>
          <a:prstGeom prst="wedgeEllipseCallout">
            <a:avLst/>
          </a:prstGeom>
          <a:solidFill>
            <a:srgbClr val="046A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About Advisure continued</a:t>
            </a:r>
          </a:p>
        </p:txBody>
      </p:sp>
    </p:spTree>
    <p:extLst>
      <p:ext uri="{BB962C8B-B14F-4D97-AF65-F5344CB8AC3E}">
        <p14:creationId xmlns:p14="http://schemas.microsoft.com/office/powerpoint/2010/main" val="2922507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83000" r="-83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7BBAD3-FA40-1376-E934-052D85F93A5F}"/>
              </a:ext>
            </a:extLst>
          </p:cNvPr>
          <p:cNvSpPr txBox="1"/>
          <p:nvPr/>
        </p:nvSpPr>
        <p:spPr>
          <a:xfrm>
            <a:off x="0" y="1285875"/>
            <a:ext cx="6858000" cy="10439235"/>
          </a:xfrm>
          <a:prstGeom prst="roundRect">
            <a:avLst/>
          </a:prstGeom>
          <a:noFill/>
          <a:ln>
            <a:noFill/>
          </a:ln>
          <a:effectLst>
            <a:softEdge rad="127000"/>
          </a:effectLst>
        </p:spPr>
        <p:txBody>
          <a:bodyPr wrap="square" rtlCol="0">
            <a:spAutoFit/>
          </a:bodyPr>
          <a:lstStyle/>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What is Private Placement Life Insurance (PPLI)?</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Private Placement Life Insurance is a life insurance structure designed for accredited investors that can hold institutional-quality investment strategies within a tax-advantaged insurance wrapper.</a:t>
            </a:r>
          </a:p>
          <a:p>
            <a:endParaRPr lang="en-US" sz="9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It enables long-term compounding with reduced tax drag — particularly for portfolios with high income, high turnover, or alternative exposure.</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Why Structure Matters</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In taxable portfolios, taxes create drag that compounds over time — reducing after-tax performance.</a:t>
            </a:r>
          </a:p>
          <a:p>
            <a:endParaRPr lang="en-US" sz="9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Private placement changes the structure in which returns compound.</a:t>
            </a:r>
          </a:p>
          <a:p>
            <a:endParaRPr lang="en-US" sz="11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050" b="1" dirty="0">
                <a:solidFill>
                  <a:srgbClr val="C9A24D"/>
                </a:solidFill>
                <a:latin typeface="Inter" panose="02000503000000020004" pitchFamily="2" charset="0"/>
                <a:ea typeface="Inter" panose="02000503000000020004" pitchFamily="2" charset="0"/>
                <a:cs typeface="Inter" panose="02000503000000020004" pitchFamily="2" charset="0"/>
              </a:rPr>
              <a:t>Key idea: </a:t>
            </a:r>
            <a:r>
              <a:rPr lang="en-US" sz="1050" b="1" dirty="0">
                <a:solidFill>
                  <a:srgbClr val="1F2933"/>
                </a:solidFill>
                <a:latin typeface="Inter" panose="02000503000000020004" pitchFamily="2" charset="0"/>
                <a:ea typeface="Inter" panose="02000503000000020004" pitchFamily="2" charset="0"/>
                <a:cs typeface="Inter" panose="02000503000000020004" pitchFamily="2" charset="0"/>
              </a:rPr>
              <a:t>Tax efficiency isn’t incremental. It’s architectural.</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Who Private Placement Is Best Suited For</a:t>
            </a:r>
          </a:p>
          <a:p>
            <a:endParaRPr lang="en-US" sz="1200" b="1" dirty="0">
              <a:solidFill>
                <a:srgbClr val="046A38"/>
              </a:solidFill>
              <a:latin typeface="Inter" panose="02000503000000020004" pitchFamily="2" charset="0"/>
              <a:ea typeface="Inter" panose="02000503000000020004" pitchFamily="2" charset="0"/>
              <a:cs typeface="Inter" panose="02000503000000020004" pitchFamily="2" charset="0"/>
            </a:endParaRPr>
          </a:p>
          <a:p>
            <a:r>
              <a:rPr lang="en-US" sz="1000" dirty="0">
                <a:solidFill>
                  <a:srgbClr val="1F2933"/>
                </a:solidFill>
                <a:latin typeface="Inter" panose="02000503000000020004" pitchFamily="2" charset="0"/>
                <a:ea typeface="Inter" panose="02000503000000020004" pitchFamily="2" charset="0"/>
                <a:cs typeface="Inter" panose="02000503000000020004" pitchFamily="2" charset="0"/>
              </a:rPr>
              <a:t>Private placement is most relevant for:</a:t>
            </a:r>
          </a:p>
          <a:p>
            <a:endParaRPr lang="en-US" sz="10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171450" indent="-171450">
              <a:buFont typeface="Arial" panose="020B0604020202020204" pitchFamily="34" charset="0"/>
              <a:buChar char="•"/>
            </a:pPr>
            <a:r>
              <a:rPr lang="en-US" sz="1000" dirty="0">
                <a:solidFill>
                  <a:srgbClr val="1F2933"/>
                </a:solidFill>
                <a:latin typeface="Inter" panose="02000503000000020004" pitchFamily="2" charset="0"/>
                <a:ea typeface="Inter" panose="02000503000000020004" pitchFamily="2" charset="0"/>
                <a:cs typeface="Inter" panose="02000503000000020004" pitchFamily="2" charset="0"/>
              </a:rPr>
              <a:t>Accredited investors and high-net-worth clients</a:t>
            </a:r>
          </a:p>
          <a:p>
            <a:pPr marL="171450" indent="-171450">
              <a:buFont typeface="Arial" panose="020B0604020202020204" pitchFamily="34" charset="0"/>
              <a:buChar char="•"/>
            </a:pPr>
            <a:r>
              <a:rPr lang="en-US" sz="1000" dirty="0">
                <a:solidFill>
                  <a:srgbClr val="1F2933"/>
                </a:solidFill>
                <a:latin typeface="Inter" panose="02000503000000020004" pitchFamily="2" charset="0"/>
                <a:ea typeface="Inter" panose="02000503000000020004" pitchFamily="2" charset="0"/>
                <a:cs typeface="Inter" panose="02000503000000020004" pitchFamily="2" charset="0"/>
              </a:rPr>
              <a:t>Long time horizons (10+ years)</a:t>
            </a:r>
          </a:p>
          <a:p>
            <a:pPr marL="171450" indent="-171450">
              <a:buFont typeface="Arial" panose="020B0604020202020204" pitchFamily="34" charset="0"/>
              <a:buChar char="•"/>
            </a:pPr>
            <a:r>
              <a:rPr lang="en-US" sz="1000" dirty="0">
                <a:solidFill>
                  <a:srgbClr val="1F2933"/>
                </a:solidFill>
                <a:latin typeface="Inter" panose="02000503000000020004" pitchFamily="2" charset="0"/>
                <a:ea typeface="Inter" panose="02000503000000020004" pitchFamily="2" charset="0"/>
                <a:cs typeface="Inter" panose="02000503000000020004" pitchFamily="2" charset="0"/>
              </a:rPr>
              <a:t>High tax environments (federal + state)</a:t>
            </a:r>
          </a:p>
          <a:p>
            <a:pPr marL="171450" indent="-171450">
              <a:buFont typeface="Arial" panose="020B0604020202020204" pitchFamily="34" charset="0"/>
              <a:buChar char="•"/>
            </a:pPr>
            <a:r>
              <a:rPr lang="en-US" sz="1000" dirty="0">
                <a:solidFill>
                  <a:srgbClr val="1F2933"/>
                </a:solidFill>
                <a:latin typeface="Inter" panose="02000503000000020004" pitchFamily="2" charset="0"/>
                <a:ea typeface="Inter" panose="02000503000000020004" pitchFamily="2" charset="0"/>
                <a:cs typeface="Inter" panose="02000503000000020004" pitchFamily="2" charset="0"/>
              </a:rPr>
              <a:t>Alternative-heavy or high-turnover strategies</a:t>
            </a:r>
          </a:p>
          <a:p>
            <a:pPr marL="171450" indent="-171450">
              <a:buFont typeface="Arial" panose="020B0604020202020204" pitchFamily="34" charset="0"/>
              <a:buChar char="•"/>
            </a:pPr>
            <a:r>
              <a:rPr lang="en-US" sz="1000" dirty="0">
                <a:solidFill>
                  <a:srgbClr val="1F2933"/>
                </a:solidFill>
                <a:latin typeface="Inter" panose="02000503000000020004" pitchFamily="2" charset="0"/>
                <a:ea typeface="Inter" panose="02000503000000020004" pitchFamily="2" charset="0"/>
                <a:cs typeface="Inter" panose="02000503000000020004" pitchFamily="2" charset="0"/>
              </a:rPr>
              <a:t>Clients seeking long-term tax-aware compounding</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Three Drivers of the Private Placement Advantage</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228600" indent="-228600">
              <a:buFont typeface="+mj-lt"/>
              <a:buAutoNum type="arabicPeriod"/>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Reduced Tax Drag</a:t>
            </a:r>
          </a:p>
          <a:p>
            <a:pPr lvl="1"/>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Minimize ongoing taxation that erodes compounding.</a:t>
            </a:r>
          </a:p>
          <a:p>
            <a:pPr marL="228600" indent="-228600">
              <a:buFont typeface="+mj-lt"/>
              <a:buAutoNum type="arabicPeriod"/>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Structural Flexibility</a:t>
            </a:r>
          </a:p>
          <a:p>
            <a:pPr lvl="1"/>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Align insurance architecture with portfolio strategy.</a:t>
            </a:r>
          </a:p>
          <a:p>
            <a:pPr marL="228600" indent="-228600">
              <a:buFont typeface="+mj-lt"/>
              <a:buAutoNum type="arabicPeriod"/>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Institutional Strategy Integration</a:t>
            </a:r>
          </a:p>
          <a:p>
            <a:pPr lvl="1"/>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Access and implement sophisticated investment approaches in a more efficient structure.</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How RIAs Use Private Placement</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Private placement is often used to complement:</a:t>
            </a:r>
          </a:p>
          <a:p>
            <a:pPr marL="171450" indent="-171450">
              <a:buFont typeface="Arial" panose="020B0604020202020204" pitchFamily="34" charset="0"/>
              <a:buChar char="•"/>
            </a:pPr>
            <a:endParaRPr lang="en-US" sz="9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Core taxable portfolios</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Alternative allocations</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Income-heavy strategies</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Long-term growth strategies</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Multi-generational planning objectives</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What Private Placement Is Not</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Private placement is not:</a:t>
            </a:r>
          </a:p>
          <a:p>
            <a:endParaRPr lang="en-US" sz="9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A retail insurance product</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A commission-driven sales strategy</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A one-size-fits-all solution</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A replacement for portfolio management</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Why Execution Matters</a:t>
            </a:r>
          </a:p>
          <a:p>
            <a:endParaRPr lang="en-US" sz="1200" b="1"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Private placement is powerful — but implementation has historically been:</a:t>
            </a:r>
          </a:p>
          <a:p>
            <a:endParaRPr lang="en-US" sz="900" dirty="0">
              <a:solidFill>
                <a:srgbClr val="1F2933"/>
              </a:solidFill>
              <a:latin typeface="Inter" panose="02000503000000020004" pitchFamily="2" charset="0"/>
              <a:ea typeface="Inter" panose="02000503000000020004" pitchFamily="2" charset="0"/>
              <a:cs typeface="Inter" panose="02000503000000020004" pitchFamily="2" charset="0"/>
            </a:endParaRP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Fragmented</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Operationally heavy</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Difficult to coordinate across stakeholders</a:t>
            </a:r>
          </a:p>
          <a:p>
            <a:pPr marL="171450" indent="-171450">
              <a:buFont typeface="Arial" panose="020B0604020202020204" pitchFamily="34" charset="0"/>
              <a:buChar char="•"/>
            </a:pPr>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Hard to monitor transparently</a:t>
            </a:r>
            <a:endParaRPr lang="en-US" sz="300" dirty="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4" name="Rectangle 3">
            <a:extLst>
              <a:ext uri="{FF2B5EF4-FFF2-40B4-BE49-F238E27FC236}">
                <a16:creationId xmlns:a16="http://schemas.microsoft.com/office/drawing/2014/main" id="{1A6C6810-B497-159D-A9DF-C846AC8E2E00}"/>
              </a:ext>
            </a:extLst>
          </p:cNvPr>
          <p:cNvSpPr/>
          <p:nvPr/>
        </p:nvSpPr>
        <p:spPr>
          <a:xfrm>
            <a:off x="0" y="428625"/>
            <a:ext cx="6858000" cy="857250"/>
          </a:xfrm>
          <a:prstGeom prst="rect">
            <a:avLst/>
          </a:prstGeom>
          <a:solidFill>
            <a:srgbClr val="1F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Private Placement: Structural Tax Efficiency for Complex Portfolios</a:t>
            </a:r>
            <a:endParaRPr lang="en-US" sz="3200" b="1" dirty="0"/>
          </a:p>
          <a:p>
            <a:pPr algn="ctr"/>
            <a:r>
              <a:rPr lang="en-US" sz="900" dirty="0">
                <a:solidFill>
                  <a:srgbClr val="F5F7F8"/>
                </a:solidFill>
                <a:latin typeface="Inter" panose="02000503000000020004" pitchFamily="2" charset="0"/>
                <a:ea typeface="Inter" panose="02000503000000020004" pitchFamily="2" charset="0"/>
                <a:cs typeface="Inter" panose="02000503000000020004" pitchFamily="2" charset="0"/>
              </a:rPr>
              <a:t>Private placement integrates insurance architecture with institutional investment strategies — reducing tax drag and improving long-term after-tax compounding for accredited investors.</a:t>
            </a:r>
          </a:p>
        </p:txBody>
      </p:sp>
      <p:pic>
        <p:nvPicPr>
          <p:cNvPr id="6" name="Picture 5">
            <a:extLst>
              <a:ext uri="{FF2B5EF4-FFF2-40B4-BE49-F238E27FC236}">
                <a16:creationId xmlns:a16="http://schemas.microsoft.com/office/drawing/2014/main" id="{919CA0C9-9E33-E354-6FA1-F2DE68129FD3}"/>
              </a:ext>
            </a:extLst>
          </p:cNvPr>
          <p:cNvPicPr>
            <a:picLocks noChangeAspect="1"/>
          </p:cNvPicPr>
          <p:nvPr/>
        </p:nvPicPr>
        <p:blipFill>
          <a:blip r:embed="rId3"/>
          <a:stretch>
            <a:fillRect/>
          </a:stretch>
        </p:blipFill>
        <p:spPr>
          <a:xfrm>
            <a:off x="-1834" y="0"/>
            <a:ext cx="6858000" cy="432054"/>
          </a:xfrm>
          <a:prstGeom prst="rect">
            <a:avLst/>
          </a:prstGeom>
        </p:spPr>
      </p:pic>
      <p:sp>
        <p:nvSpPr>
          <p:cNvPr id="3" name="Rectangle 2">
            <a:extLst>
              <a:ext uri="{FF2B5EF4-FFF2-40B4-BE49-F238E27FC236}">
                <a16:creationId xmlns:a16="http://schemas.microsoft.com/office/drawing/2014/main" id="{7BC8D706-9988-0CEA-6870-4F6B63E47ACC}"/>
              </a:ext>
            </a:extLst>
          </p:cNvPr>
          <p:cNvSpPr/>
          <p:nvPr/>
        </p:nvSpPr>
        <p:spPr>
          <a:xfrm>
            <a:off x="2860129" y="127564"/>
            <a:ext cx="667931" cy="184856"/>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1915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83000" r="-83000"/>
          </a:stretch>
        </a:blipFill>
        <a:effectLst/>
      </p:bgPr>
    </p:bg>
    <p:spTree>
      <p:nvGrpSpPr>
        <p:cNvPr id="1" name="">
          <a:extLst>
            <a:ext uri="{FF2B5EF4-FFF2-40B4-BE49-F238E27FC236}">
              <a16:creationId xmlns:a16="http://schemas.microsoft.com/office/drawing/2014/main" id="{B3322E7C-F96F-12A9-1320-6DDDC68AF2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6008D7-4872-4296-5E36-A28AEF3D2853}"/>
              </a:ext>
            </a:extLst>
          </p:cNvPr>
          <p:cNvSpPr txBox="1"/>
          <p:nvPr/>
        </p:nvSpPr>
        <p:spPr>
          <a:xfrm>
            <a:off x="0" y="1285875"/>
            <a:ext cx="6858000" cy="10137696"/>
          </a:xfrm>
          <a:prstGeom prst="roundRect">
            <a:avLst/>
          </a:prstGeom>
          <a:noFill/>
          <a:ln>
            <a:noFill/>
          </a:ln>
          <a:effectLst>
            <a:softEdge rad="127000"/>
          </a:effectLst>
        </p:spPr>
        <p:txBody>
          <a:bodyPr wrap="square" rtlCol="0">
            <a:spAutoFit/>
          </a:bodyPr>
          <a:lstStyle/>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Overview</a:t>
            </a:r>
          </a:p>
          <a:p>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The Advisure Platform is a unified, tech-enabled infrastructure designed to streamline the delivery of private placement solutions for Registered Investment Advisors (RIAs). It brings structural design, implementation workflows, and ongoing monitoring into one modern, digital advisor workspace.</a:t>
            </a:r>
          </a:p>
          <a:p>
            <a:endParaRPr lang="en-US" sz="9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At its core, the platform helps advisors go from initial evaluation to ongoing oversight without fragmentation — replacing manual coordination with an integrated, transparent workflow.</a:t>
            </a:r>
          </a:p>
          <a:p>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Purpose &amp; Philosophy</a:t>
            </a:r>
          </a:p>
          <a:p>
            <a:endParaRPr lang="en-US" sz="1200" b="1" dirty="0">
              <a:solidFill>
                <a:srgbClr val="046A38"/>
              </a:solidFill>
              <a:latin typeface="Inter" panose="02000503000000020004" pitchFamily="2" charset="0"/>
              <a:ea typeface="Inter" panose="02000503000000020004" pitchFamily="2" charset="0"/>
              <a:cs typeface="Inter" panose="02000503000000020004" pitchFamily="2" charset="0"/>
            </a:endParaRPr>
          </a:p>
          <a:p>
            <a:r>
              <a:rPr lang="en-US" sz="900" dirty="0">
                <a:solidFill>
                  <a:srgbClr val="1F2933"/>
                </a:solidFill>
                <a:latin typeface="Inter" panose="02000503000000020004" pitchFamily="2" charset="0"/>
                <a:ea typeface="Inter" panose="02000503000000020004" pitchFamily="2" charset="0"/>
                <a:cs typeface="Inter" panose="02000503000000020004" pitchFamily="2" charset="0"/>
              </a:rPr>
              <a:t>The platform is built around three core pillars:</a:t>
            </a:r>
            <a:endParaRPr lang="en-US" sz="900" dirty="0">
              <a:solidFill>
                <a:srgbClr val="046A38"/>
              </a:solidFill>
              <a:latin typeface="Inter" panose="02000503000000020004" pitchFamily="2" charset="0"/>
              <a:ea typeface="Inter" panose="02000503000000020004" pitchFamily="2" charset="0"/>
              <a:cs typeface="Inter" panose="02000503000000020004" pitchFamily="2" charset="0"/>
            </a:endParaRPr>
          </a:p>
          <a:p>
            <a:endParaRPr lang="en-US" sz="1100" b="1" dirty="0">
              <a:solidFill>
                <a:srgbClr val="046A38"/>
              </a:solidFill>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r>
              <a:rPr lang="en-US" sz="900" dirty="0">
                <a:latin typeface="Inter" panose="02000503000000020004" pitchFamily="2" charset="0"/>
                <a:ea typeface="Inter" panose="02000503000000020004" pitchFamily="2" charset="0"/>
                <a:cs typeface="Inter" panose="02000503000000020004" pitchFamily="2" charset="0"/>
              </a:rPr>
              <a:t>These pillars create a repeatable, scalable process that empowers advisors to deliver complex solutions with confidence</a:t>
            </a:r>
          </a:p>
          <a:p>
            <a:endParaRPr lang="en-US" sz="1200" b="1" dirty="0">
              <a:solidFill>
                <a:srgbClr val="046A38"/>
              </a:solidFill>
              <a:latin typeface="Inter" panose="02000503000000020004" pitchFamily="2" charset="0"/>
              <a:ea typeface="Inter" panose="02000503000000020004" pitchFamily="2" charset="0"/>
              <a:cs typeface="Inter" panose="02000503000000020004" pitchFamily="2" charset="0"/>
            </a:endParaRPr>
          </a:p>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How the Advisure Platform Works</a:t>
            </a: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b="1"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endParaRPr lang="en-US" sz="800" dirty="0">
              <a:latin typeface="Inter" panose="02000503000000020004" pitchFamily="2" charset="0"/>
              <a:ea typeface="Inter" panose="02000503000000020004" pitchFamily="2" charset="0"/>
              <a:cs typeface="Inter" panose="02000503000000020004" pitchFamily="2" charset="0"/>
            </a:endParaRPr>
          </a:p>
          <a:p>
            <a:r>
              <a:rPr lang="en-US" sz="1200" b="1" dirty="0">
                <a:solidFill>
                  <a:srgbClr val="046A38"/>
                </a:solidFill>
                <a:latin typeface="Inter" panose="02000503000000020004" pitchFamily="2" charset="0"/>
                <a:ea typeface="Inter" panose="02000503000000020004" pitchFamily="2" charset="0"/>
                <a:cs typeface="Inter" panose="02000503000000020004" pitchFamily="2" charset="0"/>
              </a:rPr>
              <a:t>Platform Benefits </a:t>
            </a:r>
          </a:p>
          <a:p>
            <a:endParaRPr lang="en-US" sz="800" b="1" dirty="0">
              <a:latin typeface="Inter" panose="02000503000000020004" pitchFamily="2" charset="0"/>
              <a:ea typeface="Inter" panose="02000503000000020004" pitchFamily="2" charset="0"/>
              <a:cs typeface="Inter" panose="02000503000000020004" pitchFamily="2" charset="0"/>
            </a:endParaRPr>
          </a:p>
          <a:p>
            <a:r>
              <a:rPr lang="en-US" sz="900" b="1" dirty="0">
                <a:latin typeface="Inter" panose="02000503000000020004" pitchFamily="2" charset="0"/>
                <a:ea typeface="Inter" panose="02000503000000020004" pitchFamily="2" charset="0"/>
                <a:cs typeface="Inter" panose="02000503000000020004" pitchFamily="2" charset="0"/>
              </a:rPr>
              <a:t>Scalable Execution</a:t>
            </a:r>
            <a:br>
              <a:rPr lang="en-US" sz="900" dirty="0">
                <a:latin typeface="Inter" panose="02000503000000020004" pitchFamily="2" charset="0"/>
                <a:ea typeface="Inter" panose="02000503000000020004" pitchFamily="2" charset="0"/>
                <a:cs typeface="Inter" panose="02000503000000020004" pitchFamily="2" charset="0"/>
              </a:rPr>
            </a:br>
            <a:r>
              <a:rPr lang="en-US" sz="900" dirty="0">
                <a:latin typeface="Inter" panose="02000503000000020004" pitchFamily="2" charset="0"/>
                <a:ea typeface="Inter" panose="02000503000000020004" pitchFamily="2" charset="0"/>
                <a:cs typeface="Inter" panose="02000503000000020004" pitchFamily="2" charset="0"/>
              </a:rPr>
              <a:t>Eliminates fragmented carrier workflows by </a:t>
            </a:r>
          </a:p>
          <a:p>
            <a:r>
              <a:rPr lang="en-US" sz="900" dirty="0">
                <a:latin typeface="Inter" panose="02000503000000020004" pitchFamily="2" charset="0"/>
                <a:ea typeface="Inter" panose="02000503000000020004" pitchFamily="2" charset="0"/>
                <a:cs typeface="Inter" panose="02000503000000020004" pitchFamily="2" charset="0"/>
              </a:rPr>
              <a:t>centralizing design, application, and tracking.</a:t>
            </a:r>
          </a:p>
          <a:p>
            <a:endParaRPr lang="en-US" sz="900" dirty="0">
              <a:latin typeface="Inter" panose="02000503000000020004" pitchFamily="2" charset="0"/>
              <a:ea typeface="Inter" panose="02000503000000020004" pitchFamily="2" charset="0"/>
              <a:cs typeface="Inter" panose="02000503000000020004" pitchFamily="2" charset="0"/>
            </a:endParaRPr>
          </a:p>
          <a:p>
            <a:r>
              <a:rPr lang="en-US" sz="900" b="1" dirty="0">
                <a:latin typeface="Inter" panose="02000503000000020004" pitchFamily="2" charset="0"/>
                <a:ea typeface="Inter" panose="02000503000000020004" pitchFamily="2" charset="0"/>
                <a:cs typeface="Inter" panose="02000503000000020004" pitchFamily="2" charset="0"/>
              </a:rPr>
              <a:t>Operational Transparency</a:t>
            </a:r>
            <a:br>
              <a:rPr lang="en-US" sz="900" dirty="0">
                <a:latin typeface="Inter" panose="02000503000000020004" pitchFamily="2" charset="0"/>
                <a:ea typeface="Inter" panose="02000503000000020004" pitchFamily="2" charset="0"/>
                <a:cs typeface="Inter" panose="02000503000000020004" pitchFamily="2" charset="0"/>
              </a:rPr>
            </a:br>
            <a:r>
              <a:rPr lang="en-US" sz="900" dirty="0">
                <a:latin typeface="Inter" panose="02000503000000020004" pitchFamily="2" charset="0"/>
                <a:ea typeface="Inter" panose="02000503000000020004" pitchFamily="2" charset="0"/>
                <a:cs typeface="Inter" panose="02000503000000020004" pitchFamily="2" charset="0"/>
              </a:rPr>
              <a:t>Pending Cases and dashboards provide real-time</a:t>
            </a:r>
          </a:p>
          <a:p>
            <a:r>
              <a:rPr lang="en-US" sz="900" dirty="0">
                <a:latin typeface="Inter" panose="02000503000000020004" pitchFamily="2" charset="0"/>
                <a:ea typeface="Inter" panose="02000503000000020004" pitchFamily="2" charset="0"/>
                <a:cs typeface="Inter" panose="02000503000000020004" pitchFamily="2" charset="0"/>
              </a:rPr>
              <a:t>visibility into every client engagement.</a:t>
            </a:r>
          </a:p>
          <a:p>
            <a:endParaRPr lang="en-US" sz="900" dirty="0">
              <a:latin typeface="Inter" panose="02000503000000020004" pitchFamily="2" charset="0"/>
              <a:ea typeface="Inter" panose="02000503000000020004" pitchFamily="2" charset="0"/>
              <a:cs typeface="Inter" panose="02000503000000020004" pitchFamily="2" charset="0"/>
            </a:endParaRPr>
          </a:p>
          <a:p>
            <a:r>
              <a:rPr lang="en-US" sz="900" b="1" dirty="0">
                <a:latin typeface="Inter" panose="02000503000000020004" pitchFamily="2" charset="0"/>
                <a:ea typeface="Inter" panose="02000503000000020004" pitchFamily="2" charset="0"/>
                <a:cs typeface="Inter" panose="02000503000000020004" pitchFamily="2" charset="0"/>
              </a:rPr>
              <a:t>Data-Driven Conversations</a:t>
            </a:r>
            <a:br>
              <a:rPr lang="en-US" sz="900" dirty="0">
                <a:latin typeface="Inter" panose="02000503000000020004" pitchFamily="2" charset="0"/>
                <a:ea typeface="Inter" panose="02000503000000020004" pitchFamily="2" charset="0"/>
                <a:cs typeface="Inter" panose="02000503000000020004" pitchFamily="2" charset="0"/>
              </a:rPr>
            </a:br>
            <a:r>
              <a:rPr lang="en-US" sz="900" dirty="0">
                <a:latin typeface="Inter" panose="02000503000000020004" pitchFamily="2" charset="0"/>
                <a:ea typeface="Inter" panose="02000503000000020004" pitchFamily="2" charset="0"/>
                <a:cs typeface="Inter" panose="02000503000000020004" pitchFamily="2" charset="0"/>
              </a:rPr>
              <a:t>Illustrations and policy information empower </a:t>
            </a:r>
          </a:p>
          <a:p>
            <a:r>
              <a:rPr lang="en-US" sz="900" dirty="0">
                <a:latin typeface="Inter" panose="02000503000000020004" pitchFamily="2" charset="0"/>
                <a:ea typeface="Inter" panose="02000503000000020004" pitchFamily="2" charset="0"/>
                <a:cs typeface="Inter" panose="02000503000000020004" pitchFamily="2" charset="0"/>
              </a:rPr>
              <a:t>advisors to explain structural value with data.</a:t>
            </a:r>
          </a:p>
          <a:p>
            <a:endParaRPr lang="en-US" sz="900" dirty="0">
              <a:latin typeface="Inter" panose="02000503000000020004" pitchFamily="2" charset="0"/>
              <a:ea typeface="Inter" panose="02000503000000020004" pitchFamily="2" charset="0"/>
              <a:cs typeface="Inter" panose="02000503000000020004" pitchFamily="2" charset="0"/>
            </a:endParaRPr>
          </a:p>
          <a:p>
            <a:r>
              <a:rPr lang="en-US" sz="900" b="1" dirty="0">
                <a:latin typeface="Inter" panose="02000503000000020004" pitchFamily="2" charset="0"/>
                <a:ea typeface="Inter" panose="02000503000000020004" pitchFamily="2" charset="0"/>
                <a:cs typeface="Inter" panose="02000503000000020004" pitchFamily="2" charset="0"/>
              </a:rPr>
              <a:t>Enhanced Client Service</a:t>
            </a:r>
            <a:br>
              <a:rPr lang="en-US" sz="900" dirty="0">
                <a:latin typeface="Inter" panose="02000503000000020004" pitchFamily="2" charset="0"/>
                <a:ea typeface="Inter" panose="02000503000000020004" pitchFamily="2" charset="0"/>
                <a:cs typeface="Inter" panose="02000503000000020004" pitchFamily="2" charset="0"/>
              </a:rPr>
            </a:br>
            <a:r>
              <a:rPr lang="en-US" sz="900" dirty="0">
                <a:latin typeface="Inter" panose="02000503000000020004" pitchFamily="2" charset="0"/>
                <a:ea typeface="Inter" panose="02000503000000020004" pitchFamily="2" charset="0"/>
                <a:cs typeface="Inter" panose="02000503000000020004" pitchFamily="2" charset="0"/>
              </a:rPr>
              <a:t>Ongoing oversight tools help advisors stay </a:t>
            </a:r>
          </a:p>
          <a:p>
            <a:r>
              <a:rPr lang="en-US" sz="900" dirty="0">
                <a:latin typeface="Inter" panose="02000503000000020004" pitchFamily="2" charset="0"/>
                <a:ea typeface="Inter" panose="02000503000000020004" pitchFamily="2" charset="0"/>
                <a:cs typeface="Inter" panose="02000503000000020004" pitchFamily="2" charset="0"/>
              </a:rPr>
              <a:t>proactive with client's post-implementation.</a:t>
            </a:r>
          </a:p>
          <a:p>
            <a:endParaRPr lang="en-US" sz="800" dirty="0">
              <a:solidFill>
                <a:srgbClr val="1F2933"/>
              </a:solidFill>
              <a:latin typeface="Inter" panose="02000503000000020004" pitchFamily="2" charset="0"/>
              <a:ea typeface="Inter" panose="02000503000000020004" pitchFamily="2" charset="0"/>
              <a:cs typeface="Inter" panose="02000503000000020004" pitchFamily="2" charset="0"/>
            </a:endParaRPr>
          </a:p>
        </p:txBody>
      </p:sp>
      <p:sp>
        <p:nvSpPr>
          <p:cNvPr id="4" name="Rectangle 3">
            <a:extLst>
              <a:ext uri="{FF2B5EF4-FFF2-40B4-BE49-F238E27FC236}">
                <a16:creationId xmlns:a16="http://schemas.microsoft.com/office/drawing/2014/main" id="{D56295CA-0526-97E7-5E1C-FA7D90DD1AA4}"/>
              </a:ext>
            </a:extLst>
          </p:cNvPr>
          <p:cNvSpPr/>
          <p:nvPr/>
        </p:nvSpPr>
        <p:spPr>
          <a:xfrm>
            <a:off x="0" y="428625"/>
            <a:ext cx="6858000" cy="857250"/>
          </a:xfrm>
          <a:prstGeom prst="rect">
            <a:avLst/>
          </a:prstGeom>
          <a:solidFill>
            <a:srgbClr val="1F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Advisure Platform</a:t>
            </a:r>
          </a:p>
          <a:p>
            <a:pPr algn="ctr"/>
            <a:r>
              <a:rPr lang="en-US" sz="900" dirty="0">
                <a:solidFill>
                  <a:srgbClr val="F5F7F8"/>
                </a:solidFill>
                <a:latin typeface="Inter" panose="02000503000000020004" pitchFamily="2" charset="0"/>
                <a:ea typeface="Inter" panose="02000503000000020004" pitchFamily="2" charset="0"/>
                <a:cs typeface="Inter" panose="02000503000000020004" pitchFamily="2" charset="0"/>
              </a:rPr>
              <a:t>Overview &amp; How It Works</a:t>
            </a:r>
          </a:p>
        </p:txBody>
      </p:sp>
      <p:pic>
        <p:nvPicPr>
          <p:cNvPr id="6" name="Picture 5">
            <a:extLst>
              <a:ext uri="{FF2B5EF4-FFF2-40B4-BE49-F238E27FC236}">
                <a16:creationId xmlns:a16="http://schemas.microsoft.com/office/drawing/2014/main" id="{5145C383-728D-BC2B-153B-980F5B068260}"/>
              </a:ext>
            </a:extLst>
          </p:cNvPr>
          <p:cNvPicPr>
            <a:picLocks noChangeAspect="1"/>
          </p:cNvPicPr>
          <p:nvPr/>
        </p:nvPicPr>
        <p:blipFill>
          <a:blip r:embed="rId3"/>
          <a:stretch>
            <a:fillRect/>
          </a:stretch>
        </p:blipFill>
        <p:spPr>
          <a:xfrm>
            <a:off x="-1834" y="0"/>
            <a:ext cx="6858000" cy="432054"/>
          </a:xfrm>
          <a:prstGeom prst="rect">
            <a:avLst/>
          </a:prstGeom>
        </p:spPr>
      </p:pic>
      <p:sp>
        <p:nvSpPr>
          <p:cNvPr id="3" name="Rectangle 2">
            <a:extLst>
              <a:ext uri="{FF2B5EF4-FFF2-40B4-BE49-F238E27FC236}">
                <a16:creationId xmlns:a16="http://schemas.microsoft.com/office/drawing/2014/main" id="{C2C13553-7F33-54D0-2E7D-C2339B470F69}"/>
              </a:ext>
            </a:extLst>
          </p:cNvPr>
          <p:cNvSpPr/>
          <p:nvPr/>
        </p:nvSpPr>
        <p:spPr>
          <a:xfrm>
            <a:off x="3093200" y="-247198"/>
            <a:ext cx="1326400" cy="432054"/>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rgbClr val="1F2933"/>
                </a:solidFill>
              </a:rPr>
              <a:t>“Advisure Platform” (would add to menu bar)</a:t>
            </a:r>
            <a:endParaRPr lang="en-US" dirty="0">
              <a:solidFill>
                <a:srgbClr val="1F2933"/>
              </a:solidFill>
            </a:endParaRPr>
          </a:p>
        </p:txBody>
      </p:sp>
      <p:graphicFrame>
        <p:nvGraphicFramePr>
          <p:cNvPr id="7" name="Diagram 6">
            <a:extLst>
              <a:ext uri="{FF2B5EF4-FFF2-40B4-BE49-F238E27FC236}">
                <a16:creationId xmlns:a16="http://schemas.microsoft.com/office/drawing/2014/main" id="{FF83BAA6-CFB8-14E1-A938-040F39EA5DD5}"/>
              </a:ext>
            </a:extLst>
          </p:cNvPr>
          <p:cNvGraphicFramePr/>
          <p:nvPr>
            <p:extLst>
              <p:ext uri="{D42A27DB-BD31-4B8C-83A1-F6EECF244321}">
                <p14:modId xmlns:p14="http://schemas.microsoft.com/office/powerpoint/2010/main" val="3666759429"/>
              </p:ext>
            </p:extLst>
          </p:nvPr>
        </p:nvGraphicFramePr>
        <p:xfrm>
          <a:off x="2592810" y="7856160"/>
          <a:ext cx="4798590" cy="33045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1" name="Content Placeholder 2">
            <a:extLst>
              <a:ext uri="{FF2B5EF4-FFF2-40B4-BE49-F238E27FC236}">
                <a16:creationId xmlns:a16="http://schemas.microsoft.com/office/drawing/2014/main" id="{98755E9A-A4D4-0437-701B-D7084EA063C6}"/>
              </a:ext>
            </a:extLst>
          </p:cNvPr>
          <p:cNvGraphicFramePr>
            <a:graphicFrameLocks/>
          </p:cNvGraphicFramePr>
          <p:nvPr>
            <p:extLst>
              <p:ext uri="{D42A27DB-BD31-4B8C-83A1-F6EECF244321}">
                <p14:modId xmlns:p14="http://schemas.microsoft.com/office/powerpoint/2010/main" val="1892776054"/>
              </p:ext>
            </p:extLst>
          </p:nvPr>
        </p:nvGraphicFramePr>
        <p:xfrm>
          <a:off x="375356" y="3561135"/>
          <a:ext cx="6103620" cy="116586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2" name="Text Placeholder 2">
            <a:extLst>
              <a:ext uri="{FF2B5EF4-FFF2-40B4-BE49-F238E27FC236}">
                <a16:creationId xmlns:a16="http://schemas.microsoft.com/office/drawing/2014/main" id="{C7C8BCFA-86BF-B3AC-B6D6-6C8C690984F0}"/>
              </a:ext>
            </a:extLst>
          </p:cNvPr>
          <p:cNvGraphicFramePr/>
          <p:nvPr>
            <p:extLst>
              <p:ext uri="{D42A27DB-BD31-4B8C-83A1-F6EECF244321}">
                <p14:modId xmlns:p14="http://schemas.microsoft.com/office/powerpoint/2010/main" val="3667274203"/>
              </p:ext>
            </p:extLst>
          </p:nvPr>
        </p:nvGraphicFramePr>
        <p:xfrm>
          <a:off x="333922" y="5687640"/>
          <a:ext cx="6186487" cy="1799168"/>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32786893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5789</TotalTime>
  <Words>1877</Words>
  <Application>Microsoft Office PowerPoint</Application>
  <PresentationFormat>Widescreen</PresentationFormat>
  <Paragraphs>321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Inter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Corey Rickman</dc:creator>
  <cp:lastModifiedBy>Corey Rickman</cp:lastModifiedBy>
  <cp:revision>4</cp:revision>
  <dcterms:created xsi:type="dcterms:W3CDTF">2026-02-06T18:49:02Z</dcterms:created>
  <dcterms:modified xsi:type="dcterms:W3CDTF">2026-02-19T02:08:35Z</dcterms:modified>
</cp:coreProperties>
</file>