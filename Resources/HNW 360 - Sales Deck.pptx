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8" r:id="rId1"/>
  </p:sldMasterIdLst>
  <p:notesMasterIdLst>
    <p:notesMasterId r:id="rId15"/>
  </p:notesMasterIdLst>
  <p:sldIdLst>
    <p:sldId id="294" r:id="rId2"/>
    <p:sldId id="257" r:id="rId3"/>
    <p:sldId id="315" r:id="rId4"/>
    <p:sldId id="316" r:id="rId5"/>
    <p:sldId id="314" r:id="rId6"/>
    <p:sldId id="317" r:id="rId7"/>
    <p:sldId id="319" r:id="rId8"/>
    <p:sldId id="321" r:id="rId9"/>
    <p:sldId id="323" r:id="rId10"/>
    <p:sldId id="320" r:id="rId11"/>
    <p:sldId id="325" r:id="rId12"/>
    <p:sldId id="326" r:id="rId13"/>
    <p:sldId id="31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CAA1"/>
    <a:srgbClr val="F6D5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43"/>
    <p:restoredTop sz="94597" autoAdjust="0"/>
  </p:normalViewPr>
  <p:slideViewPr>
    <p:cSldViewPr snapToGrid="0" snapToObjects="1">
      <p:cViewPr>
        <p:scale>
          <a:sx n="98" d="100"/>
          <a:sy n="98" d="100"/>
        </p:scale>
        <p:origin x="84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0E029-F837-0540-A36E-98B17EF14527}" type="datetimeFigureOut">
              <a:rPr lang="en-US" smtClean="0"/>
              <a:t>7/23/25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7C9A6-E7B2-5445-AB9E-3CF892946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579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11523ED9-D492-3340-920F-AD2CC546AE0D}" type="datetime1">
              <a:rPr lang="en-US" smtClean="0"/>
              <a:t>7/23/25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1532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8ACF1F9-34F2-4348-ADF4-74143B42FDF7}" type="datetime1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7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D2FF-A459-CE44-9918-BA5911880094}" type="datetime1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68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867FE0E-EDA4-8D48-8AD6-DBFAE4B872E5}" type="datetime1">
              <a:rPr lang="en-US" smtClean="0"/>
              <a:t>7/23/25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5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950C7C8B-60D9-9441-90CE-CB8675A8E82C}" type="datetime1">
              <a:rPr lang="en-US" smtClean="0"/>
              <a:t>7/23/25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55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DAA6-5FF1-474C-B191-C57740C49F39}" type="datetime1">
              <a:rPr lang="en-US" smtClean="0"/>
              <a:t>7/23/25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23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707E-E701-7440-AB5A-9A388C4A86F4}" type="datetime1">
              <a:rPr lang="en-US" smtClean="0"/>
              <a:t>7/23/25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5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8FDF616-7541-554E-85F0-9D9A7AF7AC6A}" type="datetime1">
              <a:rPr lang="en-US" smtClean="0"/>
              <a:t>7/23/25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16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F40E4C45-4A2E-A241-B900-20E882383D56}" type="datetime1">
              <a:rPr lang="en-US" smtClean="0"/>
              <a:t>7/23/25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95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B2CF7-4F7D-8D4D-A13F-48985202714D}" type="datetime1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37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A1E6F-057E-4D46-80BB-0E96F599F002}" type="datetime1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79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844D0-CBA0-7747-9175-1E8DE59B9DE8}" type="datetime1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84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A growing plant">
            <a:extLst>
              <a:ext uri="{FF2B5EF4-FFF2-40B4-BE49-F238E27FC236}">
                <a16:creationId xmlns:a16="http://schemas.microsoft.com/office/drawing/2014/main" id="{DB91F264-CABB-5B80-166F-C1BB098CA1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14" r="7813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6E5BDB-0245-BBE3-859B-BBB2E8CA4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029" y="2755373"/>
            <a:ext cx="7249229" cy="3204134"/>
          </a:xfrm>
        </p:spPr>
        <p:txBody>
          <a:bodyPr anchor="b"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Helping RIAs Win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98B50-263D-7DE3-99BE-6E88CEF3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C707F6-80F2-1235-50E3-CEB01248F14A}"/>
              </a:ext>
            </a:extLst>
          </p:cNvPr>
          <p:cNvSpPr txBox="1"/>
          <p:nvPr/>
        </p:nvSpPr>
        <p:spPr>
          <a:xfrm>
            <a:off x="481030" y="1595218"/>
            <a:ext cx="62011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HWN 360</a:t>
            </a:r>
          </a:p>
        </p:txBody>
      </p:sp>
    </p:spTree>
    <p:extLst>
      <p:ext uri="{BB962C8B-B14F-4D97-AF65-F5344CB8AC3E}">
        <p14:creationId xmlns:p14="http://schemas.microsoft.com/office/powerpoint/2010/main" val="707236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ED9C-E8AA-FC4E-9883-B1B6FD99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Problem</a:t>
            </a:r>
            <a:br>
              <a:rPr lang="en-US" dirty="0"/>
            </a:br>
            <a:r>
              <a:rPr lang="en-US" sz="2400" dirty="0"/>
              <a:t>Why Current insurance solutions don’t work for RIAs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530C6-955E-214A-A85C-58F176BD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A5E6DF-7129-AD66-C1AB-8B7403D415EA}"/>
              </a:ext>
            </a:extLst>
          </p:cNvPr>
          <p:cNvSpPr txBox="1"/>
          <p:nvPr/>
        </p:nvSpPr>
        <p:spPr>
          <a:xfrm>
            <a:off x="908304" y="2108538"/>
            <a:ext cx="10582656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Fragmented workflows between insurance and investment planning; prevents RIAs from optimizing insurance structures and result in misaligned portfolio allocations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Paper-heavy, legacy insurance platforms incompatible with tools like </a:t>
            </a:r>
            <a:r>
              <a:rPr lang="en-US" dirty="0" err="1"/>
              <a:t>Addepar</a:t>
            </a:r>
            <a:r>
              <a:rPr lang="en-US" dirty="0"/>
              <a:t>, Investor360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Lack of transparency and compliance documentation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Commissions misaligned with fee-based advisory models</a:t>
            </a:r>
          </a:p>
          <a:p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5EB82-B21E-6ABA-DFF2-146B6CC0C479}"/>
              </a:ext>
            </a:extLst>
          </p:cNvPr>
          <p:cNvSpPr txBox="1"/>
          <p:nvPr/>
        </p:nvSpPr>
        <p:spPr>
          <a:xfrm>
            <a:off x="701040" y="4663331"/>
            <a:ext cx="1058265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RIAs lack the tools to integrate, evaluate and recommend tax-efficient insurance wrappers </a:t>
            </a:r>
          </a:p>
        </p:txBody>
      </p:sp>
    </p:spTree>
    <p:extLst>
      <p:ext uri="{BB962C8B-B14F-4D97-AF65-F5344CB8AC3E}">
        <p14:creationId xmlns:p14="http://schemas.microsoft.com/office/powerpoint/2010/main" val="2657721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61C99-2D04-0C9F-ECFD-11129B4FE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C7A2E-FC98-9230-BE83-1D474019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Opportunity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6E1BF-AA3E-7240-8DB1-D35EA093A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73EDC9-EEEE-9684-ABCF-9169DA018561}"/>
              </a:ext>
            </a:extLst>
          </p:cNvPr>
          <p:cNvSpPr txBox="1"/>
          <p:nvPr/>
        </p:nvSpPr>
        <p:spPr>
          <a:xfrm>
            <a:off x="908304" y="2108538"/>
            <a:ext cx="105826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300B+ of underperforming life insurance held by HNW clients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65% of RIAs offer no insurance services (Cerulli, 2023)</a:t>
            </a:r>
          </a:p>
          <a:p>
            <a:pPr lvl="0"/>
            <a:endParaRPr lang="en-US" dirty="0"/>
          </a:p>
          <a:p>
            <a:r>
              <a:rPr lang="en-US" dirty="0"/>
              <a:t>75% of $1B+ AUM RIAs prefer tech-enabled partners over in-house licensing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HNW exposure to PPLI is very low on a population basis</a:t>
            </a:r>
            <a:r>
              <a:rPr lang="en-US" dirty="0"/>
              <a:t> (policy penetration ≈ 0.003%).</a:t>
            </a:r>
          </a:p>
          <a:p>
            <a:r>
              <a:rPr lang="en-US" dirty="0"/>
              <a:t>[In terms of allocated assets, </a:t>
            </a:r>
            <a:r>
              <a:rPr lang="en-US" b="1" dirty="0"/>
              <a:t>HNW assets in PPLI total about $40 B</a:t>
            </a:r>
            <a:r>
              <a:rPr lang="en-US" dirty="0"/>
              <a:t>, which is minuscule relative to overall HNW AUM (in the trillions].</a:t>
            </a:r>
          </a:p>
          <a:p>
            <a:endParaRPr lang="en-US" dirty="0"/>
          </a:p>
          <a:p>
            <a:r>
              <a:rPr lang="en-US" dirty="0"/>
              <a:t>Overall, </a:t>
            </a:r>
            <a:r>
              <a:rPr lang="en-US" b="1" dirty="0"/>
              <a:t>PPLI/PPVA allocations likely represent only fractions of a percent of total HNW portfolio value</a:t>
            </a:r>
            <a:r>
              <a:rPr lang="en-US" dirty="0"/>
              <a:t>, but offer strategic tax planning value disproportionately.</a:t>
            </a:r>
          </a:p>
        </p:txBody>
      </p:sp>
    </p:spTree>
    <p:extLst>
      <p:ext uri="{BB962C8B-B14F-4D97-AF65-F5344CB8AC3E}">
        <p14:creationId xmlns:p14="http://schemas.microsoft.com/office/powerpoint/2010/main" val="15122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DDFE-6C7E-3719-E15A-D7A31FA2B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DB5EC-CF2F-F84D-98A5-348BC5A62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B43925-A16B-D922-0B55-6D262EA47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841A58-FFCF-4E63-3FC7-24960589F98A}"/>
              </a:ext>
            </a:extLst>
          </p:cNvPr>
          <p:cNvSpPr txBox="1"/>
          <p:nvPr/>
        </p:nvSpPr>
        <p:spPr>
          <a:xfrm>
            <a:off x="908304" y="2108538"/>
            <a:ext cx="1058265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technology platform that: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Analyzes client portfolio allocations, investment objectives, and existing policy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Recommends tailored PPLI strategies to enhance portfolio outcomes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Presents compliant, advisor-friendly output for implementation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Connects to carrier partners to facilitate execution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0"/>
            <a:r>
              <a:rPr lang="en-US" sz="2000" dirty="0"/>
              <a:t>A platform</a:t>
            </a:r>
            <a:br>
              <a:rPr lang="en-US" sz="2000" dirty="0"/>
            </a:br>
            <a:endParaRPr lang="en-US" sz="2000" dirty="0"/>
          </a:p>
          <a:p>
            <a:pPr lvl="0"/>
            <a:r>
              <a:rPr lang="en-US" sz="2000" dirty="0"/>
              <a:t>Fully digitized PPLI/PPA lifecycle: from client intake to funding</a:t>
            </a:r>
          </a:p>
          <a:p>
            <a:pPr lvl="0"/>
            <a:r>
              <a:rPr lang="en-US" sz="2000" dirty="0"/>
              <a:t>Real-time integration with investment platforms</a:t>
            </a:r>
          </a:p>
          <a:p>
            <a:pPr lvl="0"/>
            <a:r>
              <a:rPr lang="en-US" sz="2000" dirty="0"/>
              <a:t>Transparent policy analytics &amp; illustration tools</a:t>
            </a:r>
          </a:p>
          <a:p>
            <a:pPr lvl="0"/>
            <a:r>
              <a:rPr lang="en-US" sz="2000" dirty="0"/>
              <a:t>Compliance-ready, fee-aligned infrastructure</a:t>
            </a:r>
          </a:p>
          <a:p>
            <a:pPr lvl="0"/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6977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5DAB-4C2E-DD8E-0F80-BBA67419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708132" cy="1179576"/>
          </a:xfrm>
        </p:spPr>
        <p:txBody>
          <a:bodyPr>
            <a:normAutofit/>
          </a:bodyPr>
          <a:lstStyle/>
          <a:p>
            <a:r>
              <a:rPr lang="en-US" sz="3200" dirty="0"/>
              <a:t>Platform: End-to-End Features for Modern Advisors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44375-69F1-AB70-1557-54D8EEF2F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/>
              <a:t>Smart intake and suitability engine</a:t>
            </a:r>
          </a:p>
          <a:p>
            <a:pPr lvl="0"/>
            <a:r>
              <a:rPr lang="en-US" sz="2800" dirty="0"/>
              <a:t>Policy Comparison &amp; 1035 Exchange Tools</a:t>
            </a:r>
          </a:p>
          <a:p>
            <a:pPr lvl="0"/>
            <a:r>
              <a:rPr lang="en-US" sz="2800" dirty="0"/>
              <a:t>Real-Time Insurance + Investment Dashboards</a:t>
            </a:r>
          </a:p>
          <a:p>
            <a:pPr lvl="0"/>
            <a:r>
              <a:rPr lang="en-US" sz="2800" dirty="0"/>
              <a:t>CRM &amp; Portfolio Tool Integrations (</a:t>
            </a:r>
            <a:r>
              <a:rPr lang="en-US" sz="2800" dirty="0" err="1"/>
              <a:t>Addepar</a:t>
            </a:r>
            <a:r>
              <a:rPr lang="en-US" sz="2800" dirty="0"/>
              <a:t>, Redtail, </a:t>
            </a:r>
            <a:r>
              <a:rPr lang="en-US" sz="2800" dirty="0" err="1"/>
              <a:t>eMoney</a:t>
            </a:r>
            <a:r>
              <a:rPr lang="en-US" sz="2800" dirty="0"/>
              <a:t>)</a:t>
            </a:r>
          </a:p>
          <a:p>
            <a:r>
              <a:rPr lang="en-US" sz="2800" dirty="0"/>
              <a:t>White-Labeled Client Portal &amp; Advisor Reports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B8246-8D27-3106-5B5F-619B611E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437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A56EC-F1F4-6093-A6A3-7B3828304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59F1C-7BA5-5335-A96F-255BB601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to RIAs &amp; Family Offices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AD292-6425-F4D9-791F-CFC6508D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8DC645-A1B9-1B95-C622-3AC89E6A1081}"/>
              </a:ext>
            </a:extLst>
          </p:cNvPr>
          <p:cNvSpPr txBox="1"/>
          <p:nvPr/>
        </p:nvSpPr>
        <p:spPr>
          <a:xfrm>
            <a:off x="908304" y="2108538"/>
            <a:ext cx="105826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Expand planning capabilities without licensing burden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Unlock trapped capital in legacy policies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Keep / Add new business and add to AUM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Generate measurable client tax alpha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Maintain control of the client relationship 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13690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10F19-CF2C-3F1C-F742-677CFBAC9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40AC3-304F-5929-2DA9-0543FC3C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DCB7BD-3AE8-948A-041E-4A1D8F0E5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24E047-2A2F-1AEB-B0C2-DF386B0ED852}"/>
              </a:ext>
            </a:extLst>
          </p:cNvPr>
          <p:cNvSpPr txBox="1"/>
          <p:nvPr/>
        </p:nvSpPr>
        <p:spPr>
          <a:xfrm>
            <a:off x="908304" y="2108538"/>
            <a:ext cx="1058265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Placement Success Fees (25 bps)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SaaS Licenses (One time set up fees, and rev share of transaction fees).   $199 to $5K/</a:t>
            </a:r>
            <a:r>
              <a:rPr lang="en-US" sz="2800" dirty="0" err="1"/>
              <a:t>mo</a:t>
            </a:r>
            <a:r>
              <a:rPr lang="en-US" sz="2800" dirty="0"/>
              <a:t> tiers?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White-label &amp; Training Packages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Fund Marketplace Rev Share (IDFs) 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50298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E0F82-C24B-EF5F-6B23-DBDD4331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C7E02-7332-91F3-E7E9-18CF2EAEF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Primary Segments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B5C2F-0D05-1945-0014-C556E912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1A2CA-FDEC-2349-33F8-038EC9DF20B5}"/>
              </a:ext>
            </a:extLst>
          </p:cNvPr>
          <p:cNvSpPr txBox="1"/>
          <p:nvPr/>
        </p:nvSpPr>
        <p:spPr>
          <a:xfrm>
            <a:off x="1115567" y="2417439"/>
            <a:ext cx="10168128" cy="3410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RIAs: $250M–$5B AUM firms serving HNW clients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Family Offices: UHNW structuring and trust integration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IBDs: Hybrid firms needing scalable insurance infrastructure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/>
              <a:t>Estate Advisors, CPAs: Tax-focused planning groups</a:t>
            </a:r>
          </a:p>
          <a:p>
            <a:pPr marR="0">
              <a:lnSpc>
                <a:spcPct val="115000"/>
              </a:lnSpc>
              <a:spcAft>
                <a:spcPts val="800"/>
              </a:spcAft>
            </a:pPr>
            <a:endParaRPr lang="en-US" sz="2800" dirty="0"/>
          </a:p>
          <a:p>
            <a:pPr marR="0">
              <a:lnSpc>
                <a:spcPct val="115000"/>
              </a:lnSpc>
              <a:spcAft>
                <a:spcPts val="800"/>
              </a:spcAft>
            </a:pPr>
            <a:r>
              <a:rPr lang="en-US" sz="2000" dirty="0"/>
              <a:t>Secondary: Direct UHNW clients, trust companies, </a:t>
            </a:r>
            <a:r>
              <a:rPr lang="en-US" sz="2000" dirty="0" err="1"/>
              <a:t>wirehouse</a:t>
            </a:r>
            <a:r>
              <a:rPr lang="en-US" sz="2000" dirty="0"/>
              <a:t> breakaways</a:t>
            </a:r>
          </a:p>
        </p:txBody>
      </p:sp>
    </p:spTree>
    <p:extLst>
      <p:ext uri="{BB962C8B-B14F-4D97-AF65-F5344CB8AC3E}">
        <p14:creationId xmlns:p14="http://schemas.microsoft.com/office/powerpoint/2010/main" val="968265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C12E0-20D0-2FAE-7C77-7F7F1FA70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BCF4-7641-354B-5051-0AFBF6D0B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GTM Strategy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15BBE-0356-8490-3FE9-6A3B34AC9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07DA8C-F95D-F8DA-361D-32E66CA2D0EF}"/>
              </a:ext>
            </a:extLst>
          </p:cNvPr>
          <p:cNvSpPr txBox="1"/>
          <p:nvPr/>
        </p:nvSpPr>
        <p:spPr>
          <a:xfrm>
            <a:off x="908304" y="2108538"/>
            <a:ext cx="105826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Founding Advisory Council of RIAs &amp; planners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Anchor partnerships with carriers (e.g. Prudential)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Whitepapers, virtual demo days, and RIA-specific workshops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Conference presence: T3, Schwab IMPACT, NAPFA, MDRT </a:t>
            </a:r>
          </a:p>
        </p:txBody>
      </p:sp>
    </p:spTree>
    <p:extLst>
      <p:ext uri="{BB962C8B-B14F-4D97-AF65-F5344CB8AC3E}">
        <p14:creationId xmlns:p14="http://schemas.microsoft.com/office/powerpoint/2010/main" val="1249990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64582-A3A5-4479-BBB9-835F44A8E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E047-268A-B95A-1A67-28BDD242C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C072E-EA59-F111-9F8F-3AC92D5E0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3B4E87-86A6-0800-A561-697FCE33E876}"/>
              </a:ext>
            </a:extLst>
          </p:cNvPr>
          <p:cNvSpPr txBox="1"/>
          <p:nvPr/>
        </p:nvSpPr>
        <p:spPr>
          <a:xfrm>
            <a:off x="908304" y="2108538"/>
            <a:ext cx="1058265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Launch MVP: Intake engine, illustration coordination, dashboards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Close $25M in placed premium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License 10–15 firms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Secure carrier API 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Publish flagship client case studies </a:t>
            </a:r>
          </a:p>
        </p:txBody>
      </p:sp>
    </p:spTree>
    <p:extLst>
      <p:ext uri="{BB962C8B-B14F-4D97-AF65-F5344CB8AC3E}">
        <p14:creationId xmlns:p14="http://schemas.microsoft.com/office/powerpoint/2010/main" val="279962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4F227-65A8-1994-1DCE-C829772D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7DCAF-02D2-F92E-5DBD-F7CAC2B9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Win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BF1C3-DACC-1967-7683-942FEE41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423A92-007B-18AE-E9EA-97F1686CCADE}"/>
              </a:ext>
            </a:extLst>
          </p:cNvPr>
          <p:cNvSpPr txBox="1"/>
          <p:nvPr/>
        </p:nvSpPr>
        <p:spPr>
          <a:xfrm>
            <a:off x="908304" y="2108538"/>
            <a:ext cx="1058265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/>
          </a:p>
          <a:p>
            <a:pPr lvl="0"/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Purpose-built for fiduciary advisors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Fully digitized, compliance-conscious infrastructure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Open architecture for carriers and IDFs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White-labeled to fit seamlessly into advisory workflows</a:t>
            </a:r>
          </a:p>
          <a:p>
            <a:pPr lvl="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26075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5C457-C82F-2BFA-F632-19878E83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D249-1A3F-5D8D-C2E5-E3C64085A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DE8EC5-9EB0-83F9-90C9-5D17BA47E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C68DEA-55D4-FC58-7E16-493414761E7B}"/>
              </a:ext>
            </a:extLst>
          </p:cNvPr>
          <p:cNvSpPr txBox="1"/>
          <p:nvPr/>
        </p:nvSpPr>
        <p:spPr>
          <a:xfrm>
            <a:off x="908304" y="2108538"/>
            <a:ext cx="1058265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Looming tax changes drive interest in wealth transfer tools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$250B+ in legacy policies ripe for optimization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RIAs surpassing </a:t>
            </a:r>
            <a:r>
              <a:rPr lang="en-US" sz="2800" dirty="0" err="1"/>
              <a:t>wirehouses</a:t>
            </a:r>
            <a:r>
              <a:rPr lang="en-US" sz="2800" dirty="0"/>
              <a:t> in AUM control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Carriers embracing digital partnerships</a:t>
            </a:r>
          </a:p>
        </p:txBody>
      </p:sp>
    </p:spTree>
    <p:extLst>
      <p:ext uri="{BB962C8B-B14F-4D97-AF65-F5344CB8AC3E}">
        <p14:creationId xmlns:p14="http://schemas.microsoft.com/office/powerpoint/2010/main" val="1402883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F46A7-BFE7-9D83-1652-A07135F99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44C8C-4206-CAC9-729B-8A4F8C188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13</a:t>
            </a:fld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845F829-F42A-F05A-7F90-2A212B2557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509" y="5486856"/>
            <a:ext cx="436507" cy="436507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6C15E7B1-DC79-4A35-A7F7-CC3A82E1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Team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5B0A42-D635-7EEB-D18A-94FA82DD916C}"/>
              </a:ext>
            </a:extLst>
          </p:cNvPr>
          <p:cNvSpPr txBox="1"/>
          <p:nvPr/>
        </p:nvSpPr>
        <p:spPr>
          <a:xfrm>
            <a:off x="731999" y="2197160"/>
            <a:ext cx="11211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704735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_2SEEDS">
      <a:dk1>
        <a:srgbClr val="000000"/>
      </a:dk1>
      <a:lt1>
        <a:srgbClr val="FFFFFF"/>
      </a:lt1>
      <a:dk2>
        <a:srgbClr val="311C24"/>
      </a:dk2>
      <a:lt2>
        <a:srgbClr val="F3F0F1"/>
      </a:lt2>
      <a:accent1>
        <a:srgbClr val="14B4A3"/>
      </a:accent1>
      <a:accent2>
        <a:srgbClr val="20B668"/>
      </a:accent2>
      <a:accent3>
        <a:srgbClr val="29ACE7"/>
      </a:accent3>
      <a:accent4>
        <a:srgbClr val="D5174C"/>
      </a:accent4>
      <a:accent5>
        <a:srgbClr val="E74429"/>
      </a:accent5>
      <a:accent6>
        <a:srgbClr val="D58117"/>
      </a:accent6>
      <a:hlink>
        <a:srgbClr val="C0424F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14480</TotalTime>
  <Words>576</Words>
  <Application>Microsoft Macintosh PowerPoint</Application>
  <PresentationFormat>Widescreen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Neue Haas Grotesk Text Pro</vt:lpstr>
      <vt:lpstr>AccentBoxVTI</vt:lpstr>
      <vt:lpstr>Helping RIAs Win</vt:lpstr>
      <vt:lpstr>The Problem Why Current insurance solutions don’t work for RIAs</vt:lpstr>
      <vt:lpstr>The Opportunity</vt:lpstr>
      <vt:lpstr>Solution</vt:lpstr>
      <vt:lpstr>Platform: End-to-End Features for Modern Advisors </vt:lpstr>
      <vt:lpstr>Benefits to RIAs &amp; Family Offices</vt:lpstr>
      <vt:lpstr>Business Model</vt:lpstr>
      <vt:lpstr>Target Primary Segments</vt:lpstr>
      <vt:lpstr>GTM Strategy</vt:lpstr>
      <vt:lpstr>Milestones</vt:lpstr>
      <vt:lpstr>Why We Win</vt:lpstr>
      <vt:lpstr>Why Now</vt:lpstr>
      <vt:lpstr>Our 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Unlocking Revenue for Online Retailers</dc:title>
  <dc:creator>Zayda Marrie</dc:creator>
  <cp:lastModifiedBy>Zayda Marrie</cp:lastModifiedBy>
  <cp:revision>58</cp:revision>
  <dcterms:created xsi:type="dcterms:W3CDTF">2024-02-13T18:03:03Z</dcterms:created>
  <dcterms:modified xsi:type="dcterms:W3CDTF">2025-07-24T16:52:54Z</dcterms:modified>
</cp:coreProperties>
</file>